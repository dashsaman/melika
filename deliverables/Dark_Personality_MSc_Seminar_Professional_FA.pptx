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سلام و وقت بخیر. موضوع ارائهٔ من «تاریک‌گرایی شخصیت و روابط بین‌فردی» است. هدف این ارائه نام‌گذاری افراد به‌عنوان خوب یا بد نیست؛ هدف، شناخت دقیق‌تر ویژگی‌ها، رفتارها و شرایط رابطه است. در طول ارائه، میان صفت، رفتار، پیامد و تشخیص بالینی تمایز می‌گذارم و نشان می‌دهم چرا همبستگی آماری به‌تنهایی برای قضاوت دربارهٔ یک شخص کافی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بحث را با یک سؤال شروع می‌کنم: چرا ممکن است کسی در آشنایی اولیه جذاب و بااعتمادبه‌نفس باشد، اما در ادامهٔ رابطه اعتماد یا احساس امنیت کاهش پیدا کند؟ پرسش اصلی این است که کدام صفت تاریک، از چه مسیر روان‌شناختی و در چه شرایطی با پیامدهای رابطه ارتباط دارد. منظور فقط روابط عاشقانه نیست؛ خانواده، دوستی، همکاری دانشگاهی، محیط کار و فضای دیجیتال نیز در این دامنه قرار می‌گیرند.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روش این کار مرور روایتی تلفیقی و انتقادی است. منابع بنیادی برای تعریف سازه‌ها، مطالعات تجربی برای بررسی رفتار، مطالعات زوجی برای دیدن اثر متقابل دو شریک و فراتحلیل‌ها برای برآورد جهت و اندازه متوسط ارتباط‌ها کنار هم قرار گرفته‌اند. این سمینار دادهٔ تازه جمع‌آوری نکرده و مرور نظام‌مند ثبت‌شده یا فراتحلیل مستقل نیست. بنابراین هدف، تلفیق شواهد و روشن‌کردن حدود نتیجه‌گیری است، نه ادعای پوشش کامل همه پژوهش‌ها.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صفات تاریک در این سمینار گرایش‌هایی پیوسته و عمدتاً غیربالینی‌اند. چهار سطح باید جدا بماند: صفت، مانند گرایش به ابزارانگاری؛ رفتار، مانند فریب در یک تصمیم مشترک؛ پیامد، مانند کاهش اعتماد؛ و تشخیص بالینی، که به ارزیابی تخصصی نیاز دارد. از یک دروغ، یک تعارض یا حتی یک نمره بالا نمی‌توان اختلال شخصیت را نتیجه گرفت. در عین حال، رفتار آسیب‌زا را نیز نباید به‌دلیل پایین‌بودن نمره پرسشنامه کم‌اهمیت دانست.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سه‌گانه و چهارگانه، مؤلفه‌های نزدیک اما متمایز را توصیف می‌کنند. عامل D تلاش می‌کند وجه مشترک آن‌ها، یعنی ترجیح منفعت شخصی با پذیرش هزینه برای دیگران و توجیه آن، را مدل کند. مدل‌های پنج‌عاملی و HEXACO نیز چارچوب‌های عمومی‌تری برای مقایسه‌اند؛ در HEXACO، صداقت–فروتنی اهمیت ویژه دارد. نکته مهم این است که همپوشانی سازه‌ها به معنای یکسان‌بودن انگیزه‌ها یا پیامدهایشان نیست و ارزش افزوده هر صفت باید جداگانه آزموده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چهار صفت تاریک یک الگوی یکنواخت تشکیل نمی‌دهند. خودشیفتگی بیشتر پیرامون تنظیم منزلت و تصویر خود است؛ ماکیاولیسم پیرامون ابزارانگاری و حسابگری اجتماعی؛ روان‌آزاری پیرامون سنگدلی و ضعف بازداری؛ و سادیسم روزمره پیرامون لذت از رنج دیگری. این تمایزها مهم‌اند، چون یک رفتار مشابه، مثلاً تحقیر، می‌تواند از انگیزه‌های متفاوتی ناشی شود. در عین حال، همپوشانی آماری بین صفات وجود دارد و باید سهم مستقل هر مؤلفه بررسی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خودشیفتگی صفتی با احساس استحقاق، حفظ تصویر برتر از خود و حساسیت به ارزیابی دیگران ارتباط دارد. اعتمادبه‌نفس سالم را نباید با خودشیفتگی یکی دانست. در شکل بزرگ‌منشانه، نمایش توانمندی و سلطه‌جویی برجسته است؛ در شکل آسیب‌پذیر، خودارزشمندی ناپایدار و حساسیت به طرد اهمیت بیشتری دارد. مدل تحسین–رقابت نیز دو مسیر متفاوت را نشان می‌دهد: جلب پذیرش در برابر دفاع خصمانه از برتری. بنابراین یک نمره کلی می‌تواند تفاوت جذابیت اولیه و تعارض دیرهنگام را پنهان 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ماکیاولیسم به جهت‌گیری ابزاری در روابط، بدبینی بین‌فردی و تمایل به دستکاری برای منفعت اشاره دارد. برنامه‌ریزی و مذاکره به‌خودی‌خود ماکیاولیسم نیستند؛ فریب و بی‌توجهی به حق انتخاب دیگری تمایز مهم‌تری ایجاد می‌کنند. روان‌آزاری صفتی نیز خوشه‌ای از جسارت، سنگدلی و بازداری‌زدایی است. همه افراد ترکیب یکسانی ندارند و جسارت به‌تنهایی آسیب‌زا نیست. این مفهوم با روان‌پریشی مترادف نیست و نمرهٔ بالا در پرسشنامه تشخیص بالینی محسوب نمی‌شود.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سادیسم روزمره به گرایش به تجربهٔ لذت از تحقیر، آزار یا مشاهدهٔ رنج دیگران اشاره دارد. در فراتحلیل بونفا-آرائوخو و همکاران، سادیسم با روان‌آزاری همبستگی ۰٫۵۸، با ماکیاولیسم ۰٫۴۳ و با خودشیفتگی ۰٫۲۶ داشت. این اعداد، همبستگی میان سازه‌ها هستند؛ نه درصد افراد خطرناک و نه شواهد اثر علّی. اهمیت نظری سادیسم در مؤلفه اختصاصی «لذت از آسیب» است، اما رفتار واقعی باید مستقل از خودگزارش اندازه‌گیری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پیوند صفات تاریک با رضایت یا تعارض از مسیر چند فرایند روان‌شناختی عبور می‌کند: همدلی، تنظیم هیجان، دلبستگی، اعتماد، ادراک قدرت و حل تعارض. میانجی مسیر ارتباط را توضیح می‌دهد و تعدیل‌گر شدت یا جهت آن را در شرایط مختلف تغییر می‌دهد. برای مثال، فرضیه «ماکیاولیسم، کاهش اعتماد و افت همکاری» یا «سادیسم، انگیزش آزار و آزار دیجیتال» باید با اندازه‌گیری جداگانه سازوکار، رفتار و پیامد آزموده شود. وجود میانجی آماری در دادهٔ مقطعی، علیت را اثبات نمی‌کند.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همدلی شناختی توان درک حالت ذهنی دیگری و همدلی عاطفی واکنش هیجانی به تجربه اوست. در فراتحلیل شوکلا و اوپادهیای، همدلی عاطفی با روان‌آزاری، ماکیاولیسم و خودشیفتگی ارتباط منفی داشت، اما الگو برای همدلی شناختی یکسان نبود. برای خودشیفتگی رابطه معنادار گزارش نشد. بنابراین گزاره «افراد دارای صفات تاریک همدلی ندارند» بیش‌ازحد ساده است. فرد ممکن است حالت دیگری را درست بفهمد، اما از آن آگاهی برای کمک یا برای فشار استفاده 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سبک‌های دلبستگی بر انتظار فرد از دسترس‌پذیری دیگران و شیوه درخواست حمایت اثر می‌گذارند. در مرور موهای و همکاران، خودشیفتگی آسیب‌پذیر با شکل‌های ناایمن دلبستگی ارتباط داشت و برای دلبستگی دل‌مشغول ضریب حدود ۰٫۴۳ گزارش شد. این رابطه به معنای مسیر قطعی از کودکی تا رفتار بزرگسالی یا اثربخشی یک درمان خاص نیست. در سطح رابطه، ابهام پاسخ شریک ممکن است تهدید منزلت یا طرد تفسیر شود و چرخه‌ای از واکنش دفاعی، پاسخ شریک و تشدید یا ترمیم تعارض بسازد.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روابط عاطفی باید میان جذابیت آغازین و کیفیت بلندمدت تمایز گذاشت. جسارت، شوخ‌طبعی یا توان جلب توجه ممکن است در برخورد کوتاه مثبت باشد، اما پایداری رابطه به احترام، ترمیم تعارض، شفافیت توافق‌ها و امکان مخالفت امن وابسته است. اعتماد، تعهد، رضایت، ایمنی و پایداری پنج پیامد متفاوت‌اند. ماندن در رابطه لزوماً نشان‌دهنده سلامت عاطفی یا نبود اجبار نیست و نگرش به خیانت نیز با رفتار واقعی یکسان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یکی از نکات مهم روش‌شناختی، دیدن هر دو عضو رابطه است. اثر کنش‌گر یعنی ارتباط ویژگی‌های من با رضایت خودم؛ اثر شریک یعنی ارتباط ویژگی‌های من با رضایت طرف مقابل. در مطالعه کاردوم و همکاران، ۲۰۵ زوج دگرجنس‌گرا با تحلیل سطح پاسخ زوجی بررسی شدند. مطابق گزارش سند، اثرهای کنش‌گر و شریک اغلب با رضایت کمتر همراه بودند و برای بعضی مؤلفه‌ها ناهمانندی دو نفر هم اهمیت داشت. ارزش این روش، لحاظ وابستگی دو طرف است؛ اما طرح مقطعی جهت علیت را تعیین نمی‌کند.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بحث آسیب رابطه‌ای، تعریف رفتار از برچسب شخصیت مهم‌تر است. فراتحلیل الیور و همکاران شامل ۲۲ مطالعه و ۱۱ هزار و ۵۲۰ نفر بود. ارتباط کلی خودشیفتگی صفتی با ارتکاب خشونت شریک ۰٫۱۵ گزارش شد؛ بازه اطمینان ۰٫۱۲ تا ۰٫۱۹ و ناهمگنی بالا بود. این عدد به معنای پانزده درصد خشونت نیست؛ همبستگی است، نه شیوع یا احتمال رفتار یک فرد. در موقعیت واقعی، ارزیابی ایمنی باید بر تهدید، تکرار رفتار، کنترل قهرآمیز و نیاز فرد آسیب‌دیده متمرکز 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موضوع به رابطه عاطفی محدود نیست. در خانواده، کیفیت حمایت و احساس امنیت مهم است؛ در دوستی، تقارن کمک و وفای به تعهد؛ در دانشگاه، عدالت در تقسیم مسئولیت و اعتبار. در محیط کار، قدرت تصمیم‌گیری و امکان شکایت می‌توانند فرصت بروز یا تداوم رفتار آزارگرانه را تغییر دهند. در فضای دیجیتال نیز ناشناسی نسبی، بازخورد سریع و گستره مخاطب بر فرصت رفتار اثر می‌گذارند. بنابراین شخصیت تنها توضیح ممکن نیست؛ ساختار محیط و پاسخ‌گویی نیز باید دیده شوند.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مرور سویی و همکاران، میان صفات سه‌گانه و رفتارهای زیان‌بار بین‌فردی در محیط کار ارتباط مثبت گزارش شد. در بعضی تجمیع‌ها روان‌آزاری ۰٫۵۲۷، خودشیفتگی ۰٫۳۹۷ و ماکیاولیسم ۰٫۳۴۵ بود. اما ناهمگنی بیش از ۹۰ درصد و تعداد مطالعات در هر تجمیع محدود بود. پیامد ترکیبی نیز فقط قلدری نبود. بنابراین این اعداد برای غربالگری تشخیصی استخدامی مناسب نیستند. تمرکز کاربردی باید بر شفافیت تصمیم‌ها، مسیر مستقل شکایت و امنیت گزارش‌دهی باشد.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برای سنجش سه‌گانه تاریک، دو ابزار کوتاه مشهور در سند معرفی شده‌اند: Dirty Dozen با ۱۲ گویه و SD3 با ۲۷ گویه. کوتاهی پرسشنامه مزیت اجرایی دارد، اما ممکن است بخش‌هایی از سازه را نپوشاند. پایایی یعنی ثبات سنجش و روایی یعنی مناسب‌بودن تفسیر نمره برای هدف مشخص. ترجمهٔ فارسی یا آلفای بالا به‌تنهایی کافی نیست. گزارش فرد، گزارش شریک، مشاهده رفتار و داده طولی باید تا حد امکان کنار هم قرار گیرند؛ اختلاف منابع نیز الزاماً به معنای دروغ‌گویی یک طرف نیست.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پیشگیری، آموزش ارتباط سالم، تنظیم هیجان، مرزبندی و پاسخ‌گویی محیطی مطرح می‌شوند، اما این پیشنهادها درمان قطعی صفات تاریک نیستند. هدف باید روشن باشد؛ مثلاً کاهش توهین، افزایش امکان مخالفت امن یا حفاظت از فرد آسیب‌دیده. در حضور تهدید، کنترل قهرآمیز یا خطر تلافی، فرض تقارن قدرت نادرست است و توصیه عمومی به مذاکره یا جلسات مشترک می‌تواند ناایمن باشد. در محیط سازمانی نیز سیاست ضدقلدری و سازوکار شکایت باید جدا از آموزش فردی ارزیابی 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برای جمع‌بندی، چهار سطح باید کنار هم دیده شوند: گرایش شخصیتی، پردازش شناختی و هیجانی، رفتار قابل مشاهده و پیامد رابطه. فرهنگ، قدرت، حمایت اجتماعی و پاسخ شریک می‌توانند مسیرها را تغییر دهند. چهار صفت تاریک مرتبط‌اند، اما انگیزه‌ها و پیامدهای یکسانی ندارند. داده همبستگی برای تشخیص فرد یا اثبات علیت کافی نیست. پاسخ پرسش آغازین این است که برای فهم رابطه، فقط نام یک صفت کافی نیست؛ باید رفتار، زمینه، زمان و تجربه هر دو طرف را دید. ارزش این بحث، شناخت دقیق‌تر و کاهش آسیب است، نه برچسب‌زدن به انسان‌ها.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61C"/>
        </a:solidFill>
      </p:bgPr>
    </p:bg>
    <p:spTree>
      <p:nvGrpSpPr>
        <p:cNvPr id="1" name=""/>
        <p:cNvGrpSpPr/>
        <p:nvPr/>
      </p:nvGrpSpPr>
      <p:grpSpPr>
        <a:xfrm>
          <a:off x="0" y="0"/>
          <a:ext cx="0" cy="0"/>
          <a:chOff x="0" y="0"/>
          <a:chExt cx="0" cy="0"/>
        </a:xfrm>
      </p:grpSpPr>
      <p:pic>
        <p:nvPicPr>
          <p:cNvPr id="2" name="Image 0" descr="/mnt/data/_ppt_work/assets/cover.png">    </p:cNvPr>
          <p:cNvPicPr>
            <a:picLocks noChangeAspect="1"/>
          </p:cNvPicPr>
          <p:nvPr/>
        </p:nvPicPr>
        <p:blipFill>
          <a:blip r:embed="rId1"/>
          <a:srcRect l="0" r="0" t="25" b="25"/>
          <a:stretch/>
        </p:blipFill>
        <p:spPr>
          <a:xfrm>
            <a:off x="0" y="0"/>
            <a:ext cx="12191695" cy="6858000"/>
          </a:xfrm>
          <a:prstGeom prst="rect">
            <a:avLst/>
          </a:prstGeom>
        </p:spPr>
      </p:pic>
      <p:sp>
        <p:nvSpPr>
          <p:cNvPr id="3" name="Shape 0"/>
          <p:cNvSpPr/>
          <p:nvPr/>
        </p:nvSpPr>
        <p:spPr>
          <a:xfrm>
            <a:off x="11109960" y="777240"/>
            <a:ext cx="0" cy="960120"/>
          </a:xfrm>
          <a:prstGeom prst="line">
            <a:avLst/>
          </a:prstGeom>
          <a:noFill/>
          <a:ln w="76200">
            <a:solidFill>
              <a:srgbClr val="6FA4A6"/>
            </a:solidFill>
            <a:prstDash val="solid"/>
          </a:ln>
        </p:spPr>
      </p:sp>
      <p:sp>
        <p:nvSpPr>
          <p:cNvPr id="4" name="Text 1"/>
          <p:cNvSpPr/>
          <p:nvPr/>
        </p:nvSpPr>
        <p:spPr>
          <a:xfrm>
            <a:off x="6172200" y="868680"/>
            <a:ext cx="4937760" cy="1371600"/>
          </a:xfrm>
          <a:prstGeom prst="rect">
            <a:avLst/>
          </a:prstGeom>
          <a:noFill/>
          <a:ln/>
        </p:spPr>
        <p:txBody>
          <a:bodyPr wrap="square" lIns="0" tIns="0" rIns="0" bIns="0" rtlCol="0" anchor="ctr">
            <a:normAutofit/>
          </a:bodyPr>
          <a:lstStyle/>
          <a:p>
            <a:pPr rtl="1" algn="r" indent="0" marL="0">
              <a:buNone/>
            </a:pPr>
            <a:r>
              <a:rPr lang="en-US" sz="3900" b="1" dirty="0">
                <a:solidFill>
                  <a:srgbClr val="FFFFFF"/>
                </a:solidFill>
                <a:latin typeface="Noto Kufi Arabic" pitchFamily="34" charset="0"/>
                <a:ea typeface="Noto Kufi Arabic" pitchFamily="34" charset="-122"/>
                <a:cs typeface="Noto Kufi Arabic" pitchFamily="34" charset="-120"/>
              </a:rPr>
              <a:t>تاریک‌گرایی شخصیت</a:t>
            </a:r>
            <a:endParaRPr lang="en-US" sz="3900" dirty="0"/>
          </a:p>
          <a:p>
            <a:pPr rtl="1" algn="r" indent="0" marL="0">
              <a:buNone/>
            </a:pPr>
            <a:r>
              <a:rPr lang="en-US" sz="3900" b="1" dirty="0">
                <a:solidFill>
                  <a:srgbClr val="FFFFFF"/>
                </a:solidFill>
                <a:latin typeface="Noto Kufi Arabic" pitchFamily="34" charset="0"/>
                <a:ea typeface="Noto Kufi Arabic" pitchFamily="34" charset="-122"/>
                <a:cs typeface="Noto Kufi Arabic" pitchFamily="34" charset="-120"/>
              </a:rPr>
              <a:t>و روابط بین‌فردی</a:t>
            </a:r>
            <a:endParaRPr lang="en-US" sz="3900" dirty="0"/>
          </a:p>
        </p:txBody>
      </p:sp>
      <p:sp>
        <p:nvSpPr>
          <p:cNvPr id="5" name="Text 2"/>
          <p:cNvSpPr/>
          <p:nvPr/>
        </p:nvSpPr>
        <p:spPr>
          <a:xfrm>
            <a:off x="6217920" y="2423160"/>
            <a:ext cx="4800600" cy="868680"/>
          </a:xfrm>
          <a:prstGeom prst="rect">
            <a:avLst/>
          </a:prstGeom>
          <a:noFill/>
          <a:ln/>
        </p:spPr>
        <p:txBody>
          <a:bodyPr wrap="square" lIns="0" tIns="0" rIns="0" bIns="0" rtlCol="0" anchor="t">
            <a:normAutofit/>
          </a:bodyPr>
          <a:lstStyle/>
          <a:p>
            <a:pPr rtl="1" algn="r" indent="0" marL="0">
              <a:buNone/>
            </a:pPr>
            <a:r>
              <a:rPr lang="en-US" sz="1800" dirty="0">
                <a:solidFill>
                  <a:srgbClr val="D7DEE0"/>
                </a:solidFill>
                <a:latin typeface="Noto Sans Arabic" pitchFamily="34" charset="0"/>
                <a:ea typeface="Noto Sans Arabic" pitchFamily="34" charset="-122"/>
                <a:cs typeface="Noto Sans Arabic" pitchFamily="34" charset="-120"/>
              </a:rPr>
              <a:t>مرور انتقادی مبانی نظری، سه‌گانه و چهارگانهٔ تاریک،</a:t>
            </a:r>
            <a:endParaRPr lang="en-US" sz="1800" dirty="0"/>
          </a:p>
          <a:p>
            <a:pPr rtl="1" algn="r" indent="0" marL="0">
              <a:buNone/>
            </a:pPr>
            <a:r>
              <a:rPr lang="en-US" sz="1800" dirty="0">
                <a:solidFill>
                  <a:srgbClr val="D7DEE0"/>
                </a:solidFill>
                <a:latin typeface="Noto Sans Arabic" pitchFamily="34" charset="0"/>
                <a:ea typeface="Noto Sans Arabic" pitchFamily="34" charset="-122"/>
                <a:cs typeface="Noto Sans Arabic" pitchFamily="34" charset="-120"/>
              </a:rPr>
              <a:t>سازوکارها و پیامدهای روابط</a:t>
            </a:r>
            <a:endParaRPr lang="en-US" sz="1800" dirty="0"/>
          </a:p>
        </p:txBody>
      </p:sp>
      <p:sp>
        <p:nvSpPr>
          <p:cNvPr id="6" name="Text 3"/>
          <p:cNvSpPr/>
          <p:nvPr/>
        </p:nvSpPr>
        <p:spPr>
          <a:xfrm>
            <a:off x="8732520" y="3858768"/>
            <a:ext cx="2240280" cy="365760"/>
          </a:xfrm>
          <a:prstGeom prst="rect">
            <a:avLst/>
          </a:prstGeom>
          <a:noFill/>
          <a:ln/>
        </p:spPr>
        <p:txBody>
          <a:bodyPr wrap="square" lIns="0" tIns="0" rIns="0" bIns="0" rtlCol="0" anchor="ctr">
            <a:normAutofit/>
          </a:bodyPr>
          <a:lstStyle/>
          <a:p>
            <a:pPr rtl="1" algn="r" indent="0" marL="0">
              <a:buNone/>
            </a:pPr>
            <a:r>
              <a:rPr lang="en-US" sz="1500" b="1" dirty="0">
                <a:solidFill>
                  <a:srgbClr val="D9C8A6"/>
                </a:solidFill>
                <a:latin typeface="Noto Kufi Arabic" pitchFamily="34" charset="0"/>
                <a:ea typeface="Noto Kufi Arabic" pitchFamily="34" charset="-122"/>
                <a:cs typeface="Noto Kufi Arabic" pitchFamily="34" charset="-120"/>
              </a:rPr>
              <a:t>سمینار کارشناسی ارشد</a:t>
            </a:r>
            <a:endParaRPr lang="en-US" sz="1500" dirty="0"/>
          </a:p>
        </p:txBody>
      </p:sp>
      <p:sp>
        <p:nvSpPr>
          <p:cNvPr id="7" name="Text 4"/>
          <p:cNvSpPr/>
          <p:nvPr/>
        </p:nvSpPr>
        <p:spPr>
          <a:xfrm>
            <a:off x="6629400" y="4343400"/>
            <a:ext cx="4343400" cy="1325880"/>
          </a:xfrm>
          <a:prstGeom prst="rect">
            <a:avLst/>
          </a:prstGeom>
          <a:noFill/>
          <a:ln/>
        </p:spPr>
        <p:txBody>
          <a:bodyPr wrap="square" lIns="0" tIns="0" rIns="0" bIns="0" rtlCol="0" anchor="t">
            <a:normAutofit/>
          </a:bodyPr>
          <a:lstStyle/>
          <a:p>
            <a:pPr rtl="1" algn="r" indent="0" marL="0">
              <a:buNone/>
            </a:pPr>
            <a:r>
              <a:rPr lang="en-US" sz="1500" dirty="0">
                <a:solidFill>
                  <a:srgbClr val="E9ECEC"/>
                </a:solidFill>
                <a:latin typeface="Noto Sans Arabic" pitchFamily="34" charset="0"/>
                <a:ea typeface="Noto Sans Arabic" pitchFamily="34" charset="-122"/>
                <a:cs typeface="Noto Sans Arabic" pitchFamily="34" charset="-120"/>
              </a:rPr>
              <a:t>نام ارائه‌دهنده: ..............................</a:t>
            </a:r>
            <a:endParaRPr lang="en-US" sz="1500" dirty="0"/>
          </a:p>
          <a:p>
            <a:pPr rtl="1" algn="r" indent="0" marL="0">
              <a:buNone/>
            </a:pPr>
            <a:r>
              <a:rPr lang="en-US" sz="1500" dirty="0">
                <a:solidFill>
                  <a:srgbClr val="E9ECEC"/>
                </a:solidFill>
                <a:latin typeface="Noto Sans Arabic" pitchFamily="34" charset="0"/>
                <a:ea typeface="Noto Sans Arabic" pitchFamily="34" charset="-122"/>
                <a:cs typeface="Noto Sans Arabic" pitchFamily="34" charset="-120"/>
              </a:rPr>
              <a:t>دانشگاه / رشته: .................................</a:t>
            </a:r>
            <a:endParaRPr lang="en-US" sz="1500" dirty="0"/>
          </a:p>
          <a:p>
            <a:pPr rtl="1" algn="r" indent="0" marL="0">
              <a:buNone/>
            </a:pPr>
            <a:r>
              <a:rPr lang="en-US" sz="1500" dirty="0">
                <a:solidFill>
                  <a:srgbClr val="E9ECEC"/>
                </a:solidFill>
                <a:latin typeface="Noto Sans Arabic" pitchFamily="34" charset="0"/>
                <a:ea typeface="Noto Sans Arabic" pitchFamily="34" charset="-122"/>
                <a:cs typeface="Noto Sans Arabic" pitchFamily="34" charset="-120"/>
              </a:rPr>
              <a:t>استاد درس: ..........................................</a:t>
            </a:r>
            <a:endParaRPr lang="en-US" sz="1500" dirty="0"/>
          </a:p>
          <a:p>
            <a:pPr rtl="1" algn="r" indent="0" marL="0">
              <a:buNone/>
            </a:pPr>
            <a:r>
              <a:rPr lang="en-US" sz="1500" dirty="0">
                <a:solidFill>
                  <a:srgbClr val="E9ECEC"/>
                </a:solidFill>
                <a:latin typeface="Noto Sans Arabic" pitchFamily="34" charset="0"/>
                <a:ea typeface="Noto Sans Arabic" pitchFamily="34" charset="-122"/>
                <a:cs typeface="Noto Sans Arabic" pitchFamily="34" charset="-120"/>
              </a:rPr>
              <a:t>تاریخ ارائه: ..........................................</a:t>
            </a:r>
            <a:endParaRPr lang="en-US" sz="1500" dirty="0"/>
          </a:p>
        </p:txBody>
      </p:sp>
      <p:sp>
        <p:nvSpPr>
          <p:cNvPr id="8" name="Text 5"/>
          <p:cNvSpPr/>
          <p:nvPr/>
        </p:nvSpPr>
        <p:spPr>
          <a:xfrm>
            <a:off x="6199632" y="6236208"/>
            <a:ext cx="4800600" cy="201168"/>
          </a:xfrm>
          <a:prstGeom prst="rect">
            <a:avLst/>
          </a:prstGeom>
          <a:noFill/>
          <a:ln/>
        </p:spPr>
        <p:txBody>
          <a:bodyPr wrap="square" lIns="0" tIns="0" rIns="0" bIns="0" rtlCol="0" anchor="ctr">
            <a:normAutofit/>
          </a:bodyPr>
          <a:lstStyle/>
          <a:p>
            <a:pPr rtl="1" algn="r" indent="0" marL="0">
              <a:buNone/>
            </a:pPr>
            <a:r>
              <a:rPr lang="en-US" sz="950" dirty="0">
                <a:solidFill>
                  <a:srgbClr val="A9B5B8"/>
                </a:solidFill>
                <a:latin typeface="Noto Sans Arabic" pitchFamily="34" charset="0"/>
                <a:ea typeface="Noto Sans Arabic" pitchFamily="34" charset="-122"/>
                <a:cs typeface="Noto Sans Arabic" pitchFamily="34" charset="-120"/>
              </a:rPr>
              <a:t>Dark Personality Traits and Interpersonal Relationships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طرح مسئله</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مسئلهٔ اصلی: صفت کافی نیست</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02</a:t>
            </a:r>
            <a:endParaRPr lang="en-US" sz="1200" dirty="0"/>
          </a:p>
        </p:txBody>
      </p:sp>
      <p:sp>
        <p:nvSpPr>
          <p:cNvPr id="6" name="Text 4"/>
          <p:cNvSpPr/>
          <p:nvPr/>
        </p:nvSpPr>
        <p:spPr>
          <a:xfrm>
            <a:off x="4892040" y="1353312"/>
            <a:ext cx="6492240" cy="749808"/>
          </a:xfrm>
          <a:prstGeom prst="rect">
            <a:avLst/>
          </a:prstGeom>
          <a:noFill/>
          <a:ln/>
        </p:spPr>
        <p:txBody>
          <a:bodyPr wrap="square" lIns="0" tIns="0" rIns="0" bIns="0" rtlCol="0" anchor="ctr">
            <a:normAutofit/>
          </a:bodyPr>
          <a:lstStyle/>
          <a:p>
            <a:pPr rtl="1" algn="r" indent="0" marL="0">
              <a:buNone/>
            </a:pPr>
            <a:r>
              <a:rPr lang="en-US" sz="2800" b="1" dirty="0">
                <a:solidFill>
                  <a:srgbClr val="172027"/>
                </a:solidFill>
                <a:latin typeface="Noto Kufi Arabic" pitchFamily="34" charset="0"/>
                <a:ea typeface="Noto Kufi Arabic" pitchFamily="34" charset="-122"/>
                <a:cs typeface="Noto Kufi Arabic" pitchFamily="34" charset="-120"/>
              </a:rPr>
              <a:t>کدام صفت، از چه مسیری، در چه شرایطی؟</a:t>
            </a:r>
            <a:endParaRPr lang="en-US" sz="2800" dirty="0"/>
          </a:p>
        </p:txBody>
      </p:sp>
      <p:sp>
        <p:nvSpPr>
          <p:cNvPr id="7" name="Text 5"/>
          <p:cNvSpPr/>
          <p:nvPr/>
        </p:nvSpPr>
        <p:spPr>
          <a:xfrm>
            <a:off x="4983480" y="2148840"/>
            <a:ext cx="6355080" cy="1024128"/>
          </a:xfrm>
          <a:prstGeom prst="rect">
            <a:avLst/>
          </a:prstGeom>
          <a:noFill/>
          <a:ln/>
        </p:spPr>
        <p:txBody>
          <a:bodyPr wrap="square" lIns="0" tIns="0" rIns="0" bIns="0" rtlCol="0" anchor="t">
            <a:normAutofit/>
          </a:bodyPr>
          <a:lstStyle/>
          <a:p>
            <a:pPr rtl="1" algn="r" indent="0" marL="0">
              <a:buNone/>
            </a:pPr>
            <a:r>
              <a:rPr lang="en-US" sz="1900" dirty="0">
                <a:solidFill>
                  <a:srgbClr val="6D7479"/>
                </a:solidFill>
                <a:latin typeface="Noto Sans Arabic" pitchFamily="34" charset="0"/>
                <a:ea typeface="Noto Sans Arabic" pitchFamily="34" charset="-122"/>
                <a:cs typeface="Noto Sans Arabic" pitchFamily="34" charset="-120"/>
              </a:rPr>
              <a:t>یک ویژگی فردی، مستقیماً به پیامد رابطه تبدیل نمی‌شود؛ برداشت شریک، تاریخچهٔ تعامل، قدرت و قواعد محیطی مسیر را تغییر می‌دهند.</a:t>
            </a:r>
            <a:endParaRPr lang="en-US" sz="1900" dirty="0"/>
          </a:p>
        </p:txBody>
      </p:sp>
      <p:pic>
        <p:nvPicPr>
          <p:cNvPr id="8" name="Image 0" descr="/mnt/data/_ppt_work/assets/image2.png">    </p:cNvPr>
          <p:cNvPicPr>
            <a:picLocks noChangeAspect="1"/>
          </p:cNvPicPr>
          <p:nvPr/>
        </p:nvPicPr>
        <p:blipFill>
          <a:blip r:embed="rId1"/>
          <a:stretch>
            <a:fillRect/>
          </a:stretch>
        </p:blipFill>
        <p:spPr>
          <a:xfrm>
            <a:off x="731520" y="1650492"/>
            <a:ext cx="3840480" cy="2048256"/>
          </a:xfrm>
          <a:prstGeom prst="rect">
            <a:avLst/>
          </a:prstGeom>
        </p:spPr>
      </p:pic>
      <p:sp>
        <p:nvSpPr>
          <p:cNvPr id="9" name="Shape 6"/>
          <p:cNvSpPr/>
          <p:nvPr/>
        </p:nvSpPr>
        <p:spPr>
          <a:xfrm>
            <a:off x="8823960" y="3931920"/>
            <a:ext cx="1874520" cy="347472"/>
          </a:xfrm>
          <a:prstGeom prst="roundRect">
            <a:avLst>
              <a:gd name="adj" fmla="val 21053"/>
            </a:avLst>
          </a:prstGeom>
          <a:solidFill>
            <a:srgbClr val="EDE3EA"/>
          </a:solidFill>
          <a:ln w="8890">
            <a:solidFill>
              <a:srgbClr val="C3D0D1"/>
            </a:solidFill>
            <a:prstDash val="solid"/>
          </a:ln>
        </p:spPr>
      </p:sp>
      <p:sp>
        <p:nvSpPr>
          <p:cNvPr id="10" name="Text 7"/>
          <p:cNvSpPr/>
          <p:nvPr/>
        </p:nvSpPr>
        <p:spPr>
          <a:xfrm>
            <a:off x="8869680" y="3941064"/>
            <a:ext cx="1783080" cy="310896"/>
          </a:xfrm>
          <a:prstGeom prst="rect">
            <a:avLst/>
          </a:prstGeom>
          <a:noFill/>
          <a:ln/>
        </p:spPr>
        <p:txBody>
          <a:bodyPr wrap="square" lIns="0" tIns="0" rIns="0" bIns="0" rtlCol="0" anchor="ctr">
            <a:normAutofit/>
          </a:bodyPr>
          <a:lstStyle/>
          <a:p>
            <a:pPr rtl="1" algn="ctr" indent="0" marL="0">
              <a:buNone/>
            </a:pPr>
            <a:r>
              <a:rPr lang="en-US" sz="1150" b="1" dirty="0">
                <a:solidFill>
                  <a:srgbClr val="172027"/>
                </a:solidFill>
                <a:latin typeface="Noto Sans Arabic" pitchFamily="34" charset="0"/>
                <a:ea typeface="Noto Sans Arabic" pitchFamily="34" charset="-122"/>
                <a:cs typeface="Noto Sans Arabic" pitchFamily="34" charset="-120"/>
              </a:rPr>
              <a:t>روابط عاطفی</a:t>
            </a:r>
            <a:endParaRPr lang="en-US" sz="1150" dirty="0"/>
          </a:p>
        </p:txBody>
      </p:sp>
      <p:sp>
        <p:nvSpPr>
          <p:cNvPr id="11" name="Shape 8"/>
          <p:cNvSpPr/>
          <p:nvPr/>
        </p:nvSpPr>
        <p:spPr>
          <a:xfrm>
            <a:off x="6720840" y="3931920"/>
            <a:ext cx="1874520" cy="347472"/>
          </a:xfrm>
          <a:prstGeom prst="roundRect">
            <a:avLst>
              <a:gd name="adj" fmla="val 21053"/>
            </a:avLst>
          </a:prstGeom>
          <a:solidFill>
            <a:srgbClr val="E5EEEE"/>
          </a:solidFill>
          <a:ln w="8890">
            <a:solidFill>
              <a:srgbClr val="C3D0D1"/>
            </a:solidFill>
            <a:prstDash val="solid"/>
          </a:ln>
        </p:spPr>
      </p:sp>
      <p:sp>
        <p:nvSpPr>
          <p:cNvPr id="12" name="Text 9"/>
          <p:cNvSpPr/>
          <p:nvPr/>
        </p:nvSpPr>
        <p:spPr>
          <a:xfrm>
            <a:off x="6766560" y="3941064"/>
            <a:ext cx="1783080" cy="310896"/>
          </a:xfrm>
          <a:prstGeom prst="rect">
            <a:avLst/>
          </a:prstGeom>
          <a:noFill/>
          <a:ln/>
        </p:spPr>
        <p:txBody>
          <a:bodyPr wrap="square" lIns="0" tIns="0" rIns="0" bIns="0" rtlCol="0" anchor="ctr">
            <a:normAutofit/>
          </a:bodyPr>
          <a:lstStyle/>
          <a:p>
            <a:pPr rtl="1" algn="ctr" indent="0" marL="0">
              <a:buNone/>
            </a:pPr>
            <a:r>
              <a:rPr lang="en-US" sz="1150" b="1" dirty="0">
                <a:solidFill>
                  <a:srgbClr val="172027"/>
                </a:solidFill>
                <a:latin typeface="Noto Sans Arabic" pitchFamily="34" charset="0"/>
                <a:ea typeface="Noto Sans Arabic" pitchFamily="34" charset="-122"/>
                <a:cs typeface="Noto Sans Arabic" pitchFamily="34" charset="-120"/>
              </a:rPr>
              <a:t>خانواده و دوستی</a:t>
            </a:r>
            <a:endParaRPr lang="en-US" sz="1150" dirty="0"/>
          </a:p>
        </p:txBody>
      </p:sp>
      <p:sp>
        <p:nvSpPr>
          <p:cNvPr id="13" name="Shape 10"/>
          <p:cNvSpPr/>
          <p:nvPr/>
        </p:nvSpPr>
        <p:spPr>
          <a:xfrm>
            <a:off x="4617720" y="3931920"/>
            <a:ext cx="1874520" cy="347472"/>
          </a:xfrm>
          <a:prstGeom prst="roundRect">
            <a:avLst>
              <a:gd name="adj" fmla="val 21053"/>
            </a:avLst>
          </a:prstGeom>
          <a:solidFill>
            <a:srgbClr val="EEE7D8"/>
          </a:solidFill>
          <a:ln w="8890">
            <a:solidFill>
              <a:srgbClr val="C3D0D1"/>
            </a:solidFill>
            <a:prstDash val="solid"/>
          </a:ln>
        </p:spPr>
      </p:sp>
      <p:sp>
        <p:nvSpPr>
          <p:cNvPr id="14" name="Text 11"/>
          <p:cNvSpPr/>
          <p:nvPr/>
        </p:nvSpPr>
        <p:spPr>
          <a:xfrm>
            <a:off x="4663440" y="3941064"/>
            <a:ext cx="1783080" cy="310896"/>
          </a:xfrm>
          <a:prstGeom prst="rect">
            <a:avLst/>
          </a:prstGeom>
          <a:noFill/>
          <a:ln/>
        </p:spPr>
        <p:txBody>
          <a:bodyPr wrap="square" lIns="0" tIns="0" rIns="0" bIns="0" rtlCol="0" anchor="ctr">
            <a:normAutofit/>
          </a:bodyPr>
          <a:lstStyle/>
          <a:p>
            <a:pPr rtl="1" algn="ctr" indent="0" marL="0">
              <a:buNone/>
            </a:pPr>
            <a:r>
              <a:rPr lang="en-US" sz="1150" b="1" dirty="0">
                <a:solidFill>
                  <a:srgbClr val="172027"/>
                </a:solidFill>
                <a:latin typeface="Noto Sans Arabic" pitchFamily="34" charset="0"/>
                <a:ea typeface="Noto Sans Arabic" pitchFamily="34" charset="-122"/>
                <a:cs typeface="Noto Sans Arabic" pitchFamily="34" charset="-120"/>
              </a:rPr>
              <a:t>محیط کار</a:t>
            </a:r>
            <a:endParaRPr lang="en-US" sz="1150" dirty="0"/>
          </a:p>
        </p:txBody>
      </p:sp>
      <p:sp>
        <p:nvSpPr>
          <p:cNvPr id="15" name="Shape 12"/>
          <p:cNvSpPr/>
          <p:nvPr/>
        </p:nvSpPr>
        <p:spPr>
          <a:xfrm>
            <a:off x="2514600" y="3931920"/>
            <a:ext cx="1874520" cy="347472"/>
          </a:xfrm>
          <a:prstGeom prst="roundRect">
            <a:avLst>
              <a:gd name="adj" fmla="val 21053"/>
            </a:avLst>
          </a:prstGeom>
          <a:solidFill>
            <a:srgbClr val="E8E4EF"/>
          </a:solidFill>
          <a:ln w="8890">
            <a:solidFill>
              <a:srgbClr val="C3D0D1"/>
            </a:solidFill>
            <a:prstDash val="solid"/>
          </a:ln>
        </p:spPr>
      </p:sp>
      <p:sp>
        <p:nvSpPr>
          <p:cNvPr id="16" name="Text 13"/>
          <p:cNvSpPr/>
          <p:nvPr/>
        </p:nvSpPr>
        <p:spPr>
          <a:xfrm>
            <a:off x="2560320" y="3941064"/>
            <a:ext cx="1783080" cy="310896"/>
          </a:xfrm>
          <a:prstGeom prst="rect">
            <a:avLst/>
          </a:prstGeom>
          <a:noFill/>
          <a:ln/>
        </p:spPr>
        <p:txBody>
          <a:bodyPr wrap="square" lIns="0" tIns="0" rIns="0" bIns="0" rtlCol="0" anchor="ctr">
            <a:normAutofit/>
          </a:bodyPr>
          <a:lstStyle/>
          <a:p>
            <a:pPr rtl="1" algn="ctr" indent="0" marL="0">
              <a:buNone/>
            </a:pPr>
            <a:r>
              <a:rPr lang="en-US" sz="1150" b="1" dirty="0">
                <a:solidFill>
                  <a:srgbClr val="172027"/>
                </a:solidFill>
                <a:latin typeface="Noto Sans Arabic" pitchFamily="34" charset="0"/>
                <a:ea typeface="Noto Sans Arabic" pitchFamily="34" charset="-122"/>
                <a:cs typeface="Noto Sans Arabic" pitchFamily="34" charset="-120"/>
              </a:rPr>
              <a:t>فضای دیجیتال</a:t>
            </a:r>
            <a:endParaRPr lang="en-US" sz="1150" dirty="0"/>
          </a:p>
        </p:txBody>
      </p:sp>
      <p:sp>
        <p:nvSpPr>
          <p:cNvPr id="17" name="Shape 14"/>
          <p:cNvSpPr/>
          <p:nvPr/>
        </p:nvSpPr>
        <p:spPr>
          <a:xfrm>
            <a:off x="2770632" y="4782312"/>
            <a:ext cx="0" cy="384048"/>
          </a:xfrm>
          <a:prstGeom prst="line">
            <a:avLst/>
          </a:prstGeom>
          <a:noFill/>
          <a:ln w="50800">
            <a:solidFill>
              <a:srgbClr val="76566F"/>
            </a:solidFill>
            <a:prstDash val="solid"/>
            <a:headEnd type="none"/>
            <a:tailEnd type="none"/>
          </a:ln>
        </p:spPr>
      </p:sp>
      <p:sp>
        <p:nvSpPr>
          <p:cNvPr id="18" name="Text 15"/>
          <p:cNvSpPr/>
          <p:nvPr/>
        </p:nvSpPr>
        <p:spPr>
          <a:xfrm>
            <a:off x="777240" y="4754880"/>
            <a:ext cx="1920240" cy="457200"/>
          </a:xfrm>
          <a:prstGeom prst="rect">
            <a:avLst/>
          </a:prstGeom>
          <a:noFill/>
          <a:ln/>
        </p:spPr>
        <p:txBody>
          <a:bodyPr wrap="square" lIns="0" tIns="0" rIns="0" bIns="0" rtlCol="0" anchor="ctr">
            <a:normAutofit/>
          </a:bodyPr>
          <a:lstStyle/>
          <a:p>
            <a:pPr rtl="1" algn="r" indent="0" marL="0">
              <a:buNone/>
            </a:pPr>
            <a:r>
              <a:rPr lang="en-US" sz="1800" b="1" dirty="0">
                <a:solidFill>
                  <a:srgbClr val="172027"/>
                </a:solidFill>
                <a:latin typeface="Noto Sans Arabic" pitchFamily="34" charset="0"/>
                <a:ea typeface="Noto Sans Arabic" pitchFamily="34" charset="-122"/>
                <a:cs typeface="Noto Sans Arabic" pitchFamily="34" charset="-120"/>
              </a:rPr>
              <a:t>خط راهنما</a:t>
            </a:r>
            <a:endParaRPr lang="en-US" sz="1800" dirty="0"/>
          </a:p>
        </p:txBody>
      </p:sp>
      <p:sp>
        <p:nvSpPr>
          <p:cNvPr id="19" name="Text 16"/>
          <p:cNvSpPr/>
          <p:nvPr/>
        </p:nvSpPr>
        <p:spPr>
          <a:xfrm>
            <a:off x="2880360" y="4617720"/>
            <a:ext cx="8366760" cy="658368"/>
          </a:xfrm>
          <a:prstGeom prst="rect">
            <a:avLst/>
          </a:prstGeom>
          <a:noFill/>
          <a:ln/>
        </p:spPr>
        <p:txBody>
          <a:bodyPr wrap="square" lIns="0" tIns="0" rIns="0" bIns="0" rtlCol="0" anchor="ctr">
            <a:normAutofit/>
          </a:bodyPr>
          <a:lstStyle/>
          <a:p>
            <a:pPr rtl="1" algn="r" indent="0" marL="0">
              <a:buNone/>
            </a:pPr>
            <a:r>
              <a:rPr lang="en-US" sz="2500" b="1" dirty="0">
                <a:solidFill>
                  <a:srgbClr val="76566F"/>
                </a:solidFill>
                <a:latin typeface="Noto Kufi Arabic" pitchFamily="34" charset="0"/>
                <a:ea typeface="Noto Kufi Arabic" pitchFamily="34" charset="-122"/>
                <a:cs typeface="Noto Kufi Arabic" pitchFamily="34" charset="-120"/>
              </a:rPr>
              <a:t>شناخت الگوی رابطه، نه برچسب‌زدن به اشخاص.</a:t>
            </a:r>
            <a:endParaRPr lang="en-US" sz="2500" dirty="0"/>
          </a:p>
        </p:txBody>
      </p:sp>
      <p:sp>
        <p:nvSpPr>
          <p:cNvPr id="20" name="Text 17"/>
          <p:cNvSpPr/>
          <p:nvPr/>
        </p:nvSpPr>
        <p:spPr>
          <a:xfrm>
            <a:off x="2880360" y="5321808"/>
            <a:ext cx="8366760" cy="475488"/>
          </a:xfrm>
          <a:prstGeom prst="rect">
            <a:avLst/>
          </a:prstGeom>
          <a:noFill/>
          <a:ln/>
        </p:spPr>
        <p:txBody>
          <a:bodyPr wrap="square" lIns="0" tIns="0" rIns="0" bIns="0" rtlCol="0" anchor="ctr">
            <a:normAutofit/>
          </a:bodyPr>
          <a:lstStyle/>
          <a:p>
            <a:pPr rtl="1" algn="r" indent="0" marL="0">
              <a:buNone/>
            </a:pPr>
            <a:r>
              <a:rPr lang="en-US" sz="1800" dirty="0">
                <a:solidFill>
                  <a:srgbClr val="172027"/>
                </a:solidFill>
                <a:latin typeface="Noto Sans Arabic" pitchFamily="34" charset="0"/>
                <a:ea typeface="Noto Sans Arabic" pitchFamily="34" charset="-122"/>
                <a:cs typeface="Noto Sans Arabic" pitchFamily="34" charset="-120"/>
              </a:rPr>
              <a:t>رابطه یک فرایند دوطرفه و زمینه‌مند است.</a:t>
            </a:r>
            <a:endParaRPr lang="en-US" sz="1800" dirty="0"/>
          </a:p>
        </p:txBody>
      </p:sp>
      <p:sp>
        <p:nvSpPr>
          <p:cNvPr id="21" name="Text 18"/>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مبنای محتوایی: فصل ۱ و مدل مسیر صفت ← رفتار ← پیامد در فایل سمینار</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روش‌شناسی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هدف، پرسش‌ها و روش مرور</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03</a:t>
            </a:r>
            <a:endParaRPr lang="en-US" sz="1200" dirty="0"/>
          </a:p>
        </p:txBody>
      </p:sp>
      <p:sp>
        <p:nvSpPr>
          <p:cNvPr id="6" name="Text 4"/>
          <p:cNvSpPr/>
          <p:nvPr/>
        </p:nvSpPr>
        <p:spPr>
          <a:xfrm>
            <a:off x="6309360" y="1325880"/>
            <a:ext cx="5074920" cy="502920"/>
          </a:xfrm>
          <a:prstGeom prst="rect">
            <a:avLst/>
          </a:prstGeom>
          <a:noFill/>
          <a:ln/>
        </p:spPr>
        <p:txBody>
          <a:bodyPr wrap="square" lIns="0" tIns="0" rIns="0" bIns="0" rtlCol="0" anchor="ctr">
            <a:normAutofit/>
          </a:bodyPr>
          <a:lstStyle/>
          <a:p>
            <a:pPr rtl="1" algn="r" indent="0" marL="0">
              <a:buNone/>
            </a:pPr>
            <a:r>
              <a:rPr lang="en-US" sz="2300" b="1" dirty="0">
                <a:solidFill>
                  <a:srgbClr val="2B6F73"/>
                </a:solidFill>
                <a:latin typeface="Noto Kufi Arabic" pitchFamily="34" charset="0"/>
                <a:ea typeface="Noto Kufi Arabic" pitchFamily="34" charset="-122"/>
                <a:cs typeface="Noto Kufi Arabic" pitchFamily="34" charset="-120"/>
              </a:rPr>
              <a:t>نوع مطالعه: مرور روایتی، تلفیقی و انتقادی</a:t>
            </a:r>
            <a:endParaRPr lang="en-US" sz="2300" dirty="0"/>
          </a:p>
        </p:txBody>
      </p:sp>
      <p:sp>
        <p:nvSpPr>
          <p:cNvPr id="7" name="Shape 5"/>
          <p:cNvSpPr/>
          <p:nvPr/>
        </p:nvSpPr>
        <p:spPr>
          <a:xfrm>
            <a:off x="3383280" y="1746504"/>
            <a:ext cx="1115568" cy="740664"/>
          </a:xfrm>
          <a:prstGeom prst="line">
            <a:avLst/>
          </a:prstGeom>
          <a:noFill/>
          <a:ln w="22860">
            <a:solidFill>
              <a:srgbClr val="A7BABC"/>
            </a:solidFill>
            <a:prstDash val="solid"/>
            <a:tailEnd type="triangle"/>
          </a:ln>
        </p:spPr>
      </p:sp>
      <p:sp>
        <p:nvSpPr>
          <p:cNvPr id="8" name="Shape 6"/>
          <p:cNvSpPr/>
          <p:nvPr/>
        </p:nvSpPr>
        <p:spPr>
          <a:xfrm>
            <a:off x="3383280" y="2816352"/>
            <a:ext cx="1115568" cy="109728"/>
          </a:xfrm>
          <a:prstGeom prst="line">
            <a:avLst/>
          </a:prstGeom>
          <a:noFill/>
          <a:ln w="22860">
            <a:solidFill>
              <a:srgbClr val="A7BABC"/>
            </a:solidFill>
            <a:prstDash val="solid"/>
            <a:tailEnd type="triangle"/>
          </a:ln>
        </p:spPr>
      </p:sp>
      <p:sp>
        <p:nvSpPr>
          <p:cNvPr id="9" name="Shape 7"/>
          <p:cNvSpPr/>
          <p:nvPr/>
        </p:nvSpPr>
        <p:spPr>
          <a:xfrm>
            <a:off x="3383280" y="3886200"/>
            <a:ext cx="1115568" cy="-521208"/>
          </a:xfrm>
          <a:prstGeom prst="line">
            <a:avLst/>
          </a:prstGeom>
          <a:noFill/>
          <a:ln w="22860">
            <a:solidFill>
              <a:srgbClr val="A7BABC"/>
            </a:solidFill>
            <a:prstDash val="solid"/>
            <a:tailEnd type="triangle"/>
          </a:ln>
        </p:spPr>
      </p:sp>
      <p:sp>
        <p:nvSpPr>
          <p:cNvPr id="10" name="Shape 8"/>
          <p:cNvSpPr/>
          <p:nvPr/>
        </p:nvSpPr>
        <p:spPr>
          <a:xfrm>
            <a:off x="3383280" y="4956048"/>
            <a:ext cx="1115568" cy="-1152144"/>
          </a:xfrm>
          <a:prstGeom prst="line">
            <a:avLst/>
          </a:prstGeom>
          <a:noFill/>
          <a:ln w="22860">
            <a:solidFill>
              <a:srgbClr val="A7BABC"/>
            </a:solidFill>
            <a:prstDash val="solid"/>
            <a:tailEnd type="triangle"/>
          </a:ln>
        </p:spPr>
      </p:sp>
      <p:sp>
        <p:nvSpPr>
          <p:cNvPr id="11" name="Shape 9"/>
          <p:cNvSpPr/>
          <p:nvPr/>
        </p:nvSpPr>
        <p:spPr>
          <a:xfrm>
            <a:off x="8156448" y="3154680"/>
            <a:ext cx="841248" cy="0"/>
          </a:xfrm>
          <a:prstGeom prst="line">
            <a:avLst/>
          </a:prstGeom>
          <a:noFill/>
          <a:ln w="27940">
            <a:solidFill>
              <a:srgbClr val="2B6F73"/>
            </a:solidFill>
            <a:prstDash val="solid"/>
            <a:tailEnd type="triangle"/>
          </a:ln>
        </p:spPr>
      </p:sp>
      <p:sp>
        <p:nvSpPr>
          <p:cNvPr id="12" name="Shape 10"/>
          <p:cNvSpPr/>
          <p:nvPr/>
        </p:nvSpPr>
        <p:spPr>
          <a:xfrm>
            <a:off x="822960" y="1417320"/>
            <a:ext cx="2560320" cy="658368"/>
          </a:xfrm>
          <a:prstGeom prst="roundRect">
            <a:avLst>
              <a:gd name="adj" fmla="val 11111"/>
            </a:avLst>
          </a:prstGeom>
          <a:solidFill>
            <a:srgbClr val="E4EFF0"/>
          </a:solidFill>
          <a:ln w="10160">
            <a:solidFill>
              <a:srgbClr val="C8D4D5"/>
            </a:solidFill>
            <a:prstDash val="solid"/>
          </a:ln>
        </p:spPr>
      </p:sp>
      <p:sp>
        <p:nvSpPr>
          <p:cNvPr id="13" name="Text 11"/>
          <p:cNvSpPr/>
          <p:nvPr/>
        </p:nvSpPr>
        <p:spPr>
          <a:xfrm>
            <a:off x="960120" y="1490472"/>
            <a:ext cx="2286000" cy="475488"/>
          </a:xfrm>
          <a:prstGeom prst="rect">
            <a:avLst/>
          </a:prstGeom>
          <a:noFill/>
          <a:ln/>
        </p:spPr>
        <p:txBody>
          <a:bodyPr wrap="square" lIns="0" tIns="0" rIns="0" bIns="0" rtlCol="0" anchor="ctr">
            <a:normAutofit/>
          </a:bodyPr>
          <a:lstStyle/>
          <a:p>
            <a:pPr rtl="1" algn="ctr" indent="0" marL="0">
              <a:buNone/>
            </a:pPr>
            <a:r>
              <a:rPr lang="en-US" sz="1650" b="1" dirty="0">
                <a:solidFill>
                  <a:srgbClr val="172027"/>
                </a:solidFill>
                <a:latin typeface="Noto Sans Arabic" pitchFamily="34" charset="0"/>
                <a:ea typeface="Noto Sans Arabic" pitchFamily="34" charset="-122"/>
                <a:cs typeface="Noto Sans Arabic" pitchFamily="34" charset="-120"/>
              </a:rPr>
              <a:t>مدل‌های نظری</a:t>
            </a:r>
            <a:endParaRPr lang="en-US" sz="1650" dirty="0"/>
          </a:p>
        </p:txBody>
      </p:sp>
      <p:sp>
        <p:nvSpPr>
          <p:cNvPr id="14" name="Shape 12"/>
          <p:cNvSpPr/>
          <p:nvPr/>
        </p:nvSpPr>
        <p:spPr>
          <a:xfrm>
            <a:off x="822960" y="2487168"/>
            <a:ext cx="2560320" cy="658368"/>
          </a:xfrm>
          <a:prstGeom prst="roundRect">
            <a:avLst>
              <a:gd name="adj" fmla="val 11111"/>
            </a:avLst>
          </a:prstGeom>
          <a:solidFill>
            <a:srgbClr val="E8E9F2"/>
          </a:solidFill>
          <a:ln w="10160">
            <a:solidFill>
              <a:srgbClr val="C8D4D5"/>
            </a:solidFill>
            <a:prstDash val="solid"/>
          </a:ln>
        </p:spPr>
      </p:sp>
      <p:sp>
        <p:nvSpPr>
          <p:cNvPr id="15" name="Text 13"/>
          <p:cNvSpPr/>
          <p:nvPr/>
        </p:nvSpPr>
        <p:spPr>
          <a:xfrm>
            <a:off x="960120" y="2560320"/>
            <a:ext cx="2286000" cy="475488"/>
          </a:xfrm>
          <a:prstGeom prst="rect">
            <a:avLst/>
          </a:prstGeom>
          <a:noFill/>
          <a:ln/>
        </p:spPr>
        <p:txBody>
          <a:bodyPr wrap="square" lIns="0" tIns="0" rIns="0" bIns="0" rtlCol="0" anchor="ctr">
            <a:normAutofit/>
          </a:bodyPr>
          <a:lstStyle/>
          <a:p>
            <a:pPr rtl="1" algn="ctr" indent="0" marL="0">
              <a:buNone/>
            </a:pPr>
            <a:r>
              <a:rPr lang="en-US" sz="1650" b="1" dirty="0">
                <a:solidFill>
                  <a:srgbClr val="172027"/>
                </a:solidFill>
                <a:latin typeface="Noto Sans Arabic" pitchFamily="34" charset="0"/>
                <a:ea typeface="Noto Sans Arabic" pitchFamily="34" charset="-122"/>
                <a:cs typeface="Noto Sans Arabic" pitchFamily="34" charset="-120"/>
              </a:rPr>
              <a:t>مطالعات تجربی</a:t>
            </a:r>
            <a:endParaRPr lang="en-US" sz="1650" dirty="0"/>
          </a:p>
        </p:txBody>
      </p:sp>
      <p:sp>
        <p:nvSpPr>
          <p:cNvPr id="16" name="Shape 14"/>
          <p:cNvSpPr/>
          <p:nvPr/>
        </p:nvSpPr>
        <p:spPr>
          <a:xfrm>
            <a:off x="822960" y="3557016"/>
            <a:ext cx="2560320" cy="658368"/>
          </a:xfrm>
          <a:prstGeom prst="roundRect">
            <a:avLst>
              <a:gd name="adj" fmla="val 11111"/>
            </a:avLst>
          </a:prstGeom>
          <a:solidFill>
            <a:srgbClr val="EEE5EB"/>
          </a:solidFill>
          <a:ln w="10160">
            <a:solidFill>
              <a:srgbClr val="C8D4D5"/>
            </a:solidFill>
            <a:prstDash val="solid"/>
          </a:ln>
        </p:spPr>
      </p:sp>
      <p:sp>
        <p:nvSpPr>
          <p:cNvPr id="17" name="Text 15"/>
          <p:cNvSpPr/>
          <p:nvPr/>
        </p:nvSpPr>
        <p:spPr>
          <a:xfrm>
            <a:off x="960120" y="3630168"/>
            <a:ext cx="2286000" cy="475488"/>
          </a:xfrm>
          <a:prstGeom prst="rect">
            <a:avLst/>
          </a:prstGeom>
          <a:noFill/>
          <a:ln/>
        </p:spPr>
        <p:txBody>
          <a:bodyPr wrap="square" lIns="0" tIns="0" rIns="0" bIns="0" rtlCol="0" anchor="ctr">
            <a:normAutofit/>
          </a:bodyPr>
          <a:lstStyle/>
          <a:p>
            <a:pPr rtl="1" algn="ctr" indent="0" marL="0">
              <a:buNone/>
            </a:pPr>
            <a:r>
              <a:rPr lang="en-US" sz="1650" b="1" dirty="0">
                <a:solidFill>
                  <a:srgbClr val="172027"/>
                </a:solidFill>
                <a:latin typeface="Noto Sans Arabic" pitchFamily="34" charset="0"/>
                <a:ea typeface="Noto Sans Arabic" pitchFamily="34" charset="-122"/>
                <a:cs typeface="Noto Sans Arabic" pitchFamily="34" charset="-120"/>
              </a:rPr>
              <a:t>مطالعات زوجی</a:t>
            </a:r>
            <a:endParaRPr lang="en-US" sz="1650" dirty="0"/>
          </a:p>
        </p:txBody>
      </p:sp>
      <p:sp>
        <p:nvSpPr>
          <p:cNvPr id="18" name="Shape 16"/>
          <p:cNvSpPr/>
          <p:nvPr/>
        </p:nvSpPr>
        <p:spPr>
          <a:xfrm>
            <a:off x="822960" y="4626864"/>
            <a:ext cx="2560320" cy="658368"/>
          </a:xfrm>
          <a:prstGeom prst="roundRect">
            <a:avLst>
              <a:gd name="adj" fmla="val 11111"/>
            </a:avLst>
          </a:prstGeom>
          <a:solidFill>
            <a:srgbClr val="F2EBD9"/>
          </a:solidFill>
          <a:ln w="10160">
            <a:solidFill>
              <a:srgbClr val="C8D4D5"/>
            </a:solidFill>
            <a:prstDash val="solid"/>
          </a:ln>
        </p:spPr>
      </p:sp>
      <p:sp>
        <p:nvSpPr>
          <p:cNvPr id="19" name="Text 17"/>
          <p:cNvSpPr/>
          <p:nvPr/>
        </p:nvSpPr>
        <p:spPr>
          <a:xfrm>
            <a:off x="960120" y="4700016"/>
            <a:ext cx="2286000" cy="475488"/>
          </a:xfrm>
          <a:prstGeom prst="rect">
            <a:avLst/>
          </a:prstGeom>
          <a:noFill/>
          <a:ln/>
        </p:spPr>
        <p:txBody>
          <a:bodyPr wrap="square" lIns="0" tIns="0" rIns="0" bIns="0" rtlCol="0" anchor="ctr">
            <a:normAutofit/>
          </a:bodyPr>
          <a:lstStyle/>
          <a:p>
            <a:pPr rtl="1" algn="ctr" indent="0" marL="0">
              <a:buNone/>
            </a:pPr>
            <a:r>
              <a:rPr lang="en-US" sz="1650" b="1" dirty="0">
                <a:solidFill>
                  <a:srgbClr val="172027"/>
                </a:solidFill>
                <a:latin typeface="Noto Sans Arabic" pitchFamily="34" charset="0"/>
                <a:ea typeface="Noto Sans Arabic" pitchFamily="34" charset="-122"/>
                <a:cs typeface="Noto Sans Arabic" pitchFamily="34" charset="-120"/>
              </a:rPr>
              <a:t>مرورها و فراتحلیل‌ها</a:t>
            </a:r>
            <a:endParaRPr lang="en-US" sz="1650" dirty="0"/>
          </a:p>
        </p:txBody>
      </p:sp>
      <p:sp>
        <p:nvSpPr>
          <p:cNvPr id="20" name="Shape 18"/>
          <p:cNvSpPr/>
          <p:nvPr/>
        </p:nvSpPr>
        <p:spPr>
          <a:xfrm>
            <a:off x="4645152" y="2148840"/>
            <a:ext cx="3511296" cy="2011680"/>
          </a:xfrm>
          <a:prstGeom prst="roundRect">
            <a:avLst>
              <a:gd name="adj" fmla="val 3636"/>
            </a:avLst>
          </a:prstGeom>
          <a:solidFill>
            <a:srgbClr val="14242C"/>
          </a:solidFill>
          <a:ln w="10160">
            <a:solidFill>
              <a:srgbClr val="14242C"/>
            </a:solidFill>
            <a:prstDash val="solid"/>
          </a:ln>
          <a:effectLst>
            <a:outerShdw sx="100000" sy="100000" kx="0" ky="0" algn="bl" rotWithShape="0" blurRad="25400" dist="12700" dir="2700000">
              <a:srgbClr val="000000">
                <a:alpha val="18000"/>
              </a:srgbClr>
            </a:outerShdw>
          </a:effectLst>
        </p:spPr>
      </p:sp>
      <p:sp>
        <p:nvSpPr>
          <p:cNvPr id="21" name="Text 19"/>
          <p:cNvSpPr/>
          <p:nvPr/>
        </p:nvSpPr>
        <p:spPr>
          <a:xfrm>
            <a:off x="4919472" y="2514600"/>
            <a:ext cx="2962656" cy="1234440"/>
          </a:xfrm>
          <a:prstGeom prst="rect">
            <a:avLst/>
          </a:prstGeom>
          <a:noFill/>
          <a:ln/>
        </p:spPr>
        <p:txBody>
          <a:bodyPr wrap="square" lIns="0" tIns="0" rIns="0" bIns="0" rtlCol="0" anchor="ctr">
            <a:normAutofit/>
          </a:bodyPr>
          <a:lstStyle/>
          <a:p>
            <a:pPr rtl="1" algn="ctr" indent="0" marL="0">
              <a:buNone/>
            </a:pPr>
            <a:r>
              <a:rPr lang="en-US" sz="2300" b="1" dirty="0">
                <a:solidFill>
                  <a:srgbClr val="FFFFFF"/>
                </a:solidFill>
                <a:latin typeface="Noto Kufi Arabic" pitchFamily="34" charset="0"/>
                <a:ea typeface="Noto Kufi Arabic" pitchFamily="34" charset="-122"/>
                <a:cs typeface="Noto Kufi Arabic" pitchFamily="34" charset="-120"/>
              </a:rPr>
              <a:t>تلفیق انتقادی</a:t>
            </a:r>
            <a:endParaRPr lang="en-US" sz="2300" dirty="0"/>
          </a:p>
          <a:p>
            <a:pPr rtl="1" algn="ctr" indent="0" marL="0">
              <a:buNone/>
            </a:pPr>
            <a:r>
              <a:rPr lang="en-US" sz="2300" b="1" dirty="0">
                <a:solidFill>
                  <a:srgbClr val="FFFFFF"/>
                </a:solidFill>
                <a:latin typeface="Noto Kufi Arabic" pitchFamily="34" charset="0"/>
                <a:ea typeface="Noto Kufi Arabic" pitchFamily="34" charset="-122"/>
                <a:cs typeface="Noto Kufi Arabic" pitchFamily="34" charset="-120"/>
              </a:rPr>
              <a:t>و سنجش حدود استنباط</a:t>
            </a:r>
            <a:endParaRPr lang="en-US" sz="2300" dirty="0"/>
          </a:p>
        </p:txBody>
      </p:sp>
      <p:sp>
        <p:nvSpPr>
          <p:cNvPr id="22" name="Shape 20"/>
          <p:cNvSpPr/>
          <p:nvPr/>
        </p:nvSpPr>
        <p:spPr>
          <a:xfrm>
            <a:off x="9125712" y="2304288"/>
            <a:ext cx="2148840" cy="1691640"/>
          </a:xfrm>
          <a:prstGeom prst="roundRect">
            <a:avLst>
              <a:gd name="adj" fmla="val 4324"/>
            </a:avLst>
          </a:prstGeom>
          <a:solidFill>
            <a:srgbClr val="E5EEEA"/>
          </a:solidFill>
          <a:ln w="10160">
            <a:solidFill>
              <a:srgbClr val="BBD0C5"/>
            </a:solidFill>
            <a:prstDash val="solid"/>
          </a:ln>
        </p:spPr>
      </p:sp>
      <p:sp>
        <p:nvSpPr>
          <p:cNvPr id="23" name="Text 21"/>
          <p:cNvSpPr/>
          <p:nvPr/>
        </p:nvSpPr>
        <p:spPr>
          <a:xfrm>
            <a:off x="9354312" y="2468880"/>
            <a:ext cx="1691640" cy="256032"/>
          </a:xfrm>
          <a:prstGeom prst="rect">
            <a:avLst/>
          </a:prstGeom>
          <a:noFill/>
          <a:ln/>
        </p:spPr>
        <p:txBody>
          <a:bodyPr wrap="square" lIns="0" tIns="0" rIns="0" bIns="0" rtlCol="0" anchor="ctr">
            <a:normAutofit/>
          </a:bodyPr>
          <a:lstStyle/>
          <a:p>
            <a:pPr rtl="1" algn="ctr" indent="0" marL="0">
              <a:buNone/>
            </a:pPr>
            <a:r>
              <a:rPr lang="en-US" sz="1350" b="1" dirty="0">
                <a:solidFill>
                  <a:srgbClr val="5E8C76"/>
                </a:solidFill>
                <a:latin typeface="Noto Kufi Arabic" pitchFamily="34" charset="0"/>
                <a:ea typeface="Noto Kufi Arabic" pitchFamily="34" charset="-122"/>
                <a:cs typeface="Noto Kufi Arabic" pitchFamily="34" charset="-120"/>
              </a:rPr>
              <a:t>خروجی</a:t>
            </a:r>
            <a:endParaRPr lang="en-US" sz="1350" dirty="0"/>
          </a:p>
        </p:txBody>
      </p:sp>
      <p:sp>
        <p:nvSpPr>
          <p:cNvPr id="24" name="Text 22"/>
          <p:cNvSpPr/>
          <p:nvPr/>
        </p:nvSpPr>
        <p:spPr>
          <a:xfrm>
            <a:off x="9308592" y="2807208"/>
            <a:ext cx="1783080" cy="914400"/>
          </a:xfrm>
          <a:prstGeom prst="rect">
            <a:avLst/>
          </a:prstGeom>
          <a:noFill/>
          <a:ln/>
        </p:spPr>
        <p:txBody>
          <a:bodyPr wrap="square" lIns="0" tIns="0" rIns="0" bIns="0" rtlCol="0" anchor="ctr">
            <a:normAutofit/>
          </a:bodyPr>
          <a:lstStyle/>
          <a:p>
            <a:pPr rtl="1" algn="ctr" indent="0" marL="0">
              <a:buNone/>
            </a:pPr>
            <a:r>
              <a:rPr lang="en-US" sz="1450" b="1" dirty="0">
                <a:solidFill>
                  <a:srgbClr val="172027"/>
                </a:solidFill>
                <a:latin typeface="Noto Sans Arabic" pitchFamily="34" charset="0"/>
                <a:ea typeface="Noto Sans Arabic" pitchFamily="34" charset="-122"/>
                <a:cs typeface="Noto Sans Arabic" pitchFamily="34" charset="-120"/>
              </a:rPr>
              <a:t>مدل مفهومی</a:t>
            </a:r>
            <a:endParaRPr lang="en-US" sz="1450" dirty="0"/>
          </a:p>
          <a:p>
            <a:pPr rtl="1" algn="ctr" indent="0" marL="0">
              <a:buNone/>
            </a:pPr>
            <a:r>
              <a:rPr lang="en-US" sz="1450" b="1" dirty="0">
                <a:solidFill>
                  <a:srgbClr val="172027"/>
                </a:solidFill>
                <a:latin typeface="Noto Sans Arabic" pitchFamily="34" charset="0"/>
                <a:ea typeface="Noto Sans Arabic" pitchFamily="34" charset="-122"/>
                <a:cs typeface="Noto Sans Arabic" pitchFamily="34" charset="-120"/>
              </a:rPr>
              <a:t>پرسش آزمون‌پذیر</a:t>
            </a:r>
            <a:endParaRPr lang="en-US" sz="1450" dirty="0"/>
          </a:p>
          <a:p>
            <a:pPr rtl="1" algn="ctr" indent="0" marL="0">
              <a:buNone/>
            </a:pPr>
            <a:r>
              <a:rPr lang="en-US" sz="1450" b="1" dirty="0">
                <a:solidFill>
                  <a:srgbClr val="172027"/>
                </a:solidFill>
                <a:latin typeface="Noto Sans Arabic" pitchFamily="34" charset="0"/>
                <a:ea typeface="Noto Sans Arabic" pitchFamily="34" charset="-122"/>
                <a:cs typeface="Noto Sans Arabic" pitchFamily="34" charset="-120"/>
              </a:rPr>
              <a:t>حدود شواهد</a:t>
            </a:r>
            <a:endParaRPr lang="en-US" sz="1450" dirty="0"/>
          </a:p>
        </p:txBody>
      </p:sp>
      <p:sp>
        <p:nvSpPr>
          <p:cNvPr id="25" name="Shape 23"/>
          <p:cNvSpPr/>
          <p:nvPr/>
        </p:nvSpPr>
        <p:spPr>
          <a:xfrm>
            <a:off x="11247120" y="4937760"/>
            <a:ext cx="100584" cy="100584"/>
          </a:xfrm>
          <a:prstGeom prst="ellipse">
            <a:avLst/>
          </a:prstGeom>
          <a:solidFill>
            <a:srgbClr val="9D5D60"/>
          </a:solidFill>
          <a:ln w="12700">
            <a:solidFill>
              <a:srgbClr val="9D5D60">
                <a:alpha val="0"/>
              </a:srgbClr>
            </a:solidFill>
            <a:prstDash val="solid"/>
          </a:ln>
        </p:spPr>
      </p:sp>
      <p:sp>
        <p:nvSpPr>
          <p:cNvPr id="26" name="Text 24"/>
          <p:cNvSpPr/>
          <p:nvPr/>
        </p:nvSpPr>
        <p:spPr>
          <a:xfrm>
            <a:off x="4572000" y="4800600"/>
            <a:ext cx="6629400" cy="54864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دادهٔ تازه، فراتحلیل مستقل یا مرور نظام‌مند ثبت‌شده ارائه نشده است.</a:t>
            </a:r>
            <a:endParaRPr lang="en-US" sz="1750" dirty="0"/>
          </a:p>
        </p:txBody>
      </p:sp>
      <p:sp>
        <p:nvSpPr>
          <p:cNvPr id="27" name="Shape 25"/>
          <p:cNvSpPr/>
          <p:nvPr/>
        </p:nvSpPr>
        <p:spPr>
          <a:xfrm>
            <a:off x="11247120" y="5550408"/>
            <a:ext cx="100584" cy="100584"/>
          </a:xfrm>
          <a:prstGeom prst="ellipse">
            <a:avLst/>
          </a:prstGeom>
          <a:solidFill>
            <a:srgbClr val="2B6F73"/>
          </a:solidFill>
          <a:ln w="12700">
            <a:solidFill>
              <a:srgbClr val="2B6F73">
                <a:alpha val="0"/>
              </a:srgbClr>
            </a:solidFill>
            <a:prstDash val="solid"/>
          </a:ln>
        </p:spPr>
      </p:sp>
      <p:sp>
        <p:nvSpPr>
          <p:cNvPr id="28" name="Text 26"/>
          <p:cNvSpPr/>
          <p:nvPr/>
        </p:nvSpPr>
        <p:spPr>
          <a:xfrm>
            <a:off x="4572000" y="5413248"/>
            <a:ext cx="6629400" cy="54864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هر نتیجه بر اساس طرح، نمونه، ابزار، پیامد و ناهمگنی خوانده می‌شود.</a:t>
            </a:r>
            <a:endParaRPr lang="en-US" sz="1750" dirty="0"/>
          </a:p>
        </p:txBody>
      </p:sp>
      <p:sp>
        <p:nvSpPr>
          <p:cNvPr id="29" name="Text 27"/>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مبنای محتوایی: فصل ۱، بخش روش تدوین مرور و اهداف محوری</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61C"/>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مرزهای مفهومی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چهار سطح را جدا نگه داریم</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04</a:t>
            </a:r>
            <a:endParaRPr lang="en-US" sz="1200" dirty="0"/>
          </a:p>
        </p:txBody>
      </p:sp>
      <p:sp>
        <p:nvSpPr>
          <p:cNvPr id="6" name="Shape 4"/>
          <p:cNvSpPr/>
          <p:nvPr/>
        </p:nvSpPr>
        <p:spPr>
          <a:xfrm>
            <a:off x="2926080" y="3044952"/>
            <a:ext cx="685800" cy="0"/>
          </a:xfrm>
          <a:prstGeom prst="line">
            <a:avLst/>
          </a:prstGeom>
          <a:noFill/>
          <a:ln w="25400">
            <a:solidFill>
              <a:srgbClr val="637780"/>
            </a:solidFill>
            <a:prstDash val="solid"/>
            <a:tailEnd type="triangle"/>
          </a:ln>
        </p:spPr>
      </p:sp>
      <p:sp>
        <p:nvSpPr>
          <p:cNvPr id="7" name="Shape 5"/>
          <p:cNvSpPr/>
          <p:nvPr/>
        </p:nvSpPr>
        <p:spPr>
          <a:xfrm>
            <a:off x="5760720" y="3044952"/>
            <a:ext cx="685800" cy="0"/>
          </a:xfrm>
          <a:prstGeom prst="line">
            <a:avLst/>
          </a:prstGeom>
          <a:noFill/>
          <a:ln w="25400">
            <a:solidFill>
              <a:srgbClr val="637780"/>
            </a:solidFill>
            <a:prstDash val="solid"/>
            <a:tailEnd type="triangle"/>
          </a:ln>
        </p:spPr>
      </p:sp>
      <p:sp>
        <p:nvSpPr>
          <p:cNvPr id="8" name="Shape 6"/>
          <p:cNvSpPr/>
          <p:nvPr/>
        </p:nvSpPr>
        <p:spPr>
          <a:xfrm>
            <a:off x="8595360" y="3044952"/>
            <a:ext cx="685800" cy="0"/>
          </a:xfrm>
          <a:prstGeom prst="line">
            <a:avLst/>
          </a:prstGeom>
          <a:noFill/>
          <a:ln w="25400">
            <a:solidFill>
              <a:srgbClr val="637780"/>
            </a:solidFill>
            <a:prstDash val="solid"/>
            <a:tailEnd type="triangle"/>
          </a:ln>
        </p:spPr>
      </p:sp>
      <p:sp>
        <p:nvSpPr>
          <p:cNvPr id="9" name="Shape 7"/>
          <p:cNvSpPr/>
          <p:nvPr/>
        </p:nvSpPr>
        <p:spPr>
          <a:xfrm>
            <a:off x="777240" y="2331720"/>
            <a:ext cx="2148840" cy="1417320"/>
          </a:xfrm>
          <a:prstGeom prst="roundRect">
            <a:avLst>
              <a:gd name="adj" fmla="val 5161"/>
            </a:avLst>
          </a:prstGeom>
          <a:solidFill>
            <a:srgbClr val="1B2931"/>
          </a:solidFill>
          <a:ln w="27940">
            <a:solidFill>
              <a:srgbClr val="2B6F73"/>
            </a:solidFill>
            <a:prstDash val="solid"/>
          </a:ln>
        </p:spPr>
      </p:sp>
      <p:sp>
        <p:nvSpPr>
          <p:cNvPr id="10" name="Text 8"/>
          <p:cNvSpPr/>
          <p:nvPr/>
        </p:nvSpPr>
        <p:spPr>
          <a:xfrm>
            <a:off x="914400" y="2468880"/>
            <a:ext cx="1874520" cy="329184"/>
          </a:xfrm>
          <a:prstGeom prst="rect">
            <a:avLst/>
          </a:prstGeom>
          <a:noFill/>
          <a:ln/>
        </p:spPr>
        <p:txBody>
          <a:bodyPr wrap="square" lIns="0" tIns="0" rIns="0" bIns="0" rtlCol="0" anchor="ctr">
            <a:normAutofit/>
          </a:bodyPr>
          <a:lstStyle/>
          <a:p>
            <a:pPr rtl="1" algn="ctr" indent="0" marL="0">
              <a:buNone/>
            </a:pPr>
            <a:r>
              <a:rPr lang="en-US" sz="2200" b="1" dirty="0">
                <a:solidFill>
                  <a:srgbClr val="2B6F73"/>
                </a:solidFill>
                <a:latin typeface="Noto Kufi Arabic" pitchFamily="34" charset="0"/>
                <a:ea typeface="Noto Kufi Arabic" pitchFamily="34" charset="-122"/>
                <a:cs typeface="Noto Kufi Arabic" pitchFamily="34" charset="-120"/>
              </a:rPr>
              <a:t>صفت</a:t>
            </a:r>
            <a:endParaRPr lang="en-US" sz="2200" dirty="0"/>
          </a:p>
        </p:txBody>
      </p:sp>
      <p:sp>
        <p:nvSpPr>
          <p:cNvPr id="11" name="Text 9"/>
          <p:cNvSpPr/>
          <p:nvPr/>
        </p:nvSpPr>
        <p:spPr>
          <a:xfrm>
            <a:off x="914400" y="2898648"/>
            <a:ext cx="1874520" cy="256032"/>
          </a:xfrm>
          <a:prstGeom prst="rect">
            <a:avLst/>
          </a:prstGeom>
          <a:noFill/>
          <a:ln/>
        </p:spPr>
        <p:txBody>
          <a:bodyPr wrap="square" lIns="0" tIns="0" rIns="0" bIns="0" rtlCol="0" anchor="ctr">
            <a:normAutofit/>
          </a:bodyPr>
          <a:lstStyle/>
          <a:p>
            <a:pPr rtl="1" algn="ctr" indent="0" marL="0">
              <a:buNone/>
            </a:pPr>
            <a:r>
              <a:rPr lang="en-US" sz="1450" dirty="0">
                <a:solidFill>
                  <a:srgbClr val="DCE2E4"/>
                </a:solidFill>
                <a:latin typeface="Noto Sans Arabic" pitchFamily="34" charset="0"/>
                <a:ea typeface="Noto Sans Arabic" pitchFamily="34" charset="-122"/>
                <a:cs typeface="Noto Sans Arabic" pitchFamily="34" charset="-120"/>
              </a:rPr>
              <a:t>گرایش نسبتاً پایدار</a:t>
            </a:r>
            <a:endParaRPr lang="en-US" sz="1450" dirty="0"/>
          </a:p>
        </p:txBody>
      </p:sp>
      <p:sp>
        <p:nvSpPr>
          <p:cNvPr id="12" name="Text 10"/>
          <p:cNvSpPr/>
          <p:nvPr/>
        </p:nvSpPr>
        <p:spPr>
          <a:xfrm>
            <a:off x="914400" y="3273552"/>
            <a:ext cx="1874520" cy="274320"/>
          </a:xfrm>
          <a:prstGeom prst="rect">
            <a:avLst/>
          </a:prstGeom>
          <a:noFill/>
          <a:ln/>
        </p:spPr>
        <p:txBody>
          <a:bodyPr wrap="square" lIns="0" tIns="0" rIns="0" bIns="0" rtlCol="0" anchor="ctr">
            <a:normAutofit/>
          </a:bodyPr>
          <a:lstStyle/>
          <a:p>
            <a:pPr rtl="1" algn="ctr" indent="0" marL="0">
              <a:buNone/>
            </a:pPr>
            <a:r>
              <a:rPr lang="en-US" sz="1450" b="1" dirty="0">
                <a:solidFill>
                  <a:srgbClr val="FFFFFF"/>
                </a:solidFill>
                <a:latin typeface="Noto Sans Arabic" pitchFamily="34" charset="0"/>
                <a:ea typeface="Noto Sans Arabic" pitchFamily="34" charset="-122"/>
                <a:cs typeface="Noto Sans Arabic" pitchFamily="34" charset="-120"/>
              </a:rPr>
              <a:t>ماکیاولیسم</a:t>
            </a:r>
            <a:endParaRPr lang="en-US" sz="1450" dirty="0"/>
          </a:p>
        </p:txBody>
      </p:sp>
      <p:sp>
        <p:nvSpPr>
          <p:cNvPr id="13" name="Shape 11"/>
          <p:cNvSpPr/>
          <p:nvPr/>
        </p:nvSpPr>
        <p:spPr>
          <a:xfrm>
            <a:off x="3611880" y="2331720"/>
            <a:ext cx="2148840" cy="1417320"/>
          </a:xfrm>
          <a:prstGeom prst="roundRect">
            <a:avLst>
              <a:gd name="adj" fmla="val 5161"/>
            </a:avLst>
          </a:prstGeom>
          <a:solidFill>
            <a:srgbClr val="1B2931"/>
          </a:solidFill>
          <a:ln w="27940">
            <a:solidFill>
              <a:srgbClr val="76566F"/>
            </a:solidFill>
            <a:prstDash val="solid"/>
          </a:ln>
        </p:spPr>
      </p:sp>
      <p:sp>
        <p:nvSpPr>
          <p:cNvPr id="14" name="Text 12"/>
          <p:cNvSpPr/>
          <p:nvPr/>
        </p:nvSpPr>
        <p:spPr>
          <a:xfrm>
            <a:off x="3749040" y="2468880"/>
            <a:ext cx="1874520" cy="329184"/>
          </a:xfrm>
          <a:prstGeom prst="rect">
            <a:avLst/>
          </a:prstGeom>
          <a:noFill/>
          <a:ln/>
        </p:spPr>
        <p:txBody>
          <a:bodyPr wrap="square" lIns="0" tIns="0" rIns="0" bIns="0" rtlCol="0" anchor="ctr">
            <a:normAutofit/>
          </a:bodyPr>
          <a:lstStyle/>
          <a:p>
            <a:pPr rtl="1" algn="ctr" indent="0" marL="0">
              <a:buNone/>
            </a:pPr>
            <a:r>
              <a:rPr lang="en-US" sz="2200" b="1" dirty="0">
                <a:solidFill>
                  <a:srgbClr val="76566F"/>
                </a:solidFill>
                <a:latin typeface="Noto Kufi Arabic" pitchFamily="34" charset="0"/>
                <a:ea typeface="Noto Kufi Arabic" pitchFamily="34" charset="-122"/>
                <a:cs typeface="Noto Kufi Arabic" pitchFamily="34" charset="-120"/>
              </a:rPr>
              <a:t>رفتار</a:t>
            </a:r>
            <a:endParaRPr lang="en-US" sz="2200" dirty="0"/>
          </a:p>
        </p:txBody>
      </p:sp>
      <p:sp>
        <p:nvSpPr>
          <p:cNvPr id="15" name="Text 13"/>
          <p:cNvSpPr/>
          <p:nvPr/>
        </p:nvSpPr>
        <p:spPr>
          <a:xfrm>
            <a:off x="3749040" y="2898648"/>
            <a:ext cx="1874520" cy="256032"/>
          </a:xfrm>
          <a:prstGeom prst="rect">
            <a:avLst/>
          </a:prstGeom>
          <a:noFill/>
          <a:ln/>
        </p:spPr>
        <p:txBody>
          <a:bodyPr wrap="square" lIns="0" tIns="0" rIns="0" bIns="0" rtlCol="0" anchor="ctr">
            <a:normAutofit/>
          </a:bodyPr>
          <a:lstStyle/>
          <a:p>
            <a:pPr rtl="1" algn="ctr" indent="0" marL="0">
              <a:buNone/>
            </a:pPr>
            <a:r>
              <a:rPr lang="en-US" sz="1450" dirty="0">
                <a:solidFill>
                  <a:srgbClr val="DCE2E4"/>
                </a:solidFill>
                <a:latin typeface="Noto Sans Arabic" pitchFamily="34" charset="0"/>
                <a:ea typeface="Noto Sans Arabic" pitchFamily="34" charset="-122"/>
                <a:cs typeface="Noto Sans Arabic" pitchFamily="34" charset="-120"/>
              </a:rPr>
              <a:t>کنش مشاهده‌پذیر</a:t>
            </a:r>
            <a:endParaRPr lang="en-US" sz="1450" dirty="0"/>
          </a:p>
        </p:txBody>
      </p:sp>
      <p:sp>
        <p:nvSpPr>
          <p:cNvPr id="16" name="Text 14"/>
          <p:cNvSpPr/>
          <p:nvPr/>
        </p:nvSpPr>
        <p:spPr>
          <a:xfrm>
            <a:off x="3749040" y="3273552"/>
            <a:ext cx="1874520" cy="274320"/>
          </a:xfrm>
          <a:prstGeom prst="rect">
            <a:avLst/>
          </a:prstGeom>
          <a:noFill/>
          <a:ln/>
        </p:spPr>
        <p:txBody>
          <a:bodyPr wrap="square" lIns="0" tIns="0" rIns="0" bIns="0" rtlCol="0" anchor="ctr">
            <a:normAutofit/>
          </a:bodyPr>
          <a:lstStyle/>
          <a:p>
            <a:pPr rtl="1" algn="ctr" indent="0" marL="0">
              <a:buNone/>
            </a:pPr>
            <a:r>
              <a:rPr lang="en-US" sz="1450" b="1" dirty="0">
                <a:solidFill>
                  <a:srgbClr val="FFFFFF"/>
                </a:solidFill>
                <a:latin typeface="Noto Sans Arabic" pitchFamily="34" charset="0"/>
                <a:ea typeface="Noto Sans Arabic" pitchFamily="34" charset="-122"/>
                <a:cs typeface="Noto Sans Arabic" pitchFamily="34" charset="-120"/>
              </a:rPr>
              <a:t>فریب در مذاکره</a:t>
            </a:r>
            <a:endParaRPr lang="en-US" sz="1450" dirty="0"/>
          </a:p>
        </p:txBody>
      </p:sp>
      <p:sp>
        <p:nvSpPr>
          <p:cNvPr id="17" name="Shape 15"/>
          <p:cNvSpPr/>
          <p:nvPr/>
        </p:nvSpPr>
        <p:spPr>
          <a:xfrm>
            <a:off x="6446520" y="2331720"/>
            <a:ext cx="2148840" cy="1417320"/>
          </a:xfrm>
          <a:prstGeom prst="roundRect">
            <a:avLst>
              <a:gd name="adj" fmla="val 5161"/>
            </a:avLst>
          </a:prstGeom>
          <a:solidFill>
            <a:srgbClr val="1B2931"/>
          </a:solidFill>
          <a:ln w="27940">
            <a:solidFill>
              <a:srgbClr val="B59A62"/>
            </a:solidFill>
            <a:prstDash val="solid"/>
          </a:ln>
        </p:spPr>
      </p:sp>
      <p:sp>
        <p:nvSpPr>
          <p:cNvPr id="18" name="Text 16"/>
          <p:cNvSpPr/>
          <p:nvPr/>
        </p:nvSpPr>
        <p:spPr>
          <a:xfrm>
            <a:off x="6583680" y="2468880"/>
            <a:ext cx="1874520" cy="329184"/>
          </a:xfrm>
          <a:prstGeom prst="rect">
            <a:avLst/>
          </a:prstGeom>
          <a:noFill/>
          <a:ln/>
        </p:spPr>
        <p:txBody>
          <a:bodyPr wrap="square" lIns="0" tIns="0" rIns="0" bIns="0" rtlCol="0" anchor="ctr">
            <a:normAutofit/>
          </a:bodyPr>
          <a:lstStyle/>
          <a:p>
            <a:pPr rtl="1" algn="ctr" indent="0" marL="0">
              <a:buNone/>
            </a:pPr>
            <a:r>
              <a:rPr lang="en-US" sz="2200" b="1" dirty="0">
                <a:solidFill>
                  <a:srgbClr val="B59A62"/>
                </a:solidFill>
                <a:latin typeface="Noto Kufi Arabic" pitchFamily="34" charset="0"/>
                <a:ea typeface="Noto Kufi Arabic" pitchFamily="34" charset="-122"/>
                <a:cs typeface="Noto Kufi Arabic" pitchFamily="34" charset="-120"/>
              </a:rPr>
              <a:t>پیامد</a:t>
            </a:r>
            <a:endParaRPr lang="en-US" sz="2200" dirty="0"/>
          </a:p>
        </p:txBody>
      </p:sp>
      <p:sp>
        <p:nvSpPr>
          <p:cNvPr id="19" name="Text 17"/>
          <p:cNvSpPr/>
          <p:nvPr/>
        </p:nvSpPr>
        <p:spPr>
          <a:xfrm>
            <a:off x="6583680" y="2898648"/>
            <a:ext cx="1874520" cy="256032"/>
          </a:xfrm>
          <a:prstGeom prst="rect">
            <a:avLst/>
          </a:prstGeom>
          <a:noFill/>
          <a:ln/>
        </p:spPr>
        <p:txBody>
          <a:bodyPr wrap="square" lIns="0" tIns="0" rIns="0" bIns="0" rtlCol="0" anchor="ctr">
            <a:normAutofit/>
          </a:bodyPr>
          <a:lstStyle/>
          <a:p>
            <a:pPr rtl="1" algn="ctr" indent="0" marL="0">
              <a:buNone/>
            </a:pPr>
            <a:r>
              <a:rPr lang="en-US" sz="1450" dirty="0">
                <a:solidFill>
                  <a:srgbClr val="DCE2E4"/>
                </a:solidFill>
                <a:latin typeface="Noto Sans Arabic" pitchFamily="34" charset="0"/>
                <a:ea typeface="Noto Sans Arabic" pitchFamily="34" charset="-122"/>
                <a:cs typeface="Noto Sans Arabic" pitchFamily="34" charset="-120"/>
              </a:rPr>
              <a:t>نتیجهٔ رابطه</a:t>
            </a:r>
            <a:endParaRPr lang="en-US" sz="1450" dirty="0"/>
          </a:p>
        </p:txBody>
      </p:sp>
      <p:sp>
        <p:nvSpPr>
          <p:cNvPr id="20" name="Text 18"/>
          <p:cNvSpPr/>
          <p:nvPr/>
        </p:nvSpPr>
        <p:spPr>
          <a:xfrm>
            <a:off x="6583680" y="3273552"/>
            <a:ext cx="1874520" cy="274320"/>
          </a:xfrm>
          <a:prstGeom prst="rect">
            <a:avLst/>
          </a:prstGeom>
          <a:noFill/>
          <a:ln/>
        </p:spPr>
        <p:txBody>
          <a:bodyPr wrap="square" lIns="0" tIns="0" rIns="0" bIns="0" rtlCol="0" anchor="ctr">
            <a:normAutofit/>
          </a:bodyPr>
          <a:lstStyle/>
          <a:p>
            <a:pPr rtl="1" algn="ctr" indent="0" marL="0">
              <a:buNone/>
            </a:pPr>
            <a:r>
              <a:rPr lang="en-US" sz="1450" b="1" dirty="0">
                <a:solidFill>
                  <a:srgbClr val="FFFFFF"/>
                </a:solidFill>
                <a:latin typeface="Noto Sans Arabic" pitchFamily="34" charset="0"/>
                <a:ea typeface="Noto Sans Arabic" pitchFamily="34" charset="-122"/>
                <a:cs typeface="Noto Sans Arabic" pitchFamily="34" charset="-120"/>
              </a:rPr>
              <a:t>کاهش اعتماد</a:t>
            </a:r>
            <a:endParaRPr lang="en-US" sz="1450" dirty="0"/>
          </a:p>
        </p:txBody>
      </p:sp>
      <p:sp>
        <p:nvSpPr>
          <p:cNvPr id="21" name="Shape 19"/>
          <p:cNvSpPr/>
          <p:nvPr/>
        </p:nvSpPr>
        <p:spPr>
          <a:xfrm>
            <a:off x="9281160" y="2331720"/>
            <a:ext cx="2148840" cy="1417320"/>
          </a:xfrm>
          <a:prstGeom prst="roundRect">
            <a:avLst>
              <a:gd name="adj" fmla="val 5161"/>
            </a:avLst>
          </a:prstGeom>
          <a:solidFill>
            <a:srgbClr val="1B2931"/>
          </a:solidFill>
          <a:ln w="27940">
            <a:solidFill>
              <a:srgbClr val="9D5D60"/>
            </a:solidFill>
            <a:prstDash val="solid"/>
          </a:ln>
        </p:spPr>
      </p:sp>
      <p:sp>
        <p:nvSpPr>
          <p:cNvPr id="22" name="Text 20"/>
          <p:cNvSpPr/>
          <p:nvPr/>
        </p:nvSpPr>
        <p:spPr>
          <a:xfrm>
            <a:off x="9418320" y="2468880"/>
            <a:ext cx="1874520" cy="329184"/>
          </a:xfrm>
          <a:prstGeom prst="rect">
            <a:avLst/>
          </a:prstGeom>
          <a:noFill/>
          <a:ln/>
        </p:spPr>
        <p:txBody>
          <a:bodyPr wrap="square" lIns="0" tIns="0" rIns="0" bIns="0" rtlCol="0" anchor="ctr">
            <a:normAutofit/>
          </a:bodyPr>
          <a:lstStyle/>
          <a:p>
            <a:pPr rtl="1" algn="ctr" indent="0" marL="0">
              <a:buNone/>
            </a:pPr>
            <a:r>
              <a:rPr lang="en-US" sz="2200" b="1" dirty="0">
                <a:solidFill>
                  <a:srgbClr val="9D5D60"/>
                </a:solidFill>
                <a:latin typeface="Noto Kufi Arabic" pitchFamily="34" charset="0"/>
                <a:ea typeface="Noto Kufi Arabic" pitchFamily="34" charset="-122"/>
                <a:cs typeface="Noto Kufi Arabic" pitchFamily="34" charset="-120"/>
              </a:rPr>
              <a:t>تشخیص</a:t>
            </a:r>
            <a:endParaRPr lang="en-US" sz="2200" dirty="0"/>
          </a:p>
        </p:txBody>
      </p:sp>
      <p:sp>
        <p:nvSpPr>
          <p:cNvPr id="23" name="Text 21"/>
          <p:cNvSpPr/>
          <p:nvPr/>
        </p:nvSpPr>
        <p:spPr>
          <a:xfrm>
            <a:off x="9418320" y="2898648"/>
            <a:ext cx="1874520" cy="256032"/>
          </a:xfrm>
          <a:prstGeom prst="rect">
            <a:avLst/>
          </a:prstGeom>
          <a:noFill/>
          <a:ln/>
        </p:spPr>
        <p:txBody>
          <a:bodyPr wrap="square" lIns="0" tIns="0" rIns="0" bIns="0" rtlCol="0" anchor="ctr">
            <a:normAutofit/>
          </a:bodyPr>
          <a:lstStyle/>
          <a:p>
            <a:pPr rtl="1" algn="ctr" indent="0" marL="0">
              <a:buNone/>
            </a:pPr>
            <a:r>
              <a:rPr lang="en-US" sz="1450" dirty="0">
                <a:solidFill>
                  <a:srgbClr val="DCE2E4"/>
                </a:solidFill>
                <a:latin typeface="Noto Sans Arabic" pitchFamily="34" charset="0"/>
                <a:ea typeface="Noto Sans Arabic" pitchFamily="34" charset="-122"/>
                <a:cs typeface="Noto Sans Arabic" pitchFamily="34" charset="-120"/>
              </a:rPr>
              <a:t>ارزیابی حرفه‌ای</a:t>
            </a:r>
            <a:endParaRPr lang="en-US" sz="1450" dirty="0"/>
          </a:p>
        </p:txBody>
      </p:sp>
      <p:sp>
        <p:nvSpPr>
          <p:cNvPr id="24" name="Text 22"/>
          <p:cNvSpPr/>
          <p:nvPr/>
        </p:nvSpPr>
        <p:spPr>
          <a:xfrm>
            <a:off x="9418320" y="3273552"/>
            <a:ext cx="1874520" cy="274320"/>
          </a:xfrm>
          <a:prstGeom prst="rect">
            <a:avLst/>
          </a:prstGeom>
          <a:noFill/>
          <a:ln/>
        </p:spPr>
        <p:txBody>
          <a:bodyPr wrap="square" lIns="0" tIns="0" rIns="0" bIns="0" rtlCol="0" anchor="ctr">
            <a:normAutofit/>
          </a:bodyPr>
          <a:lstStyle/>
          <a:p>
            <a:pPr rtl="1" algn="ctr" indent="0" marL="0">
              <a:buNone/>
            </a:pPr>
            <a:r>
              <a:rPr lang="en-US" sz="1450" b="1" dirty="0">
                <a:solidFill>
                  <a:srgbClr val="FFFFFF"/>
                </a:solidFill>
                <a:latin typeface="Noto Sans Arabic" pitchFamily="34" charset="0"/>
                <a:ea typeface="Noto Sans Arabic" pitchFamily="34" charset="-122"/>
                <a:cs typeface="Noto Sans Arabic" pitchFamily="34" charset="-120"/>
              </a:rPr>
              <a:t>اختلال شخصیت</a:t>
            </a:r>
            <a:endParaRPr lang="en-US" sz="1450" dirty="0"/>
          </a:p>
        </p:txBody>
      </p:sp>
      <p:sp>
        <p:nvSpPr>
          <p:cNvPr id="25" name="Text 23"/>
          <p:cNvSpPr/>
          <p:nvPr/>
        </p:nvSpPr>
        <p:spPr>
          <a:xfrm>
            <a:off x="1051560" y="4526280"/>
            <a:ext cx="10058400" cy="731520"/>
          </a:xfrm>
          <a:prstGeom prst="rect">
            <a:avLst/>
          </a:prstGeom>
          <a:noFill/>
          <a:ln/>
        </p:spPr>
        <p:txBody>
          <a:bodyPr wrap="square" lIns="0" tIns="0" rIns="0" bIns="0" rtlCol="0" anchor="ctr">
            <a:normAutofit/>
          </a:bodyPr>
          <a:lstStyle/>
          <a:p>
            <a:pPr rtl="1" algn="ctr" indent="0" marL="0">
              <a:buNone/>
            </a:pPr>
            <a:r>
              <a:rPr lang="en-US" sz="2400" b="1" dirty="0">
                <a:solidFill>
                  <a:srgbClr val="FFFFFF"/>
                </a:solidFill>
                <a:latin typeface="Noto Kufi Arabic" pitchFamily="34" charset="0"/>
                <a:ea typeface="Noto Kufi Arabic" pitchFamily="34" charset="-122"/>
                <a:cs typeface="Noto Kufi Arabic" pitchFamily="34" charset="-120"/>
              </a:rPr>
              <a:t>یک رفتار، صفت نیست؛ یک نمره، تشخیص نیست؛ و یک همبستگی، پیش‌بینی فردی نیست.</a:t>
            </a:r>
            <a:endParaRPr lang="en-US" sz="2400" dirty="0"/>
          </a:p>
        </p:txBody>
      </p:sp>
      <p:sp>
        <p:nvSpPr>
          <p:cNvPr id="26" name="Text 24"/>
          <p:cNvSpPr/>
          <p:nvPr/>
        </p:nvSpPr>
        <p:spPr>
          <a:xfrm>
            <a:off x="1828800" y="5413248"/>
            <a:ext cx="8549640" cy="457200"/>
          </a:xfrm>
          <a:prstGeom prst="rect">
            <a:avLst/>
          </a:prstGeom>
          <a:noFill/>
          <a:ln/>
        </p:spPr>
        <p:txBody>
          <a:bodyPr wrap="square" lIns="0" tIns="0" rIns="0" bIns="0" rtlCol="0" anchor="ctr">
            <a:normAutofit/>
          </a:bodyPr>
          <a:lstStyle/>
          <a:p>
            <a:pPr rtl="1" algn="ctr" indent="0" marL="0">
              <a:buNone/>
            </a:pPr>
            <a:r>
              <a:rPr lang="en-US" sz="1800" dirty="0">
                <a:solidFill>
                  <a:srgbClr val="BBC6C9"/>
                </a:solidFill>
                <a:latin typeface="Noto Sans Arabic" pitchFamily="34" charset="0"/>
                <a:ea typeface="Noto Sans Arabic" pitchFamily="34" charset="-122"/>
                <a:cs typeface="Noto Sans Arabic" pitchFamily="34" charset="-120"/>
              </a:rPr>
              <a:t>تمرکز کاربردی بر الگوی تکرارشوندهٔ رفتار، زمینه و پیامد واقعی است.</a:t>
            </a:r>
            <a:endParaRPr lang="en-US" sz="1800" dirty="0"/>
          </a:p>
        </p:txBody>
      </p:sp>
      <p:sp>
        <p:nvSpPr>
          <p:cNvPr id="27" name="Text 25"/>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مبنای محتوایی: جدول تمایز صفت، رفتار، پیامد و تشخیص</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چارچوب نظری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از مدل‌های عمومی شخصیت تا هستهٔ تاریک</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05</a:t>
            </a:r>
            <a:endParaRPr lang="en-US" sz="1200" dirty="0"/>
          </a:p>
        </p:txBody>
      </p:sp>
      <p:pic>
        <p:nvPicPr>
          <p:cNvPr id="6" name="Image 0" descr="/mnt/data/_ppt_work/assets/image4.png">    </p:cNvPr>
          <p:cNvPicPr>
            <a:picLocks noChangeAspect="1"/>
          </p:cNvPicPr>
          <p:nvPr/>
        </p:nvPicPr>
        <p:blipFill>
          <a:blip r:embed="rId1"/>
          <a:stretch>
            <a:fillRect/>
          </a:stretch>
        </p:blipFill>
        <p:spPr>
          <a:xfrm>
            <a:off x="1082993" y="1417320"/>
            <a:ext cx="4371975" cy="2331720"/>
          </a:xfrm>
          <a:prstGeom prst="rect">
            <a:avLst/>
          </a:prstGeom>
        </p:spPr>
      </p:pic>
      <p:pic>
        <p:nvPicPr>
          <p:cNvPr id="7" name="Image 1" descr="/mnt/data/_ppt_work/assets/image3.png">    </p:cNvPr>
          <p:cNvPicPr>
            <a:picLocks noChangeAspect="1"/>
          </p:cNvPicPr>
          <p:nvPr/>
        </p:nvPicPr>
        <p:blipFill>
          <a:blip r:embed="rId2"/>
          <a:stretch>
            <a:fillRect/>
          </a:stretch>
        </p:blipFill>
        <p:spPr>
          <a:xfrm>
            <a:off x="6569393" y="1417320"/>
            <a:ext cx="4371975" cy="2331720"/>
          </a:xfrm>
          <a:prstGeom prst="rect">
            <a:avLst/>
          </a:prstGeom>
        </p:spPr>
      </p:pic>
      <p:sp>
        <p:nvSpPr>
          <p:cNvPr id="8" name="Shape 4"/>
          <p:cNvSpPr/>
          <p:nvPr/>
        </p:nvSpPr>
        <p:spPr>
          <a:xfrm>
            <a:off x="2999232" y="4096512"/>
            <a:ext cx="0" cy="384048"/>
          </a:xfrm>
          <a:prstGeom prst="line">
            <a:avLst/>
          </a:prstGeom>
          <a:noFill/>
          <a:ln w="50800">
            <a:solidFill>
              <a:srgbClr val="2B6F73"/>
            </a:solidFill>
            <a:prstDash val="solid"/>
            <a:headEnd type="none"/>
            <a:tailEnd type="none"/>
          </a:ln>
        </p:spPr>
      </p:sp>
      <p:sp>
        <p:nvSpPr>
          <p:cNvPr id="9" name="Text 5"/>
          <p:cNvSpPr/>
          <p:nvPr/>
        </p:nvSpPr>
        <p:spPr>
          <a:xfrm>
            <a:off x="868680" y="4069080"/>
            <a:ext cx="2057400" cy="457200"/>
          </a:xfrm>
          <a:prstGeom prst="rect">
            <a:avLst/>
          </a:prstGeom>
          <a:noFill/>
          <a:ln/>
        </p:spPr>
        <p:txBody>
          <a:bodyPr wrap="square" lIns="0" tIns="0" rIns="0" bIns="0" rtlCol="0" anchor="ctr">
            <a:normAutofit/>
          </a:bodyPr>
          <a:lstStyle/>
          <a:p>
            <a:pPr rtl="1" algn="r" indent="0" marL="0">
              <a:buNone/>
            </a:pPr>
            <a:r>
              <a:rPr lang="en-US" sz="1800" b="1" dirty="0">
                <a:solidFill>
                  <a:srgbClr val="172027"/>
                </a:solidFill>
                <a:latin typeface="Noto Sans Arabic" pitchFamily="34" charset="0"/>
                <a:ea typeface="Noto Sans Arabic" pitchFamily="34" charset="-122"/>
                <a:cs typeface="Noto Sans Arabic" pitchFamily="34" charset="-120"/>
              </a:rPr>
              <a:t>مدل‌های عمومی</a:t>
            </a:r>
            <a:endParaRPr lang="en-US" sz="1800" dirty="0"/>
          </a:p>
        </p:txBody>
      </p:sp>
      <p:sp>
        <p:nvSpPr>
          <p:cNvPr id="10" name="Text 6"/>
          <p:cNvSpPr/>
          <p:nvPr/>
        </p:nvSpPr>
        <p:spPr>
          <a:xfrm>
            <a:off x="3063240" y="3913632"/>
            <a:ext cx="8229600" cy="731520"/>
          </a:xfrm>
          <a:prstGeom prst="rect">
            <a:avLst/>
          </a:prstGeom>
          <a:noFill/>
          <a:ln/>
        </p:spPr>
        <p:txBody>
          <a:bodyPr wrap="square" lIns="0" tIns="0" rIns="0" bIns="0" rtlCol="0" anchor="t">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پنج عامل و HEXACO زمینهٔ مقایسه را می‌سازند؛ صداقت–فروتنی برای فهم بهره‌کشی و امتیازخواهی مهم است.</a:t>
            </a:r>
            <a:endParaRPr lang="en-US" sz="1750" dirty="0"/>
          </a:p>
        </p:txBody>
      </p:sp>
      <p:sp>
        <p:nvSpPr>
          <p:cNvPr id="11" name="Shape 7"/>
          <p:cNvSpPr/>
          <p:nvPr/>
        </p:nvSpPr>
        <p:spPr>
          <a:xfrm>
            <a:off x="2999232" y="4983480"/>
            <a:ext cx="0" cy="384048"/>
          </a:xfrm>
          <a:prstGeom prst="line">
            <a:avLst/>
          </a:prstGeom>
          <a:noFill/>
          <a:ln w="50800">
            <a:solidFill>
              <a:srgbClr val="76566F"/>
            </a:solidFill>
            <a:prstDash val="solid"/>
            <a:headEnd type="none"/>
            <a:tailEnd type="none"/>
          </a:ln>
        </p:spPr>
      </p:sp>
      <p:sp>
        <p:nvSpPr>
          <p:cNvPr id="12" name="Text 8"/>
          <p:cNvSpPr/>
          <p:nvPr/>
        </p:nvSpPr>
        <p:spPr>
          <a:xfrm>
            <a:off x="868680" y="4956048"/>
            <a:ext cx="2057400" cy="457200"/>
          </a:xfrm>
          <a:prstGeom prst="rect">
            <a:avLst/>
          </a:prstGeom>
          <a:noFill/>
          <a:ln/>
        </p:spPr>
        <p:txBody>
          <a:bodyPr wrap="square" lIns="0" tIns="0" rIns="0" bIns="0" rtlCol="0" anchor="ctr">
            <a:normAutofit/>
          </a:bodyPr>
          <a:lstStyle/>
          <a:p>
            <a:pPr rtl="1" algn="r" indent="0" marL="0">
              <a:buNone/>
            </a:pPr>
            <a:r>
              <a:rPr lang="en-US" sz="1800" b="1" dirty="0">
                <a:solidFill>
                  <a:srgbClr val="172027"/>
                </a:solidFill>
                <a:latin typeface="Noto Sans Arabic" pitchFamily="34" charset="0"/>
                <a:ea typeface="Noto Sans Arabic" pitchFamily="34" charset="-122"/>
                <a:cs typeface="Noto Sans Arabic" pitchFamily="34" charset="-120"/>
              </a:rPr>
              <a:t>مدل‌های تاریک</a:t>
            </a:r>
            <a:endParaRPr lang="en-US" sz="1800" dirty="0"/>
          </a:p>
        </p:txBody>
      </p:sp>
      <p:sp>
        <p:nvSpPr>
          <p:cNvPr id="13" name="Text 9"/>
          <p:cNvSpPr/>
          <p:nvPr/>
        </p:nvSpPr>
        <p:spPr>
          <a:xfrm>
            <a:off x="3063240" y="4800600"/>
            <a:ext cx="8229600" cy="777240"/>
          </a:xfrm>
          <a:prstGeom prst="rect">
            <a:avLst/>
          </a:prstGeom>
          <a:noFill/>
          <a:ln/>
        </p:spPr>
        <p:txBody>
          <a:bodyPr wrap="square" lIns="0" tIns="0" rIns="0" bIns="0" rtlCol="0" anchor="t">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سه‌گانه و چهارگانه بر ابعاد متمایز تأکید دارند؛ عامل D وجه مشترک سودجویی به زیان دیگران را صورت‌بندی می‌کند.</a:t>
            </a:r>
            <a:endParaRPr lang="en-US" sz="1750" dirty="0"/>
          </a:p>
        </p:txBody>
      </p:sp>
      <p:sp>
        <p:nvSpPr>
          <p:cNvPr id="14" name="Text 10"/>
          <p:cNvSpPr/>
          <p:nvPr/>
        </p:nvSpPr>
        <p:spPr>
          <a:xfrm>
            <a:off x="1828800" y="5833872"/>
            <a:ext cx="9464040" cy="411480"/>
          </a:xfrm>
          <a:prstGeom prst="rect">
            <a:avLst/>
          </a:prstGeom>
          <a:noFill/>
          <a:ln/>
        </p:spPr>
        <p:txBody>
          <a:bodyPr wrap="square" lIns="0" tIns="0" rIns="0" bIns="0" rtlCol="0" anchor="ctr">
            <a:normAutofit/>
          </a:bodyPr>
          <a:lstStyle/>
          <a:p>
            <a:pPr rtl="1" algn="ctr" indent="0" marL="0">
              <a:buNone/>
            </a:pPr>
            <a:r>
              <a:rPr lang="en-US" sz="1900" b="1" dirty="0">
                <a:solidFill>
                  <a:srgbClr val="9D5D60"/>
                </a:solidFill>
                <a:latin typeface="Noto Kufi Arabic" pitchFamily="34" charset="0"/>
                <a:ea typeface="Noto Kufi Arabic" pitchFamily="34" charset="-122"/>
                <a:cs typeface="Noto Kufi Arabic" pitchFamily="34" charset="-120"/>
              </a:rPr>
              <a:t>هیچ مدل عاملی به‌تنهایی زمان و چگونگی بروز یک رفتار زیان‌بار را تعیین نمی‌کند.</a:t>
            </a:r>
            <a:endParaRPr lang="en-US" sz="1900" dirty="0"/>
          </a:p>
        </p:txBody>
      </p:sp>
      <p:sp>
        <p:nvSpPr>
          <p:cNvPr id="15" name="Text 11"/>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Paulhus &amp; Williams (2002)؛ Moshagen et al. (2018)؛ Schreiber &amp; Marcus (2020) — به نقل از سند مبنا</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32A"/>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ابعاد اصلی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چهارگانهٔ تاریک در یک نگاه</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06</a:t>
            </a:r>
            <a:endParaRPr lang="en-US" sz="1200" dirty="0"/>
          </a:p>
        </p:txBody>
      </p:sp>
      <p:pic>
        <p:nvPicPr>
          <p:cNvPr id="6" name="Image 0" descr="/mnt/data/_ppt_work/assets/image5.png">    </p:cNvPr>
          <p:cNvPicPr>
            <a:picLocks noChangeAspect="1"/>
          </p:cNvPicPr>
          <p:nvPr/>
        </p:nvPicPr>
        <p:blipFill>
          <a:blip r:embed="rId1"/>
          <a:stretch>
            <a:fillRect/>
          </a:stretch>
        </p:blipFill>
        <p:spPr>
          <a:xfrm>
            <a:off x="4692015" y="1298448"/>
            <a:ext cx="2777490" cy="1481328"/>
          </a:xfrm>
          <a:prstGeom prst="rect">
            <a:avLst/>
          </a:prstGeom>
        </p:spPr>
      </p:pic>
      <p:sp>
        <p:nvSpPr>
          <p:cNvPr id="7" name="Shape 4"/>
          <p:cNvSpPr/>
          <p:nvPr/>
        </p:nvSpPr>
        <p:spPr>
          <a:xfrm>
            <a:off x="1856232" y="3063240"/>
            <a:ext cx="0" cy="411480"/>
          </a:xfrm>
          <a:prstGeom prst="line">
            <a:avLst/>
          </a:prstGeom>
          <a:noFill/>
          <a:ln w="63500">
            <a:solidFill>
              <a:srgbClr val="6FA4A6"/>
            </a:solidFill>
            <a:prstDash val="solid"/>
          </a:ln>
        </p:spPr>
      </p:sp>
      <p:sp>
        <p:nvSpPr>
          <p:cNvPr id="8" name="Text 5"/>
          <p:cNvSpPr/>
          <p:nvPr/>
        </p:nvSpPr>
        <p:spPr>
          <a:xfrm>
            <a:off x="777240" y="3520440"/>
            <a:ext cx="2148840" cy="384048"/>
          </a:xfrm>
          <a:prstGeom prst="rect">
            <a:avLst/>
          </a:prstGeom>
          <a:noFill/>
          <a:ln/>
        </p:spPr>
        <p:txBody>
          <a:bodyPr wrap="square" lIns="0" tIns="0" rIns="0" bIns="0" rtlCol="0" anchor="ctr">
            <a:normAutofit/>
          </a:bodyPr>
          <a:lstStyle/>
          <a:p>
            <a:pPr rtl="1" algn="ctr" indent="0" marL="0">
              <a:buNone/>
            </a:pPr>
            <a:r>
              <a:rPr lang="en-US" sz="2000" b="1" dirty="0">
                <a:solidFill>
                  <a:srgbClr val="6FA4A6"/>
                </a:solidFill>
                <a:latin typeface="Noto Kufi Arabic" pitchFamily="34" charset="0"/>
                <a:ea typeface="Noto Kufi Arabic" pitchFamily="34" charset="-122"/>
                <a:cs typeface="Noto Kufi Arabic" pitchFamily="34" charset="-120"/>
              </a:rPr>
              <a:t>خودشیفتگی</a:t>
            </a:r>
            <a:endParaRPr lang="en-US" sz="2000" dirty="0"/>
          </a:p>
        </p:txBody>
      </p:sp>
      <p:sp>
        <p:nvSpPr>
          <p:cNvPr id="9" name="Text 6"/>
          <p:cNvSpPr/>
          <p:nvPr/>
        </p:nvSpPr>
        <p:spPr>
          <a:xfrm>
            <a:off x="777240" y="4069080"/>
            <a:ext cx="2148840" cy="347472"/>
          </a:xfrm>
          <a:prstGeom prst="rect">
            <a:avLst/>
          </a:prstGeom>
          <a:noFill/>
          <a:ln/>
        </p:spPr>
        <p:txBody>
          <a:bodyPr wrap="square" lIns="0" tIns="0" rIns="0" bIns="0" rtlCol="0" anchor="ctr">
            <a:normAutofit/>
          </a:bodyPr>
          <a:lstStyle/>
          <a:p>
            <a:pPr rtl="1" algn="ctr" indent="0" marL="0">
              <a:buNone/>
            </a:pPr>
            <a:r>
              <a:rPr lang="en-US" sz="1550" b="1" dirty="0">
                <a:solidFill>
                  <a:srgbClr val="FFFFFF"/>
                </a:solidFill>
                <a:latin typeface="Noto Sans Arabic" pitchFamily="34" charset="0"/>
                <a:ea typeface="Noto Sans Arabic" pitchFamily="34" charset="-122"/>
                <a:cs typeface="Noto Sans Arabic" pitchFamily="34" charset="-120"/>
              </a:rPr>
              <a:t>تحسین و منزلت</a:t>
            </a:r>
            <a:endParaRPr lang="en-US" sz="1550" dirty="0"/>
          </a:p>
        </p:txBody>
      </p:sp>
      <p:sp>
        <p:nvSpPr>
          <p:cNvPr id="10" name="Text 7"/>
          <p:cNvSpPr/>
          <p:nvPr/>
        </p:nvSpPr>
        <p:spPr>
          <a:xfrm>
            <a:off x="777240" y="4572000"/>
            <a:ext cx="2148840" cy="603504"/>
          </a:xfrm>
          <a:prstGeom prst="rect">
            <a:avLst/>
          </a:prstGeom>
          <a:noFill/>
          <a:ln/>
        </p:spPr>
        <p:txBody>
          <a:bodyPr wrap="square" lIns="0" tIns="0" rIns="0" bIns="0" rtlCol="0" anchor="t">
            <a:normAutofit/>
          </a:bodyPr>
          <a:lstStyle/>
          <a:p>
            <a:pPr rtl="1" algn="ctr" indent="0" marL="0">
              <a:buNone/>
            </a:pPr>
            <a:r>
              <a:rPr lang="en-US" sz="1500" dirty="0">
                <a:solidFill>
                  <a:srgbClr val="C9D2D5"/>
                </a:solidFill>
                <a:latin typeface="Noto Sans Arabic" pitchFamily="34" charset="0"/>
                <a:ea typeface="Noto Sans Arabic" pitchFamily="34" charset="-122"/>
                <a:cs typeface="Noto Sans Arabic" pitchFamily="34" charset="-120"/>
              </a:rPr>
              <a:t>حساسیت به نقد، خودنمایی</a:t>
            </a:r>
            <a:endParaRPr lang="en-US" sz="1500" dirty="0"/>
          </a:p>
        </p:txBody>
      </p:sp>
      <p:sp>
        <p:nvSpPr>
          <p:cNvPr id="11" name="Shape 8"/>
          <p:cNvSpPr/>
          <p:nvPr/>
        </p:nvSpPr>
        <p:spPr>
          <a:xfrm>
            <a:off x="4690872" y="3063240"/>
            <a:ext cx="0" cy="411480"/>
          </a:xfrm>
          <a:prstGeom prst="line">
            <a:avLst/>
          </a:prstGeom>
          <a:noFill/>
          <a:ln w="63500">
            <a:solidFill>
              <a:srgbClr val="9AA7C0"/>
            </a:solidFill>
            <a:prstDash val="solid"/>
          </a:ln>
        </p:spPr>
      </p:sp>
      <p:sp>
        <p:nvSpPr>
          <p:cNvPr id="12" name="Text 9"/>
          <p:cNvSpPr/>
          <p:nvPr/>
        </p:nvSpPr>
        <p:spPr>
          <a:xfrm>
            <a:off x="3611880" y="3520440"/>
            <a:ext cx="2148840" cy="384048"/>
          </a:xfrm>
          <a:prstGeom prst="rect">
            <a:avLst/>
          </a:prstGeom>
          <a:noFill/>
          <a:ln/>
        </p:spPr>
        <p:txBody>
          <a:bodyPr wrap="square" lIns="0" tIns="0" rIns="0" bIns="0" rtlCol="0" anchor="ctr">
            <a:normAutofit/>
          </a:bodyPr>
          <a:lstStyle/>
          <a:p>
            <a:pPr rtl="1" algn="ctr" indent="0" marL="0">
              <a:buNone/>
            </a:pPr>
            <a:r>
              <a:rPr lang="en-US" sz="2000" b="1" dirty="0">
                <a:solidFill>
                  <a:srgbClr val="9AA7C0"/>
                </a:solidFill>
                <a:latin typeface="Noto Kufi Arabic" pitchFamily="34" charset="0"/>
                <a:ea typeface="Noto Kufi Arabic" pitchFamily="34" charset="-122"/>
                <a:cs typeface="Noto Kufi Arabic" pitchFamily="34" charset="-120"/>
              </a:rPr>
              <a:t>ماکیاولیسم</a:t>
            </a:r>
            <a:endParaRPr lang="en-US" sz="2000" dirty="0"/>
          </a:p>
        </p:txBody>
      </p:sp>
      <p:sp>
        <p:nvSpPr>
          <p:cNvPr id="13" name="Text 10"/>
          <p:cNvSpPr/>
          <p:nvPr/>
        </p:nvSpPr>
        <p:spPr>
          <a:xfrm>
            <a:off x="3611880" y="4069080"/>
            <a:ext cx="2148840" cy="347472"/>
          </a:xfrm>
          <a:prstGeom prst="rect">
            <a:avLst/>
          </a:prstGeom>
          <a:noFill/>
          <a:ln/>
        </p:spPr>
        <p:txBody>
          <a:bodyPr wrap="square" lIns="0" tIns="0" rIns="0" bIns="0" rtlCol="0" anchor="ctr">
            <a:normAutofit/>
          </a:bodyPr>
          <a:lstStyle/>
          <a:p>
            <a:pPr rtl="1" algn="ctr" indent="0" marL="0">
              <a:buNone/>
            </a:pPr>
            <a:r>
              <a:rPr lang="en-US" sz="1550" b="1" dirty="0">
                <a:solidFill>
                  <a:srgbClr val="FFFFFF"/>
                </a:solidFill>
                <a:latin typeface="Noto Sans Arabic" pitchFamily="34" charset="0"/>
                <a:ea typeface="Noto Sans Arabic" pitchFamily="34" charset="-122"/>
                <a:cs typeface="Noto Sans Arabic" pitchFamily="34" charset="-120"/>
              </a:rPr>
              <a:t>نفع راهبردی</a:t>
            </a:r>
            <a:endParaRPr lang="en-US" sz="1550" dirty="0"/>
          </a:p>
        </p:txBody>
      </p:sp>
      <p:sp>
        <p:nvSpPr>
          <p:cNvPr id="14" name="Text 11"/>
          <p:cNvSpPr/>
          <p:nvPr/>
        </p:nvSpPr>
        <p:spPr>
          <a:xfrm>
            <a:off x="3611880" y="4572000"/>
            <a:ext cx="2148840" cy="603504"/>
          </a:xfrm>
          <a:prstGeom prst="rect">
            <a:avLst/>
          </a:prstGeom>
          <a:noFill/>
          <a:ln/>
        </p:spPr>
        <p:txBody>
          <a:bodyPr wrap="square" lIns="0" tIns="0" rIns="0" bIns="0" rtlCol="0" anchor="t">
            <a:normAutofit/>
          </a:bodyPr>
          <a:lstStyle/>
          <a:p>
            <a:pPr rtl="1" algn="ctr" indent="0" marL="0">
              <a:buNone/>
            </a:pPr>
            <a:r>
              <a:rPr lang="en-US" sz="1500" dirty="0">
                <a:solidFill>
                  <a:srgbClr val="C9D2D5"/>
                </a:solidFill>
                <a:latin typeface="Noto Sans Arabic" pitchFamily="34" charset="0"/>
                <a:ea typeface="Noto Sans Arabic" pitchFamily="34" charset="-122"/>
                <a:cs typeface="Noto Sans Arabic" pitchFamily="34" charset="-120"/>
              </a:rPr>
              <a:t>فریب و مبادلهٔ ابزاری</a:t>
            </a:r>
            <a:endParaRPr lang="en-US" sz="1500" dirty="0"/>
          </a:p>
        </p:txBody>
      </p:sp>
      <p:sp>
        <p:nvSpPr>
          <p:cNvPr id="15" name="Shape 12"/>
          <p:cNvSpPr/>
          <p:nvPr/>
        </p:nvSpPr>
        <p:spPr>
          <a:xfrm>
            <a:off x="7525512" y="3063240"/>
            <a:ext cx="0" cy="411480"/>
          </a:xfrm>
          <a:prstGeom prst="line">
            <a:avLst/>
          </a:prstGeom>
          <a:noFill/>
          <a:ln w="63500">
            <a:solidFill>
              <a:srgbClr val="BFA9BB"/>
            </a:solidFill>
            <a:prstDash val="solid"/>
          </a:ln>
        </p:spPr>
      </p:sp>
      <p:sp>
        <p:nvSpPr>
          <p:cNvPr id="16" name="Text 13"/>
          <p:cNvSpPr/>
          <p:nvPr/>
        </p:nvSpPr>
        <p:spPr>
          <a:xfrm>
            <a:off x="6446520" y="3520440"/>
            <a:ext cx="2148840" cy="384048"/>
          </a:xfrm>
          <a:prstGeom prst="rect">
            <a:avLst/>
          </a:prstGeom>
          <a:noFill/>
          <a:ln/>
        </p:spPr>
        <p:txBody>
          <a:bodyPr wrap="square" lIns="0" tIns="0" rIns="0" bIns="0" rtlCol="0" anchor="ctr">
            <a:normAutofit/>
          </a:bodyPr>
          <a:lstStyle/>
          <a:p>
            <a:pPr rtl="1" algn="ctr" indent="0" marL="0">
              <a:buNone/>
            </a:pPr>
            <a:r>
              <a:rPr lang="en-US" sz="2000" b="1" dirty="0">
                <a:solidFill>
                  <a:srgbClr val="BFA9BB"/>
                </a:solidFill>
                <a:latin typeface="Noto Kufi Arabic" pitchFamily="34" charset="0"/>
                <a:ea typeface="Noto Kufi Arabic" pitchFamily="34" charset="-122"/>
                <a:cs typeface="Noto Kufi Arabic" pitchFamily="34" charset="-120"/>
              </a:rPr>
              <a:t>روان‌آزاری</a:t>
            </a:r>
            <a:endParaRPr lang="en-US" sz="2000" dirty="0"/>
          </a:p>
        </p:txBody>
      </p:sp>
      <p:sp>
        <p:nvSpPr>
          <p:cNvPr id="17" name="Text 14"/>
          <p:cNvSpPr/>
          <p:nvPr/>
        </p:nvSpPr>
        <p:spPr>
          <a:xfrm>
            <a:off x="6446520" y="4069080"/>
            <a:ext cx="2148840" cy="347472"/>
          </a:xfrm>
          <a:prstGeom prst="rect">
            <a:avLst/>
          </a:prstGeom>
          <a:noFill/>
          <a:ln/>
        </p:spPr>
        <p:txBody>
          <a:bodyPr wrap="square" lIns="0" tIns="0" rIns="0" bIns="0" rtlCol="0" anchor="ctr">
            <a:normAutofit/>
          </a:bodyPr>
          <a:lstStyle/>
          <a:p>
            <a:pPr rtl="1" algn="ctr" indent="0" marL="0">
              <a:buNone/>
            </a:pPr>
            <a:r>
              <a:rPr lang="en-US" sz="1550" b="1" dirty="0">
                <a:solidFill>
                  <a:srgbClr val="FFFFFF"/>
                </a:solidFill>
                <a:latin typeface="Noto Sans Arabic" pitchFamily="34" charset="0"/>
                <a:ea typeface="Noto Sans Arabic" pitchFamily="34" charset="-122"/>
                <a:cs typeface="Noto Sans Arabic" pitchFamily="34" charset="-120"/>
              </a:rPr>
              <a:t>سنگدلی / بازداری‌زدایی</a:t>
            </a:r>
            <a:endParaRPr lang="en-US" sz="1550" dirty="0"/>
          </a:p>
        </p:txBody>
      </p:sp>
      <p:sp>
        <p:nvSpPr>
          <p:cNvPr id="18" name="Text 15"/>
          <p:cNvSpPr/>
          <p:nvPr/>
        </p:nvSpPr>
        <p:spPr>
          <a:xfrm>
            <a:off x="6446520" y="4572000"/>
            <a:ext cx="2148840" cy="603504"/>
          </a:xfrm>
          <a:prstGeom prst="rect">
            <a:avLst/>
          </a:prstGeom>
          <a:noFill/>
          <a:ln/>
        </p:spPr>
        <p:txBody>
          <a:bodyPr wrap="square" lIns="0" tIns="0" rIns="0" bIns="0" rtlCol="0" anchor="t">
            <a:normAutofit/>
          </a:bodyPr>
          <a:lstStyle/>
          <a:p>
            <a:pPr rtl="1" algn="ctr" indent="0" marL="0">
              <a:buNone/>
            </a:pPr>
            <a:r>
              <a:rPr lang="en-US" sz="1500" dirty="0">
                <a:solidFill>
                  <a:srgbClr val="C9D2D5"/>
                </a:solidFill>
                <a:latin typeface="Noto Sans Arabic" pitchFamily="34" charset="0"/>
                <a:ea typeface="Noto Sans Arabic" pitchFamily="34" charset="-122"/>
                <a:cs typeface="Noto Sans Arabic" pitchFamily="34" charset="-120"/>
              </a:rPr>
              <a:t>تکانش و بی‌اعتنایی</a:t>
            </a:r>
            <a:endParaRPr lang="en-US" sz="1500" dirty="0"/>
          </a:p>
        </p:txBody>
      </p:sp>
      <p:sp>
        <p:nvSpPr>
          <p:cNvPr id="19" name="Shape 16"/>
          <p:cNvSpPr/>
          <p:nvPr/>
        </p:nvSpPr>
        <p:spPr>
          <a:xfrm>
            <a:off x="10360152" y="3063240"/>
            <a:ext cx="0" cy="411480"/>
          </a:xfrm>
          <a:prstGeom prst="line">
            <a:avLst/>
          </a:prstGeom>
          <a:noFill/>
          <a:ln w="63500">
            <a:solidFill>
              <a:srgbClr val="D9C8A6"/>
            </a:solidFill>
            <a:prstDash val="solid"/>
          </a:ln>
        </p:spPr>
      </p:sp>
      <p:sp>
        <p:nvSpPr>
          <p:cNvPr id="20" name="Text 17"/>
          <p:cNvSpPr/>
          <p:nvPr/>
        </p:nvSpPr>
        <p:spPr>
          <a:xfrm>
            <a:off x="9281160" y="3520440"/>
            <a:ext cx="2148840" cy="384048"/>
          </a:xfrm>
          <a:prstGeom prst="rect">
            <a:avLst/>
          </a:prstGeom>
          <a:noFill/>
          <a:ln/>
        </p:spPr>
        <p:txBody>
          <a:bodyPr wrap="square" lIns="0" tIns="0" rIns="0" bIns="0" rtlCol="0" anchor="ctr">
            <a:normAutofit/>
          </a:bodyPr>
          <a:lstStyle/>
          <a:p>
            <a:pPr rtl="1" algn="ctr" indent="0" marL="0">
              <a:buNone/>
            </a:pPr>
            <a:r>
              <a:rPr lang="en-US" sz="2000" b="1" dirty="0">
                <a:solidFill>
                  <a:srgbClr val="D9C8A6"/>
                </a:solidFill>
                <a:latin typeface="Noto Kufi Arabic" pitchFamily="34" charset="0"/>
                <a:ea typeface="Noto Kufi Arabic" pitchFamily="34" charset="-122"/>
                <a:cs typeface="Noto Kufi Arabic" pitchFamily="34" charset="-120"/>
              </a:rPr>
              <a:t>سادیسم</a:t>
            </a:r>
            <a:endParaRPr lang="en-US" sz="2000" dirty="0"/>
          </a:p>
        </p:txBody>
      </p:sp>
      <p:sp>
        <p:nvSpPr>
          <p:cNvPr id="21" name="Text 18"/>
          <p:cNvSpPr/>
          <p:nvPr/>
        </p:nvSpPr>
        <p:spPr>
          <a:xfrm>
            <a:off x="9281160" y="4069080"/>
            <a:ext cx="2148840" cy="347472"/>
          </a:xfrm>
          <a:prstGeom prst="rect">
            <a:avLst/>
          </a:prstGeom>
          <a:noFill/>
          <a:ln/>
        </p:spPr>
        <p:txBody>
          <a:bodyPr wrap="square" lIns="0" tIns="0" rIns="0" bIns="0" rtlCol="0" anchor="ctr">
            <a:normAutofit/>
          </a:bodyPr>
          <a:lstStyle/>
          <a:p>
            <a:pPr rtl="1" algn="ctr" indent="0" marL="0">
              <a:buNone/>
            </a:pPr>
            <a:r>
              <a:rPr lang="en-US" sz="1550" b="1" dirty="0">
                <a:solidFill>
                  <a:srgbClr val="FFFFFF"/>
                </a:solidFill>
                <a:latin typeface="Noto Sans Arabic" pitchFamily="34" charset="0"/>
                <a:ea typeface="Noto Sans Arabic" pitchFamily="34" charset="-122"/>
                <a:cs typeface="Noto Sans Arabic" pitchFamily="34" charset="-120"/>
              </a:rPr>
              <a:t>لذت از آسیب</a:t>
            </a:r>
            <a:endParaRPr lang="en-US" sz="1550" dirty="0"/>
          </a:p>
        </p:txBody>
      </p:sp>
      <p:sp>
        <p:nvSpPr>
          <p:cNvPr id="22" name="Text 19"/>
          <p:cNvSpPr/>
          <p:nvPr/>
        </p:nvSpPr>
        <p:spPr>
          <a:xfrm>
            <a:off x="9281160" y="4572000"/>
            <a:ext cx="2148840" cy="603504"/>
          </a:xfrm>
          <a:prstGeom prst="rect">
            <a:avLst/>
          </a:prstGeom>
          <a:noFill/>
          <a:ln/>
        </p:spPr>
        <p:txBody>
          <a:bodyPr wrap="square" lIns="0" tIns="0" rIns="0" bIns="0" rtlCol="0" anchor="t">
            <a:normAutofit/>
          </a:bodyPr>
          <a:lstStyle/>
          <a:p>
            <a:pPr rtl="1" algn="ctr" indent="0" marL="0">
              <a:buNone/>
            </a:pPr>
            <a:r>
              <a:rPr lang="en-US" sz="1500" dirty="0">
                <a:solidFill>
                  <a:srgbClr val="C9D2D5"/>
                </a:solidFill>
                <a:latin typeface="Noto Sans Arabic" pitchFamily="34" charset="0"/>
                <a:ea typeface="Noto Sans Arabic" pitchFamily="34" charset="-122"/>
                <a:cs typeface="Noto Sans Arabic" pitchFamily="34" charset="-120"/>
              </a:rPr>
              <a:t>آزار و تحقیر</a:t>
            </a:r>
            <a:endParaRPr lang="en-US" sz="1500" dirty="0"/>
          </a:p>
        </p:txBody>
      </p:sp>
      <p:sp>
        <p:nvSpPr>
          <p:cNvPr id="23" name="Text 20"/>
          <p:cNvSpPr/>
          <p:nvPr/>
        </p:nvSpPr>
        <p:spPr>
          <a:xfrm>
            <a:off x="960120" y="5650992"/>
            <a:ext cx="10287000" cy="502920"/>
          </a:xfrm>
          <a:prstGeom prst="rect">
            <a:avLst/>
          </a:prstGeom>
          <a:noFill/>
          <a:ln/>
        </p:spPr>
        <p:txBody>
          <a:bodyPr wrap="square" lIns="0" tIns="0" rIns="0" bIns="0" rtlCol="0" anchor="ctr">
            <a:normAutofit/>
          </a:bodyPr>
          <a:lstStyle/>
          <a:p>
            <a:pPr rtl="1" algn="ctr" indent="0" marL="0">
              <a:buNone/>
            </a:pPr>
            <a:r>
              <a:rPr lang="en-US" sz="2000" b="1" dirty="0">
                <a:solidFill>
                  <a:srgbClr val="FFFFFF"/>
                </a:solidFill>
                <a:latin typeface="Noto Kufi Arabic" pitchFamily="34" charset="0"/>
                <a:ea typeface="Noto Kufi Arabic" pitchFamily="34" charset="-122"/>
                <a:cs typeface="Noto Kufi Arabic" pitchFamily="34" charset="-120"/>
              </a:rPr>
              <a:t>رفتار مشابه می‌تواند انگیزهٔ متفاوت داشته باشد؛ تمایز سازه‌ای برای سنجش و مداخله ضروری است.</a:t>
            </a:r>
            <a:endParaRPr lang="en-US" sz="2000" dirty="0"/>
          </a:p>
        </p:txBody>
      </p:sp>
      <p:sp>
        <p:nvSpPr>
          <p:cNvPr id="24" name="Text 21"/>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جمع‌بندی فصل ۳: مقایسهٔ چهار مؤلفه و مسئلهٔ همپوشانی</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خودشیفتگی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خودشیفتگی: یک سازه، چند مسیر</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07</a:t>
            </a:r>
            <a:endParaRPr lang="en-US" sz="1200" dirty="0"/>
          </a:p>
        </p:txBody>
      </p:sp>
      <p:pic>
        <p:nvPicPr>
          <p:cNvPr id="6" name="Image 0" descr="/mnt/data/_ppt_work/assets/image6.png">    </p:cNvPr>
          <p:cNvPicPr>
            <a:picLocks noChangeAspect="1"/>
          </p:cNvPicPr>
          <p:nvPr/>
        </p:nvPicPr>
        <p:blipFill>
          <a:blip r:embed="rId1"/>
          <a:stretch>
            <a:fillRect/>
          </a:stretch>
        </p:blipFill>
        <p:spPr>
          <a:xfrm>
            <a:off x="6846570" y="1371600"/>
            <a:ext cx="3771900" cy="2011680"/>
          </a:xfrm>
          <a:prstGeom prst="rect">
            <a:avLst/>
          </a:prstGeom>
        </p:spPr>
      </p:pic>
      <p:sp>
        <p:nvSpPr>
          <p:cNvPr id="7" name="Shape 4"/>
          <p:cNvSpPr/>
          <p:nvPr/>
        </p:nvSpPr>
        <p:spPr>
          <a:xfrm>
            <a:off x="3227832" y="1508760"/>
            <a:ext cx="0" cy="384048"/>
          </a:xfrm>
          <a:prstGeom prst="line">
            <a:avLst/>
          </a:prstGeom>
          <a:noFill/>
          <a:ln w="50800">
            <a:solidFill>
              <a:srgbClr val="2B6F73"/>
            </a:solidFill>
            <a:prstDash val="solid"/>
            <a:headEnd type="none"/>
            <a:tailEnd type="none"/>
          </a:ln>
        </p:spPr>
      </p:sp>
      <p:sp>
        <p:nvSpPr>
          <p:cNvPr id="8" name="Text 5"/>
          <p:cNvSpPr/>
          <p:nvPr/>
        </p:nvSpPr>
        <p:spPr>
          <a:xfrm>
            <a:off x="777240" y="1481328"/>
            <a:ext cx="2377440" cy="457200"/>
          </a:xfrm>
          <a:prstGeom prst="rect">
            <a:avLst/>
          </a:prstGeom>
          <a:noFill/>
          <a:ln/>
        </p:spPr>
        <p:txBody>
          <a:bodyPr wrap="square" lIns="0" tIns="0" rIns="0" bIns="0" rtlCol="0" anchor="ctr">
            <a:normAutofit/>
          </a:bodyPr>
          <a:lstStyle/>
          <a:p>
            <a:pPr rtl="1" algn="r" indent="0" marL="0">
              <a:buNone/>
            </a:pPr>
            <a:r>
              <a:rPr lang="en-US" sz="1800" b="1" dirty="0">
                <a:solidFill>
                  <a:srgbClr val="172027"/>
                </a:solidFill>
                <a:latin typeface="Noto Sans Arabic" pitchFamily="34" charset="0"/>
                <a:ea typeface="Noto Sans Arabic" pitchFamily="34" charset="-122"/>
                <a:cs typeface="Noto Sans Arabic" pitchFamily="34" charset="-120"/>
              </a:rPr>
              <a:t>بزرگ‌منشانه</a:t>
            </a:r>
            <a:endParaRPr lang="en-US" sz="1800" dirty="0"/>
          </a:p>
        </p:txBody>
      </p:sp>
      <p:sp>
        <p:nvSpPr>
          <p:cNvPr id="9" name="Text 6"/>
          <p:cNvSpPr/>
          <p:nvPr/>
        </p:nvSpPr>
        <p:spPr>
          <a:xfrm>
            <a:off x="3337560" y="1353312"/>
            <a:ext cx="2514600" cy="68580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برتری، نمایش توانمندی و جست‌وجوی دیده‌شدن</a:t>
            </a:r>
            <a:endParaRPr lang="en-US" sz="1750" dirty="0"/>
          </a:p>
        </p:txBody>
      </p:sp>
      <p:sp>
        <p:nvSpPr>
          <p:cNvPr id="10" name="Shape 7"/>
          <p:cNvSpPr/>
          <p:nvPr/>
        </p:nvSpPr>
        <p:spPr>
          <a:xfrm>
            <a:off x="3227832" y="2359152"/>
            <a:ext cx="0" cy="384048"/>
          </a:xfrm>
          <a:prstGeom prst="line">
            <a:avLst/>
          </a:prstGeom>
          <a:noFill/>
          <a:ln w="50800">
            <a:solidFill>
              <a:srgbClr val="76566F"/>
            </a:solidFill>
            <a:prstDash val="solid"/>
            <a:headEnd type="none"/>
            <a:tailEnd type="none"/>
          </a:ln>
        </p:spPr>
      </p:sp>
      <p:sp>
        <p:nvSpPr>
          <p:cNvPr id="11" name="Text 8"/>
          <p:cNvSpPr/>
          <p:nvPr/>
        </p:nvSpPr>
        <p:spPr>
          <a:xfrm>
            <a:off x="777240" y="2331720"/>
            <a:ext cx="2377440" cy="457200"/>
          </a:xfrm>
          <a:prstGeom prst="rect">
            <a:avLst/>
          </a:prstGeom>
          <a:noFill/>
          <a:ln/>
        </p:spPr>
        <p:txBody>
          <a:bodyPr wrap="square" lIns="0" tIns="0" rIns="0" bIns="0" rtlCol="0" anchor="ctr">
            <a:normAutofit/>
          </a:bodyPr>
          <a:lstStyle/>
          <a:p>
            <a:pPr rtl="1" algn="r" indent="0" marL="0">
              <a:buNone/>
            </a:pPr>
            <a:r>
              <a:rPr lang="en-US" sz="1800" b="1" dirty="0">
                <a:solidFill>
                  <a:srgbClr val="172027"/>
                </a:solidFill>
                <a:latin typeface="Noto Sans Arabic" pitchFamily="34" charset="0"/>
                <a:ea typeface="Noto Sans Arabic" pitchFamily="34" charset="-122"/>
                <a:cs typeface="Noto Sans Arabic" pitchFamily="34" charset="-120"/>
              </a:rPr>
              <a:t>آسیب‌پذیر</a:t>
            </a:r>
            <a:endParaRPr lang="en-US" sz="1800" dirty="0"/>
          </a:p>
        </p:txBody>
      </p:sp>
      <p:sp>
        <p:nvSpPr>
          <p:cNvPr id="12" name="Text 9"/>
          <p:cNvSpPr/>
          <p:nvPr/>
        </p:nvSpPr>
        <p:spPr>
          <a:xfrm>
            <a:off x="3337560" y="2212848"/>
            <a:ext cx="2514600" cy="713232"/>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خودارزشمندی ناپایدار، حساسیت به طرد و شرم</a:t>
            </a:r>
            <a:endParaRPr lang="en-US" sz="1750" dirty="0"/>
          </a:p>
        </p:txBody>
      </p:sp>
      <p:sp>
        <p:nvSpPr>
          <p:cNvPr id="13" name="Text 10"/>
          <p:cNvSpPr/>
          <p:nvPr/>
        </p:nvSpPr>
        <p:spPr>
          <a:xfrm>
            <a:off x="6537960" y="3703320"/>
            <a:ext cx="4434840" cy="411480"/>
          </a:xfrm>
          <a:prstGeom prst="rect">
            <a:avLst/>
          </a:prstGeom>
          <a:noFill/>
          <a:ln/>
        </p:spPr>
        <p:txBody>
          <a:bodyPr wrap="square" lIns="0" tIns="0" rIns="0" bIns="0" rtlCol="0" anchor="ctr">
            <a:normAutofit/>
          </a:bodyPr>
          <a:lstStyle/>
          <a:p>
            <a:pPr rtl="1" algn="ctr" indent="0" marL="0">
              <a:buNone/>
            </a:pPr>
            <a:r>
              <a:rPr lang="en-US" sz="2100" b="1" dirty="0">
                <a:solidFill>
                  <a:srgbClr val="172027"/>
                </a:solidFill>
                <a:latin typeface="Noto Kufi Arabic" pitchFamily="34" charset="0"/>
                <a:ea typeface="Noto Kufi Arabic" pitchFamily="34" charset="-122"/>
                <a:cs typeface="Noto Kufi Arabic" pitchFamily="34" charset="-120"/>
              </a:rPr>
              <a:t>مدل تحسین–رقابت</a:t>
            </a:r>
            <a:endParaRPr lang="en-US" sz="2100" dirty="0"/>
          </a:p>
        </p:txBody>
      </p:sp>
      <p:sp>
        <p:nvSpPr>
          <p:cNvPr id="14" name="Text 11"/>
          <p:cNvSpPr/>
          <p:nvPr/>
        </p:nvSpPr>
        <p:spPr>
          <a:xfrm>
            <a:off x="6537960" y="4187952"/>
            <a:ext cx="4434840" cy="960120"/>
          </a:xfrm>
          <a:prstGeom prst="rect">
            <a:avLst/>
          </a:prstGeom>
          <a:noFill/>
          <a:ln/>
        </p:spPr>
        <p:txBody>
          <a:bodyPr wrap="square" lIns="0" tIns="0" rIns="0" bIns="0" rtlCol="0" anchor="t">
            <a:normAutofit/>
          </a:bodyPr>
          <a:lstStyle/>
          <a:p>
            <a:pPr rtl="1" algn="ctr" indent="0" marL="0">
              <a:buNone/>
            </a:pPr>
            <a:r>
              <a:rPr lang="en-US" sz="1750" dirty="0">
                <a:solidFill>
                  <a:srgbClr val="6D7479"/>
                </a:solidFill>
                <a:latin typeface="Noto Sans Arabic" pitchFamily="34" charset="0"/>
                <a:ea typeface="Noto Sans Arabic" pitchFamily="34" charset="-122"/>
                <a:cs typeface="Noto Sans Arabic" pitchFamily="34" charset="-120"/>
              </a:rPr>
              <a:t>تحسین‌طلبی: ارتقای تصویر خود</a:t>
            </a:r>
            <a:endParaRPr lang="en-US" sz="1750" dirty="0"/>
          </a:p>
          <a:p>
            <a:pPr rtl="1" algn="ctr" indent="0" marL="0">
              <a:buNone/>
            </a:pPr>
            <a:r>
              <a:rPr lang="en-US" sz="1750" dirty="0">
                <a:solidFill>
                  <a:srgbClr val="6D7479"/>
                </a:solidFill>
                <a:latin typeface="Noto Sans Arabic" pitchFamily="34" charset="0"/>
                <a:ea typeface="Noto Sans Arabic" pitchFamily="34" charset="-122"/>
                <a:cs typeface="Noto Sans Arabic" pitchFamily="34" charset="-120"/>
              </a:rPr>
              <a:t>رقابت‌جویی: دفاع خصمانه از برتری</a:t>
            </a:r>
            <a:endParaRPr lang="en-US" sz="1750" dirty="0"/>
          </a:p>
        </p:txBody>
      </p:sp>
      <p:sp>
        <p:nvSpPr>
          <p:cNvPr id="15" name="Text 12"/>
          <p:cNvSpPr/>
          <p:nvPr/>
        </p:nvSpPr>
        <p:spPr>
          <a:xfrm>
            <a:off x="868680" y="4828032"/>
            <a:ext cx="5120640" cy="621792"/>
          </a:xfrm>
          <a:prstGeom prst="rect">
            <a:avLst/>
          </a:prstGeom>
          <a:noFill/>
          <a:ln/>
        </p:spPr>
        <p:txBody>
          <a:bodyPr wrap="square" lIns="0" tIns="0" rIns="0" bIns="0" rtlCol="0" anchor="ctr">
            <a:normAutofit/>
          </a:bodyPr>
          <a:lstStyle/>
          <a:p>
            <a:pPr rtl="1" algn="ctr" indent="0" marL="0">
              <a:buNone/>
            </a:pPr>
            <a:r>
              <a:rPr lang="en-US" sz="1850" b="1" dirty="0">
                <a:solidFill>
                  <a:srgbClr val="9D5D60"/>
                </a:solidFill>
                <a:latin typeface="Noto Kufi Arabic" pitchFamily="34" charset="0"/>
                <a:ea typeface="Noto Kufi Arabic" pitchFamily="34" charset="-122"/>
                <a:cs typeface="Noto Kufi Arabic" pitchFamily="34" charset="-120"/>
              </a:rPr>
              <a:t>اعتمادبه‌نفس سالم ≠ خودشیفتگی؛ جذابیت اولیه ≠ کیفیت رابطهٔ بلندمدت</a:t>
            </a:r>
            <a:endParaRPr lang="en-US" sz="1850" dirty="0"/>
          </a:p>
        </p:txBody>
      </p:sp>
      <p:sp>
        <p:nvSpPr>
          <p:cNvPr id="16" name="Text 13"/>
          <p:cNvSpPr/>
          <p:nvPr/>
        </p:nvSpPr>
        <p:spPr>
          <a:xfrm>
            <a:off x="1005840" y="5596128"/>
            <a:ext cx="10195560" cy="384048"/>
          </a:xfrm>
          <a:prstGeom prst="rect">
            <a:avLst/>
          </a:prstGeom>
          <a:noFill/>
          <a:ln/>
        </p:spPr>
        <p:txBody>
          <a:bodyPr wrap="square" lIns="0" tIns="0" rIns="0" bIns="0" rtlCol="0" anchor="ctr">
            <a:normAutofit/>
          </a:bodyPr>
          <a:lstStyle/>
          <a:p>
            <a:pPr rtl="1" algn="ctr" indent="0" marL="0">
              <a:buNone/>
            </a:pPr>
            <a:r>
              <a:rPr lang="en-US" sz="1700" dirty="0">
                <a:solidFill>
                  <a:srgbClr val="172027"/>
                </a:solidFill>
                <a:latin typeface="Noto Sans Arabic" pitchFamily="34" charset="0"/>
                <a:ea typeface="Noto Sans Arabic" pitchFamily="34" charset="-122"/>
                <a:cs typeface="Noto Sans Arabic" pitchFamily="34" charset="-120"/>
              </a:rPr>
              <a:t>رفتار هنگام مخالفت، پذیرش مسئولیت و توان ترمیم تعارض شاخص‌های مهم‌تری‌اند.</a:t>
            </a:r>
            <a:endParaRPr lang="en-US" sz="1700" dirty="0"/>
          </a:p>
        </p:txBody>
      </p:sp>
      <p:sp>
        <p:nvSpPr>
          <p:cNvPr id="17" name="Text 14"/>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Back et al. (2013) — مدل Narcissistic Admiration and Rivalry Concept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تمایز ابعاد</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ماکیاولیسم و روان‌آزاری: سازوکارهای متفاوت</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08</a:t>
            </a:r>
            <a:endParaRPr lang="en-US" sz="1200" dirty="0"/>
          </a:p>
        </p:txBody>
      </p:sp>
      <p:sp>
        <p:nvSpPr>
          <p:cNvPr id="6" name="Shape 4"/>
          <p:cNvSpPr/>
          <p:nvPr/>
        </p:nvSpPr>
        <p:spPr>
          <a:xfrm>
            <a:off x="6080760" y="1417320"/>
            <a:ext cx="0" cy="4389120"/>
          </a:xfrm>
          <a:prstGeom prst="line">
            <a:avLst/>
          </a:prstGeom>
          <a:noFill/>
          <a:ln w="17780">
            <a:solidFill>
              <a:srgbClr val="CCD4D5"/>
            </a:solidFill>
            <a:prstDash val="solid"/>
          </a:ln>
        </p:spPr>
      </p:sp>
      <p:sp>
        <p:nvSpPr>
          <p:cNvPr id="7" name="Text 5"/>
          <p:cNvSpPr/>
          <p:nvPr/>
        </p:nvSpPr>
        <p:spPr>
          <a:xfrm>
            <a:off x="822960" y="1417320"/>
            <a:ext cx="4800600" cy="457200"/>
          </a:xfrm>
          <a:prstGeom prst="rect">
            <a:avLst/>
          </a:prstGeom>
          <a:noFill/>
          <a:ln/>
        </p:spPr>
        <p:txBody>
          <a:bodyPr wrap="square" lIns="0" tIns="0" rIns="0" bIns="0" rtlCol="0" anchor="ctr">
            <a:normAutofit/>
          </a:bodyPr>
          <a:lstStyle/>
          <a:p>
            <a:pPr rtl="1" algn="r" indent="0" marL="0">
              <a:buNone/>
            </a:pPr>
            <a:r>
              <a:rPr lang="en-US" sz="2500" b="1" dirty="0">
                <a:solidFill>
                  <a:srgbClr val="2B6F73"/>
                </a:solidFill>
                <a:latin typeface="Noto Kufi Arabic" pitchFamily="34" charset="0"/>
                <a:ea typeface="Noto Kufi Arabic" pitchFamily="34" charset="-122"/>
                <a:cs typeface="Noto Kufi Arabic" pitchFamily="34" charset="-120"/>
              </a:rPr>
              <a:t>ماکیاولیسم</a:t>
            </a:r>
            <a:endParaRPr lang="en-US" sz="2500" dirty="0"/>
          </a:p>
        </p:txBody>
      </p:sp>
      <p:sp>
        <p:nvSpPr>
          <p:cNvPr id="8" name="Shape 6"/>
          <p:cNvSpPr/>
          <p:nvPr/>
        </p:nvSpPr>
        <p:spPr>
          <a:xfrm>
            <a:off x="5486400" y="2194560"/>
            <a:ext cx="100584" cy="100584"/>
          </a:xfrm>
          <a:prstGeom prst="ellipse">
            <a:avLst/>
          </a:prstGeom>
          <a:solidFill>
            <a:srgbClr val="2B6F73"/>
          </a:solidFill>
          <a:ln w="12700">
            <a:solidFill>
              <a:srgbClr val="2B6F73">
                <a:alpha val="0"/>
              </a:srgbClr>
            </a:solidFill>
            <a:prstDash val="solid"/>
          </a:ln>
        </p:spPr>
      </p:sp>
      <p:sp>
        <p:nvSpPr>
          <p:cNvPr id="9" name="Text 7"/>
          <p:cNvSpPr/>
          <p:nvPr/>
        </p:nvSpPr>
        <p:spPr>
          <a:xfrm>
            <a:off x="868680" y="2057400"/>
            <a:ext cx="4572000" cy="50292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نگاه ابزاری به رابطه و بدبینی بین‌فردی</a:t>
            </a:r>
            <a:endParaRPr lang="en-US" sz="1750" dirty="0"/>
          </a:p>
        </p:txBody>
      </p:sp>
      <p:sp>
        <p:nvSpPr>
          <p:cNvPr id="10" name="Shape 8"/>
          <p:cNvSpPr/>
          <p:nvPr/>
        </p:nvSpPr>
        <p:spPr>
          <a:xfrm>
            <a:off x="5486400" y="2926080"/>
            <a:ext cx="100584" cy="100584"/>
          </a:xfrm>
          <a:prstGeom prst="ellipse">
            <a:avLst/>
          </a:prstGeom>
          <a:solidFill>
            <a:srgbClr val="2B6F73"/>
          </a:solidFill>
          <a:ln w="12700">
            <a:solidFill>
              <a:srgbClr val="2B6F73">
                <a:alpha val="0"/>
              </a:srgbClr>
            </a:solidFill>
            <a:prstDash val="solid"/>
          </a:ln>
        </p:spPr>
      </p:sp>
      <p:sp>
        <p:nvSpPr>
          <p:cNvPr id="11" name="Text 9"/>
          <p:cNvSpPr/>
          <p:nvPr/>
        </p:nvSpPr>
        <p:spPr>
          <a:xfrm>
            <a:off x="868680" y="2788920"/>
            <a:ext cx="4572000" cy="50292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استفادهٔ گزینشی از اطلاعات و اهرم نفوذ</a:t>
            </a:r>
            <a:endParaRPr lang="en-US" sz="1750" dirty="0"/>
          </a:p>
        </p:txBody>
      </p:sp>
      <p:sp>
        <p:nvSpPr>
          <p:cNvPr id="12" name="Shape 10"/>
          <p:cNvSpPr/>
          <p:nvPr/>
        </p:nvSpPr>
        <p:spPr>
          <a:xfrm>
            <a:off x="5486400" y="3657600"/>
            <a:ext cx="100584" cy="100584"/>
          </a:xfrm>
          <a:prstGeom prst="ellipse">
            <a:avLst/>
          </a:prstGeom>
          <a:solidFill>
            <a:srgbClr val="2B6F73"/>
          </a:solidFill>
          <a:ln w="12700">
            <a:solidFill>
              <a:srgbClr val="2B6F73">
                <a:alpha val="0"/>
              </a:srgbClr>
            </a:solidFill>
            <a:prstDash val="solid"/>
          </a:ln>
        </p:spPr>
      </p:sp>
      <p:sp>
        <p:nvSpPr>
          <p:cNvPr id="13" name="Text 11"/>
          <p:cNvSpPr/>
          <p:nvPr/>
        </p:nvSpPr>
        <p:spPr>
          <a:xfrm>
            <a:off x="868680" y="3520440"/>
            <a:ext cx="4572000" cy="50292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راهبرد داشتن به‌خودی‌خود فریب‌کاری نیست</a:t>
            </a:r>
            <a:endParaRPr lang="en-US" sz="1750" dirty="0"/>
          </a:p>
        </p:txBody>
      </p:sp>
      <p:sp>
        <p:nvSpPr>
          <p:cNvPr id="14" name="Text 12"/>
          <p:cNvSpPr/>
          <p:nvPr/>
        </p:nvSpPr>
        <p:spPr>
          <a:xfrm>
            <a:off x="868680" y="4526280"/>
            <a:ext cx="4572000" cy="713232"/>
          </a:xfrm>
          <a:prstGeom prst="rect">
            <a:avLst/>
          </a:prstGeom>
          <a:noFill/>
          <a:ln/>
        </p:spPr>
        <p:txBody>
          <a:bodyPr wrap="square" lIns="0" tIns="0" rIns="0" bIns="0" rtlCol="0" anchor="ctr">
            <a:normAutofit/>
          </a:bodyPr>
          <a:lstStyle/>
          <a:p>
            <a:pPr rtl="1" algn="ctr" indent="0" marL="0">
              <a:buNone/>
            </a:pPr>
            <a:r>
              <a:rPr lang="en-US" sz="1800" b="1" dirty="0">
                <a:solidFill>
                  <a:srgbClr val="9D5D60"/>
                </a:solidFill>
                <a:latin typeface="Noto Sans Arabic" pitchFamily="34" charset="0"/>
                <a:ea typeface="Noto Sans Arabic" pitchFamily="34" charset="-122"/>
                <a:cs typeface="Noto Sans Arabic" pitchFamily="34" charset="-120"/>
              </a:rPr>
              <a:t>نقطهٔ تشخیص رفتاری: بی‌توجهی به حق انتخاب دیگری</a:t>
            </a:r>
            <a:endParaRPr lang="en-US" sz="1800" dirty="0"/>
          </a:p>
        </p:txBody>
      </p:sp>
      <p:sp>
        <p:nvSpPr>
          <p:cNvPr id="15" name="Text 13"/>
          <p:cNvSpPr/>
          <p:nvPr/>
        </p:nvSpPr>
        <p:spPr>
          <a:xfrm>
            <a:off x="6537960" y="1417320"/>
            <a:ext cx="4800600" cy="457200"/>
          </a:xfrm>
          <a:prstGeom prst="rect">
            <a:avLst/>
          </a:prstGeom>
          <a:noFill/>
          <a:ln/>
        </p:spPr>
        <p:txBody>
          <a:bodyPr wrap="square" lIns="0" tIns="0" rIns="0" bIns="0" rtlCol="0" anchor="ctr">
            <a:normAutofit/>
          </a:bodyPr>
          <a:lstStyle/>
          <a:p>
            <a:pPr rtl="1" algn="r" indent="0" marL="0">
              <a:buNone/>
            </a:pPr>
            <a:r>
              <a:rPr lang="en-US" sz="2500" b="1" dirty="0">
                <a:solidFill>
                  <a:srgbClr val="76566F"/>
                </a:solidFill>
                <a:latin typeface="Noto Kufi Arabic" pitchFamily="34" charset="0"/>
                <a:ea typeface="Noto Kufi Arabic" pitchFamily="34" charset="-122"/>
                <a:cs typeface="Noto Kufi Arabic" pitchFamily="34" charset="-120"/>
              </a:rPr>
              <a:t>روان‌آزاری صفتی</a:t>
            </a:r>
            <a:endParaRPr lang="en-US" sz="2500" dirty="0"/>
          </a:p>
        </p:txBody>
      </p:sp>
      <p:sp>
        <p:nvSpPr>
          <p:cNvPr id="16" name="Shape 14"/>
          <p:cNvSpPr/>
          <p:nvPr/>
        </p:nvSpPr>
        <p:spPr>
          <a:xfrm>
            <a:off x="6812280" y="2148840"/>
            <a:ext cx="1234440" cy="1234440"/>
          </a:xfrm>
          <a:prstGeom prst="ellipse">
            <a:avLst/>
          </a:prstGeom>
          <a:solidFill>
            <a:srgbClr val="8AB7B8">
              <a:alpha val="92000"/>
            </a:srgbClr>
          </a:solidFill>
          <a:ln w="19050">
            <a:solidFill>
              <a:srgbClr val="8AB7B8"/>
            </a:solidFill>
            <a:prstDash val="solid"/>
          </a:ln>
        </p:spPr>
      </p:sp>
      <p:sp>
        <p:nvSpPr>
          <p:cNvPr id="17" name="Text 15"/>
          <p:cNvSpPr/>
          <p:nvPr/>
        </p:nvSpPr>
        <p:spPr>
          <a:xfrm>
            <a:off x="6903720" y="2423160"/>
            <a:ext cx="1051560" cy="25603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جسارت</a:t>
            </a:r>
            <a:endParaRPr lang="en-US" sz="1550" dirty="0"/>
          </a:p>
        </p:txBody>
      </p:sp>
      <p:sp>
        <p:nvSpPr>
          <p:cNvPr id="18" name="Text 16"/>
          <p:cNvSpPr/>
          <p:nvPr/>
        </p:nvSpPr>
        <p:spPr>
          <a:xfrm>
            <a:off x="6766560" y="3520440"/>
            <a:ext cx="1325880" cy="594360"/>
          </a:xfrm>
          <a:prstGeom prst="rect">
            <a:avLst/>
          </a:prstGeom>
          <a:noFill/>
          <a:ln/>
        </p:spPr>
        <p:txBody>
          <a:bodyPr wrap="square" lIns="0" tIns="0" rIns="0" bIns="0" rtlCol="0" anchor="ctr">
            <a:normAutofit/>
          </a:bodyPr>
          <a:lstStyle/>
          <a:p>
            <a:pPr rtl="1" algn="ctr" indent="0" marL="0">
              <a:buNone/>
            </a:pPr>
            <a:r>
              <a:rPr lang="en-US" sz="1320" dirty="0">
                <a:solidFill>
                  <a:srgbClr val="6D7479"/>
                </a:solidFill>
                <a:latin typeface="Noto Sans Arabic" pitchFamily="34" charset="0"/>
                <a:ea typeface="Noto Sans Arabic" pitchFamily="34" charset="-122"/>
                <a:cs typeface="Noto Sans Arabic" pitchFamily="34" charset="-120"/>
              </a:rPr>
              <a:t>بی‌باکی / مقاومت</a:t>
            </a:r>
            <a:endParaRPr lang="en-US" sz="1320" dirty="0"/>
          </a:p>
        </p:txBody>
      </p:sp>
      <p:sp>
        <p:nvSpPr>
          <p:cNvPr id="19" name="Shape 17"/>
          <p:cNvSpPr/>
          <p:nvPr/>
        </p:nvSpPr>
        <p:spPr>
          <a:xfrm>
            <a:off x="8458200" y="2148840"/>
            <a:ext cx="1234440" cy="1234440"/>
          </a:xfrm>
          <a:prstGeom prst="ellipse">
            <a:avLst/>
          </a:prstGeom>
          <a:solidFill>
            <a:srgbClr val="B6A2B4">
              <a:alpha val="92000"/>
            </a:srgbClr>
          </a:solidFill>
          <a:ln w="19050">
            <a:solidFill>
              <a:srgbClr val="B6A2B4"/>
            </a:solidFill>
            <a:prstDash val="solid"/>
          </a:ln>
        </p:spPr>
      </p:sp>
      <p:sp>
        <p:nvSpPr>
          <p:cNvPr id="20" name="Text 18"/>
          <p:cNvSpPr/>
          <p:nvPr/>
        </p:nvSpPr>
        <p:spPr>
          <a:xfrm>
            <a:off x="8549640" y="2423160"/>
            <a:ext cx="1051560" cy="25603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سنگدلی</a:t>
            </a:r>
            <a:endParaRPr lang="en-US" sz="1550" dirty="0"/>
          </a:p>
        </p:txBody>
      </p:sp>
      <p:sp>
        <p:nvSpPr>
          <p:cNvPr id="21" name="Text 19"/>
          <p:cNvSpPr/>
          <p:nvPr/>
        </p:nvSpPr>
        <p:spPr>
          <a:xfrm>
            <a:off x="8412480" y="3520440"/>
            <a:ext cx="1325880" cy="594360"/>
          </a:xfrm>
          <a:prstGeom prst="rect">
            <a:avLst/>
          </a:prstGeom>
          <a:noFill/>
          <a:ln/>
        </p:spPr>
        <p:txBody>
          <a:bodyPr wrap="square" lIns="0" tIns="0" rIns="0" bIns="0" rtlCol="0" anchor="ctr">
            <a:normAutofit/>
          </a:bodyPr>
          <a:lstStyle/>
          <a:p>
            <a:pPr rtl="1" algn="ctr" indent="0" marL="0">
              <a:buNone/>
            </a:pPr>
            <a:r>
              <a:rPr lang="en-US" sz="1320" dirty="0">
                <a:solidFill>
                  <a:srgbClr val="6D7479"/>
                </a:solidFill>
                <a:latin typeface="Noto Sans Arabic" pitchFamily="34" charset="0"/>
                <a:ea typeface="Noto Sans Arabic" pitchFamily="34" charset="-122"/>
                <a:cs typeface="Noto Sans Arabic" pitchFamily="34" charset="-120"/>
              </a:rPr>
              <a:t>پاسخ عاطفی ضعیف</a:t>
            </a:r>
            <a:endParaRPr lang="en-US" sz="1320" dirty="0"/>
          </a:p>
        </p:txBody>
      </p:sp>
      <p:sp>
        <p:nvSpPr>
          <p:cNvPr id="22" name="Shape 20"/>
          <p:cNvSpPr/>
          <p:nvPr/>
        </p:nvSpPr>
        <p:spPr>
          <a:xfrm>
            <a:off x="10104120" y="2148840"/>
            <a:ext cx="1234440" cy="1234440"/>
          </a:xfrm>
          <a:prstGeom prst="ellipse">
            <a:avLst/>
          </a:prstGeom>
          <a:solidFill>
            <a:srgbClr val="D5BE91">
              <a:alpha val="92000"/>
            </a:srgbClr>
          </a:solidFill>
          <a:ln w="19050">
            <a:solidFill>
              <a:srgbClr val="D5BE91"/>
            </a:solidFill>
            <a:prstDash val="solid"/>
          </a:ln>
        </p:spPr>
      </p:sp>
      <p:sp>
        <p:nvSpPr>
          <p:cNvPr id="23" name="Text 21"/>
          <p:cNvSpPr/>
          <p:nvPr/>
        </p:nvSpPr>
        <p:spPr>
          <a:xfrm>
            <a:off x="10195560" y="2423160"/>
            <a:ext cx="1051560" cy="25603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بازداری‌زدایی</a:t>
            </a:r>
            <a:endParaRPr lang="en-US" sz="1550" dirty="0"/>
          </a:p>
        </p:txBody>
      </p:sp>
      <p:sp>
        <p:nvSpPr>
          <p:cNvPr id="24" name="Text 22"/>
          <p:cNvSpPr/>
          <p:nvPr/>
        </p:nvSpPr>
        <p:spPr>
          <a:xfrm>
            <a:off x="10058400" y="3520440"/>
            <a:ext cx="1325880" cy="594360"/>
          </a:xfrm>
          <a:prstGeom prst="rect">
            <a:avLst/>
          </a:prstGeom>
          <a:noFill/>
          <a:ln/>
        </p:spPr>
        <p:txBody>
          <a:bodyPr wrap="square" lIns="0" tIns="0" rIns="0" bIns="0" rtlCol="0" anchor="ctr">
            <a:normAutofit/>
          </a:bodyPr>
          <a:lstStyle/>
          <a:p>
            <a:pPr rtl="1" algn="ctr" indent="0" marL="0">
              <a:buNone/>
            </a:pPr>
            <a:r>
              <a:rPr lang="en-US" sz="1320" dirty="0">
                <a:solidFill>
                  <a:srgbClr val="6D7479"/>
                </a:solidFill>
                <a:latin typeface="Noto Sans Arabic" pitchFamily="34" charset="0"/>
                <a:ea typeface="Noto Sans Arabic" pitchFamily="34" charset="-122"/>
                <a:cs typeface="Noto Sans Arabic" pitchFamily="34" charset="-120"/>
              </a:rPr>
              <a:t>دشواری مهار تکانه</a:t>
            </a:r>
            <a:endParaRPr lang="en-US" sz="1320" dirty="0"/>
          </a:p>
        </p:txBody>
      </p:sp>
      <p:sp>
        <p:nvSpPr>
          <p:cNvPr id="25" name="Text 23"/>
          <p:cNvSpPr/>
          <p:nvPr/>
        </p:nvSpPr>
        <p:spPr>
          <a:xfrm>
            <a:off x="6492240" y="4617720"/>
            <a:ext cx="4663440" cy="685800"/>
          </a:xfrm>
          <a:prstGeom prst="rect">
            <a:avLst/>
          </a:prstGeom>
          <a:noFill/>
          <a:ln/>
        </p:spPr>
        <p:txBody>
          <a:bodyPr wrap="square" lIns="0" tIns="0" rIns="0" bIns="0" rtlCol="0" anchor="ctr">
            <a:normAutofit/>
          </a:bodyPr>
          <a:lstStyle/>
          <a:p>
            <a:pPr rtl="1" algn="ctr" indent="0" marL="0">
              <a:buNone/>
            </a:pPr>
            <a:r>
              <a:rPr lang="en-US" sz="1800" b="1" dirty="0">
                <a:solidFill>
                  <a:srgbClr val="9D5D60"/>
                </a:solidFill>
                <a:latin typeface="Noto Sans Arabic" pitchFamily="34" charset="0"/>
                <a:ea typeface="Noto Sans Arabic" pitchFamily="34" charset="-122"/>
                <a:cs typeface="Noto Sans Arabic" pitchFamily="34" charset="-120"/>
              </a:rPr>
              <a:t>جسارت به‌تنهایی معیار آسیب‌رسانی نیست؛ ترکیب ابعاد و زمینه اهمیت دارد.</a:t>
            </a:r>
            <a:endParaRPr lang="en-US" sz="1800" dirty="0"/>
          </a:p>
        </p:txBody>
      </p:sp>
      <p:sp>
        <p:nvSpPr>
          <p:cNvPr id="26" name="Text 24"/>
          <p:cNvSpPr/>
          <p:nvPr/>
        </p:nvSpPr>
        <p:spPr>
          <a:xfrm>
            <a:off x="1188720" y="5715000"/>
            <a:ext cx="9829800" cy="411480"/>
          </a:xfrm>
          <a:prstGeom prst="rect">
            <a:avLst/>
          </a:prstGeom>
          <a:noFill/>
          <a:ln/>
        </p:spPr>
        <p:txBody>
          <a:bodyPr wrap="square" lIns="0" tIns="0" rIns="0" bIns="0" rtlCol="0" anchor="ctr">
            <a:normAutofit/>
          </a:bodyPr>
          <a:lstStyle/>
          <a:p>
            <a:pPr rtl="1" algn="ctr" indent="0" marL="0">
              <a:buNone/>
            </a:pPr>
            <a:r>
              <a:rPr lang="en-US" sz="1900" b="1" dirty="0">
                <a:solidFill>
                  <a:srgbClr val="172027"/>
                </a:solidFill>
                <a:latin typeface="Noto Kufi Arabic" pitchFamily="34" charset="0"/>
                <a:ea typeface="Noto Kufi Arabic" pitchFamily="34" charset="-122"/>
                <a:cs typeface="Noto Kufi Arabic" pitchFamily="34" charset="-120"/>
              </a:rPr>
              <a:t>نمرهٔ پرسشنامه، تشخیص بالینی یا پیش‌بینی قطعی رفتار نیست.</a:t>
            </a:r>
            <a:endParaRPr lang="en-US" sz="1900" dirty="0"/>
          </a:p>
        </p:txBody>
      </p:sp>
      <p:sp>
        <p:nvSpPr>
          <p:cNvPr id="27" name="Text 25"/>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Patrick et al. (2009)؛ Paulhus &amp; Williams (2002) — به نقل از سند مبنا</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61C"/>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سادیسم روزمره</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سادیسم روزمره: همپوشانی و ویژگی اختصاصی</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09</a:t>
            </a:r>
            <a:endParaRPr lang="en-US" sz="1200" dirty="0"/>
          </a:p>
        </p:txBody>
      </p:sp>
      <p:sp>
        <p:nvSpPr>
          <p:cNvPr id="6" name="Shape 4"/>
          <p:cNvSpPr/>
          <p:nvPr/>
        </p:nvSpPr>
        <p:spPr>
          <a:xfrm>
            <a:off x="685800" y="1325880"/>
            <a:ext cx="6492240" cy="4297680"/>
          </a:xfrm>
          <a:prstGeom prst="roundRect">
            <a:avLst>
              <a:gd name="adj" fmla="val 1702"/>
            </a:avLst>
          </a:prstGeom>
          <a:solidFill>
            <a:srgbClr val="F8F8F6"/>
          </a:solidFill>
          <a:ln w="10160">
            <a:solidFill>
              <a:srgbClr val="F8F8F6"/>
            </a:solidFill>
            <a:prstDash val="solid"/>
          </a:ln>
          <a:effectLst>
            <a:outerShdw sx="100000" sy="100000" kx="0" ky="0" algn="bl" rotWithShape="0" blurRad="322580000" dist="161290000" dir="162000000000">
              <a:srgbClr val="000000">
                <a:alpha val="1800000000"/>
              </a:srgbClr>
            </a:outerShdw>
          </a:effectLst>
        </p:spPr>
      </p:sp>
      <p:pic>
        <p:nvPicPr>
          <p:cNvPr id="7" name="Image 0" descr="/mnt/data/_ppt_work/assets/image7.png">    </p:cNvPr>
          <p:cNvPicPr>
            <a:picLocks noChangeAspect="1"/>
          </p:cNvPicPr>
          <p:nvPr/>
        </p:nvPicPr>
        <p:blipFill>
          <a:blip r:embed="rId1"/>
          <a:stretch>
            <a:fillRect/>
          </a:stretch>
        </p:blipFill>
        <p:spPr>
          <a:xfrm>
            <a:off x="868680" y="1573449"/>
            <a:ext cx="6126480" cy="3016157"/>
          </a:xfrm>
          <a:prstGeom prst="rect">
            <a:avLst/>
          </a:prstGeom>
        </p:spPr>
      </p:pic>
      <p:sp>
        <p:nvSpPr>
          <p:cNvPr id="8" name="Text 5"/>
          <p:cNvSpPr/>
          <p:nvPr/>
        </p:nvSpPr>
        <p:spPr>
          <a:xfrm>
            <a:off x="1143000" y="4663440"/>
            <a:ext cx="5486400" cy="310896"/>
          </a:xfrm>
          <a:prstGeom prst="rect">
            <a:avLst/>
          </a:prstGeom>
          <a:noFill/>
          <a:ln/>
        </p:spPr>
        <p:txBody>
          <a:bodyPr wrap="square" lIns="0" tIns="0" rIns="0" bIns="0" rtlCol="0" anchor="ctr">
            <a:normAutofit/>
          </a:bodyPr>
          <a:lstStyle/>
          <a:p>
            <a:pPr rtl="1" algn="ctr" indent="0" marL="0">
              <a:buNone/>
            </a:pPr>
            <a:r>
              <a:rPr lang="en-US" sz="1350" b="1" dirty="0">
                <a:solidFill>
                  <a:srgbClr val="6D7479"/>
                </a:solidFill>
                <a:latin typeface="Noto Sans Arabic" pitchFamily="34" charset="0"/>
                <a:ea typeface="Noto Sans Arabic" pitchFamily="34" charset="-122"/>
                <a:cs typeface="Noto Sans Arabic" pitchFamily="34" charset="-120"/>
              </a:rPr>
              <a:t>فراتحلیل ۱۰۳ مطالعه</a:t>
            </a:r>
            <a:endParaRPr lang="en-US" sz="1350" dirty="0"/>
          </a:p>
        </p:txBody>
      </p:sp>
      <p:sp>
        <p:nvSpPr>
          <p:cNvPr id="9" name="Text 6"/>
          <p:cNvSpPr/>
          <p:nvPr/>
        </p:nvSpPr>
        <p:spPr>
          <a:xfrm>
            <a:off x="7726680" y="1463040"/>
            <a:ext cx="3566160" cy="347472"/>
          </a:xfrm>
          <a:prstGeom prst="rect">
            <a:avLst/>
          </a:prstGeom>
          <a:noFill/>
          <a:ln/>
        </p:spPr>
        <p:txBody>
          <a:bodyPr wrap="square" lIns="0" tIns="0" rIns="0" bIns="0" rtlCol="0" anchor="ctr">
            <a:normAutofit/>
          </a:bodyPr>
          <a:lstStyle/>
          <a:p>
            <a:pPr rtl="1" algn="r" indent="0" marL="0">
              <a:buNone/>
            </a:pPr>
            <a:r>
              <a:rPr lang="en-US" sz="1800" b="1" dirty="0">
                <a:solidFill>
                  <a:srgbClr val="D9C8A6"/>
                </a:solidFill>
                <a:latin typeface="Noto Kufi Arabic" pitchFamily="34" charset="0"/>
                <a:ea typeface="Noto Kufi Arabic" pitchFamily="34" charset="-122"/>
                <a:cs typeface="Noto Kufi Arabic" pitchFamily="34" charset="-120"/>
              </a:rPr>
              <a:t>وجه متمایز</a:t>
            </a:r>
            <a:endParaRPr lang="en-US" sz="1800" dirty="0"/>
          </a:p>
        </p:txBody>
      </p:sp>
      <p:sp>
        <p:nvSpPr>
          <p:cNvPr id="10" name="Text 7"/>
          <p:cNvSpPr/>
          <p:nvPr/>
        </p:nvSpPr>
        <p:spPr>
          <a:xfrm>
            <a:off x="7635240" y="1856232"/>
            <a:ext cx="3611880" cy="749808"/>
          </a:xfrm>
          <a:prstGeom prst="rect">
            <a:avLst/>
          </a:prstGeom>
          <a:noFill/>
          <a:ln/>
        </p:spPr>
        <p:txBody>
          <a:bodyPr wrap="square" lIns="0" tIns="0" rIns="0" bIns="0" rtlCol="0" anchor="ctr">
            <a:normAutofit/>
          </a:bodyPr>
          <a:lstStyle/>
          <a:p>
            <a:pPr rtl="1" algn="r" indent="0" marL="0">
              <a:buNone/>
            </a:pPr>
            <a:r>
              <a:rPr lang="en-US" sz="2700" b="1" dirty="0">
                <a:solidFill>
                  <a:srgbClr val="FFFFFF"/>
                </a:solidFill>
                <a:latin typeface="Noto Kufi Arabic" pitchFamily="34" charset="0"/>
                <a:ea typeface="Noto Kufi Arabic" pitchFamily="34" charset="-122"/>
                <a:cs typeface="Noto Kufi Arabic" pitchFamily="34" charset="-120"/>
              </a:rPr>
              <a:t>لذت از رنج یا تحقیر دیگری</a:t>
            </a:r>
            <a:endParaRPr lang="en-US" sz="2700" dirty="0"/>
          </a:p>
        </p:txBody>
      </p:sp>
      <p:sp>
        <p:nvSpPr>
          <p:cNvPr id="11" name="Text 8"/>
          <p:cNvSpPr/>
          <p:nvPr/>
        </p:nvSpPr>
        <p:spPr>
          <a:xfrm>
            <a:off x="7726680" y="2788920"/>
            <a:ext cx="1188720" cy="365760"/>
          </a:xfrm>
          <a:prstGeom prst="rect">
            <a:avLst/>
          </a:prstGeom>
          <a:noFill/>
          <a:ln/>
        </p:spPr>
        <p:txBody>
          <a:bodyPr wrap="square" lIns="0" tIns="0" rIns="0" bIns="0" rtlCol="0" anchor="ctr">
            <a:normAutofit/>
          </a:bodyPr>
          <a:lstStyle/>
          <a:p>
            <a:pPr rtl="1" algn="l" indent="0" marL="0">
              <a:buNone/>
            </a:pPr>
            <a:r>
              <a:rPr lang="en-US" sz="2200" b="1" dirty="0">
                <a:solidFill>
                  <a:srgbClr val="6FA4A6"/>
                </a:solidFill>
                <a:latin typeface="Noto Kufi Arabic" pitchFamily="34" charset="0"/>
                <a:ea typeface="Noto Kufi Arabic" pitchFamily="34" charset="-122"/>
                <a:cs typeface="Noto Kufi Arabic" pitchFamily="34" charset="-120"/>
              </a:rPr>
              <a:t>۰٫۵۸</a:t>
            </a:r>
            <a:endParaRPr lang="en-US" sz="2200" dirty="0"/>
          </a:p>
        </p:txBody>
      </p:sp>
      <p:sp>
        <p:nvSpPr>
          <p:cNvPr id="12" name="Text 9"/>
          <p:cNvSpPr/>
          <p:nvPr/>
        </p:nvSpPr>
        <p:spPr>
          <a:xfrm>
            <a:off x="9052560" y="2788920"/>
            <a:ext cx="2057400" cy="365760"/>
          </a:xfrm>
          <a:prstGeom prst="rect">
            <a:avLst/>
          </a:prstGeom>
          <a:noFill/>
          <a:ln/>
        </p:spPr>
        <p:txBody>
          <a:bodyPr wrap="square" lIns="0" tIns="0" rIns="0" bIns="0" rtlCol="0" anchor="ctr">
            <a:normAutofit/>
          </a:bodyPr>
          <a:lstStyle/>
          <a:p>
            <a:pPr rtl="1" algn="r" indent="0" marL="0">
              <a:buNone/>
            </a:pPr>
            <a:r>
              <a:rPr lang="en-US" sz="1550" dirty="0">
                <a:solidFill>
                  <a:srgbClr val="DCE2E4"/>
                </a:solidFill>
                <a:latin typeface="Noto Sans Arabic" pitchFamily="34" charset="0"/>
                <a:ea typeface="Noto Sans Arabic" pitchFamily="34" charset="-122"/>
                <a:cs typeface="Noto Sans Arabic" pitchFamily="34" charset="-120"/>
              </a:rPr>
              <a:t>با روان‌آزاری</a:t>
            </a:r>
            <a:endParaRPr lang="en-US" sz="1550" dirty="0"/>
          </a:p>
        </p:txBody>
      </p:sp>
      <p:sp>
        <p:nvSpPr>
          <p:cNvPr id="13" name="Text 10"/>
          <p:cNvSpPr/>
          <p:nvPr/>
        </p:nvSpPr>
        <p:spPr>
          <a:xfrm>
            <a:off x="7726680" y="3502152"/>
            <a:ext cx="1188720" cy="365760"/>
          </a:xfrm>
          <a:prstGeom prst="rect">
            <a:avLst/>
          </a:prstGeom>
          <a:noFill/>
          <a:ln/>
        </p:spPr>
        <p:txBody>
          <a:bodyPr wrap="square" lIns="0" tIns="0" rIns="0" bIns="0" rtlCol="0" anchor="ctr">
            <a:normAutofit/>
          </a:bodyPr>
          <a:lstStyle/>
          <a:p>
            <a:pPr rtl="1" algn="l" indent="0" marL="0">
              <a:buNone/>
            </a:pPr>
            <a:r>
              <a:rPr lang="en-US" sz="2200" b="1" dirty="0">
                <a:solidFill>
                  <a:srgbClr val="9AB7C4"/>
                </a:solidFill>
                <a:latin typeface="Noto Kufi Arabic" pitchFamily="34" charset="0"/>
                <a:ea typeface="Noto Kufi Arabic" pitchFamily="34" charset="-122"/>
                <a:cs typeface="Noto Kufi Arabic" pitchFamily="34" charset="-120"/>
              </a:rPr>
              <a:t>۰٫۴۳</a:t>
            </a:r>
            <a:endParaRPr lang="en-US" sz="2200" dirty="0"/>
          </a:p>
        </p:txBody>
      </p:sp>
      <p:sp>
        <p:nvSpPr>
          <p:cNvPr id="14" name="Text 11"/>
          <p:cNvSpPr/>
          <p:nvPr/>
        </p:nvSpPr>
        <p:spPr>
          <a:xfrm>
            <a:off x="9052560" y="3502152"/>
            <a:ext cx="2057400" cy="365760"/>
          </a:xfrm>
          <a:prstGeom prst="rect">
            <a:avLst/>
          </a:prstGeom>
          <a:noFill/>
          <a:ln/>
        </p:spPr>
        <p:txBody>
          <a:bodyPr wrap="square" lIns="0" tIns="0" rIns="0" bIns="0" rtlCol="0" anchor="ctr">
            <a:normAutofit/>
          </a:bodyPr>
          <a:lstStyle/>
          <a:p>
            <a:pPr rtl="1" algn="r" indent="0" marL="0">
              <a:buNone/>
            </a:pPr>
            <a:r>
              <a:rPr lang="en-US" sz="1550" dirty="0">
                <a:solidFill>
                  <a:srgbClr val="DCE2E4"/>
                </a:solidFill>
                <a:latin typeface="Noto Sans Arabic" pitchFamily="34" charset="0"/>
                <a:ea typeface="Noto Sans Arabic" pitchFamily="34" charset="-122"/>
                <a:cs typeface="Noto Sans Arabic" pitchFamily="34" charset="-120"/>
              </a:rPr>
              <a:t>با ماکیاولیسم</a:t>
            </a:r>
            <a:endParaRPr lang="en-US" sz="1550" dirty="0"/>
          </a:p>
        </p:txBody>
      </p:sp>
      <p:sp>
        <p:nvSpPr>
          <p:cNvPr id="15" name="Text 12"/>
          <p:cNvSpPr/>
          <p:nvPr/>
        </p:nvSpPr>
        <p:spPr>
          <a:xfrm>
            <a:off x="7726680" y="4215384"/>
            <a:ext cx="1188720" cy="365760"/>
          </a:xfrm>
          <a:prstGeom prst="rect">
            <a:avLst/>
          </a:prstGeom>
          <a:noFill/>
          <a:ln/>
        </p:spPr>
        <p:txBody>
          <a:bodyPr wrap="square" lIns="0" tIns="0" rIns="0" bIns="0" rtlCol="0" anchor="ctr">
            <a:normAutofit/>
          </a:bodyPr>
          <a:lstStyle/>
          <a:p>
            <a:pPr rtl="1" algn="l" indent="0" marL="0">
              <a:buNone/>
            </a:pPr>
            <a:r>
              <a:rPr lang="en-US" sz="2200" b="1" dirty="0">
                <a:solidFill>
                  <a:srgbClr val="BFA9BB"/>
                </a:solidFill>
                <a:latin typeface="Noto Kufi Arabic" pitchFamily="34" charset="0"/>
                <a:ea typeface="Noto Kufi Arabic" pitchFamily="34" charset="-122"/>
                <a:cs typeface="Noto Kufi Arabic" pitchFamily="34" charset="-120"/>
              </a:rPr>
              <a:t>۰٫۲۶</a:t>
            </a:r>
            <a:endParaRPr lang="en-US" sz="2200" dirty="0"/>
          </a:p>
        </p:txBody>
      </p:sp>
      <p:sp>
        <p:nvSpPr>
          <p:cNvPr id="16" name="Text 13"/>
          <p:cNvSpPr/>
          <p:nvPr/>
        </p:nvSpPr>
        <p:spPr>
          <a:xfrm>
            <a:off x="9052560" y="4215384"/>
            <a:ext cx="2057400" cy="365760"/>
          </a:xfrm>
          <a:prstGeom prst="rect">
            <a:avLst/>
          </a:prstGeom>
          <a:noFill/>
          <a:ln/>
        </p:spPr>
        <p:txBody>
          <a:bodyPr wrap="square" lIns="0" tIns="0" rIns="0" bIns="0" rtlCol="0" anchor="ctr">
            <a:normAutofit/>
          </a:bodyPr>
          <a:lstStyle/>
          <a:p>
            <a:pPr rtl="1" algn="r" indent="0" marL="0">
              <a:buNone/>
            </a:pPr>
            <a:r>
              <a:rPr lang="en-US" sz="1550" dirty="0">
                <a:solidFill>
                  <a:srgbClr val="DCE2E4"/>
                </a:solidFill>
                <a:latin typeface="Noto Sans Arabic" pitchFamily="34" charset="0"/>
                <a:ea typeface="Noto Sans Arabic" pitchFamily="34" charset="-122"/>
                <a:cs typeface="Noto Sans Arabic" pitchFamily="34" charset="-120"/>
              </a:rPr>
              <a:t>با خودشیفتگی</a:t>
            </a:r>
            <a:endParaRPr lang="en-US" sz="1550" dirty="0"/>
          </a:p>
        </p:txBody>
      </p:sp>
      <p:sp>
        <p:nvSpPr>
          <p:cNvPr id="17" name="Text 14"/>
          <p:cNvSpPr/>
          <p:nvPr/>
        </p:nvSpPr>
        <p:spPr>
          <a:xfrm>
            <a:off x="7635240" y="5074920"/>
            <a:ext cx="3703320" cy="868680"/>
          </a:xfrm>
          <a:prstGeom prst="rect">
            <a:avLst/>
          </a:prstGeom>
          <a:noFill/>
          <a:ln/>
        </p:spPr>
        <p:txBody>
          <a:bodyPr wrap="square" lIns="0" tIns="0" rIns="0" bIns="0" rtlCol="0" anchor="t">
            <a:normAutofit/>
          </a:bodyPr>
          <a:lstStyle/>
          <a:p>
            <a:pPr rtl="1" algn="r" indent="0" marL="0">
              <a:buNone/>
            </a:pPr>
            <a:r>
              <a:rPr lang="en-US" sz="1650" b="1" dirty="0">
                <a:solidFill>
                  <a:srgbClr val="E2E7E8"/>
                </a:solidFill>
                <a:latin typeface="Noto Sans Arabic" pitchFamily="34" charset="0"/>
                <a:ea typeface="Noto Sans Arabic" pitchFamily="34" charset="-122"/>
                <a:cs typeface="Noto Sans Arabic" pitchFamily="34" charset="-120"/>
              </a:rPr>
              <a:t>این ضرایب، همبستگی میان سازه‌ها هستند؛ نه درصد افراد خطرناک و نه اثر علّی بر آزارگری.</a:t>
            </a:r>
            <a:endParaRPr lang="en-US" sz="1650" dirty="0"/>
          </a:p>
        </p:txBody>
      </p:sp>
      <p:sp>
        <p:nvSpPr>
          <p:cNvPr id="18" name="Text 15"/>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Bonfá-Araujo et al. (2022) — مرور فراتحلیلی چهارگانهٔ تاریک</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از صفت تا پیامد</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سازوکارهای میانجی و تعدیل‌گر</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10</a:t>
            </a:r>
            <a:endParaRPr lang="en-US" sz="1200" dirty="0"/>
          </a:p>
        </p:txBody>
      </p:sp>
      <p:pic>
        <p:nvPicPr>
          <p:cNvPr id="6" name="Image 0" descr="/mnt/data/_ppt_work/assets/image8.png">    </p:cNvPr>
          <p:cNvPicPr>
            <a:picLocks noChangeAspect="1"/>
          </p:cNvPicPr>
          <p:nvPr/>
        </p:nvPicPr>
        <p:blipFill>
          <a:blip r:embed="rId1"/>
          <a:stretch>
            <a:fillRect/>
          </a:stretch>
        </p:blipFill>
        <p:spPr>
          <a:xfrm>
            <a:off x="4494848" y="1417320"/>
            <a:ext cx="3171825" cy="1691640"/>
          </a:xfrm>
          <a:prstGeom prst="rect">
            <a:avLst/>
          </a:prstGeom>
        </p:spPr>
      </p:pic>
      <p:sp>
        <p:nvSpPr>
          <p:cNvPr id="7" name="Text 4"/>
          <p:cNvSpPr/>
          <p:nvPr/>
        </p:nvSpPr>
        <p:spPr>
          <a:xfrm>
            <a:off x="914400" y="3154680"/>
            <a:ext cx="10332720" cy="502920"/>
          </a:xfrm>
          <a:prstGeom prst="rect">
            <a:avLst/>
          </a:prstGeom>
          <a:noFill/>
          <a:ln/>
        </p:spPr>
        <p:txBody>
          <a:bodyPr wrap="square" lIns="0" tIns="0" rIns="0" bIns="0" rtlCol="0" anchor="ctr">
            <a:normAutofit/>
          </a:bodyPr>
          <a:lstStyle/>
          <a:p>
            <a:pPr rtl="1" algn="ctr" indent="0" marL="0">
              <a:buNone/>
            </a:pPr>
            <a:r>
              <a:rPr lang="en-US" sz="2200" b="1" dirty="0">
                <a:solidFill>
                  <a:srgbClr val="2B6F73"/>
                </a:solidFill>
                <a:latin typeface="Noto Kufi Arabic" pitchFamily="34" charset="0"/>
                <a:ea typeface="Noto Kufi Arabic" pitchFamily="34" charset="-122"/>
                <a:cs typeface="Noto Kufi Arabic" pitchFamily="34" charset="-120"/>
              </a:rPr>
              <a:t>میانجی می‌گوید «از چه راهی»؛ تعدیل‌گر می‌گوید «در چه شرایطی».</a:t>
            </a:r>
            <a:endParaRPr lang="en-US" sz="2200" dirty="0"/>
          </a:p>
        </p:txBody>
      </p:sp>
      <p:sp>
        <p:nvSpPr>
          <p:cNvPr id="8" name="Text 5"/>
          <p:cNvSpPr/>
          <p:nvPr/>
        </p:nvSpPr>
        <p:spPr>
          <a:xfrm>
            <a:off x="822960" y="3913632"/>
            <a:ext cx="2011680" cy="34747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ماکیاولیسم</a:t>
            </a:r>
            <a:endParaRPr lang="en-US" sz="1550" dirty="0"/>
          </a:p>
        </p:txBody>
      </p:sp>
      <p:sp>
        <p:nvSpPr>
          <p:cNvPr id="9" name="Shape 6"/>
          <p:cNvSpPr/>
          <p:nvPr/>
        </p:nvSpPr>
        <p:spPr>
          <a:xfrm>
            <a:off x="1828800" y="4343400"/>
            <a:ext cx="0" cy="384048"/>
          </a:xfrm>
          <a:prstGeom prst="line">
            <a:avLst/>
          </a:prstGeom>
          <a:noFill/>
          <a:ln w="19050">
            <a:solidFill>
              <a:srgbClr val="6D7479"/>
            </a:solidFill>
            <a:prstDash val="solid"/>
            <a:tailEnd type="triangle"/>
          </a:ln>
        </p:spPr>
      </p:sp>
      <p:sp>
        <p:nvSpPr>
          <p:cNvPr id="10" name="Text 7"/>
          <p:cNvSpPr/>
          <p:nvPr/>
        </p:nvSpPr>
        <p:spPr>
          <a:xfrm>
            <a:off x="822960" y="4800600"/>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76566F"/>
                </a:solidFill>
                <a:latin typeface="Noto Sans Arabic" pitchFamily="34" charset="0"/>
                <a:ea typeface="Noto Sans Arabic" pitchFamily="34" charset="-122"/>
                <a:cs typeface="Noto Sans Arabic" pitchFamily="34" charset="-120"/>
              </a:rPr>
              <a:t>کاهش اعتماد</a:t>
            </a:r>
            <a:endParaRPr lang="en-US" sz="1450" dirty="0"/>
          </a:p>
        </p:txBody>
      </p:sp>
      <p:sp>
        <p:nvSpPr>
          <p:cNvPr id="11" name="Shape 8"/>
          <p:cNvSpPr/>
          <p:nvPr/>
        </p:nvSpPr>
        <p:spPr>
          <a:xfrm>
            <a:off x="1828800" y="5230368"/>
            <a:ext cx="0" cy="320040"/>
          </a:xfrm>
          <a:prstGeom prst="line">
            <a:avLst/>
          </a:prstGeom>
          <a:noFill/>
          <a:ln w="19050">
            <a:solidFill>
              <a:srgbClr val="6D7479"/>
            </a:solidFill>
            <a:prstDash val="solid"/>
            <a:tailEnd type="triangle"/>
          </a:ln>
        </p:spPr>
      </p:sp>
      <p:sp>
        <p:nvSpPr>
          <p:cNvPr id="12" name="Text 9"/>
          <p:cNvSpPr/>
          <p:nvPr/>
        </p:nvSpPr>
        <p:spPr>
          <a:xfrm>
            <a:off x="822960" y="5650992"/>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2B6F73"/>
                </a:solidFill>
                <a:latin typeface="Noto Sans Arabic" pitchFamily="34" charset="0"/>
                <a:ea typeface="Noto Sans Arabic" pitchFamily="34" charset="-122"/>
                <a:cs typeface="Noto Sans Arabic" pitchFamily="34" charset="-120"/>
              </a:rPr>
              <a:t>کیفیت همکاری</a:t>
            </a:r>
            <a:endParaRPr lang="en-US" sz="1450" dirty="0"/>
          </a:p>
        </p:txBody>
      </p:sp>
      <p:sp>
        <p:nvSpPr>
          <p:cNvPr id="13" name="Text 10"/>
          <p:cNvSpPr/>
          <p:nvPr/>
        </p:nvSpPr>
        <p:spPr>
          <a:xfrm>
            <a:off x="3657600" y="3913632"/>
            <a:ext cx="2011680" cy="34747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خودشیفتگی رقابت‌جو</a:t>
            </a:r>
            <a:endParaRPr lang="en-US" sz="1550" dirty="0"/>
          </a:p>
        </p:txBody>
      </p:sp>
      <p:sp>
        <p:nvSpPr>
          <p:cNvPr id="14" name="Shape 11"/>
          <p:cNvSpPr/>
          <p:nvPr/>
        </p:nvSpPr>
        <p:spPr>
          <a:xfrm>
            <a:off x="4663440" y="4343400"/>
            <a:ext cx="0" cy="384048"/>
          </a:xfrm>
          <a:prstGeom prst="line">
            <a:avLst/>
          </a:prstGeom>
          <a:noFill/>
          <a:ln w="19050">
            <a:solidFill>
              <a:srgbClr val="6D7479"/>
            </a:solidFill>
            <a:prstDash val="solid"/>
            <a:tailEnd type="triangle"/>
          </a:ln>
        </p:spPr>
      </p:sp>
      <p:sp>
        <p:nvSpPr>
          <p:cNvPr id="15" name="Text 12"/>
          <p:cNvSpPr/>
          <p:nvPr/>
        </p:nvSpPr>
        <p:spPr>
          <a:xfrm>
            <a:off x="3657600" y="4800600"/>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76566F"/>
                </a:solidFill>
                <a:latin typeface="Noto Sans Arabic" pitchFamily="34" charset="0"/>
                <a:ea typeface="Noto Sans Arabic" pitchFamily="34" charset="-122"/>
                <a:cs typeface="Noto Sans Arabic" pitchFamily="34" charset="-120"/>
              </a:rPr>
              <a:t>ادراک تهدید</a:t>
            </a:r>
            <a:endParaRPr lang="en-US" sz="1450" dirty="0"/>
          </a:p>
        </p:txBody>
      </p:sp>
      <p:sp>
        <p:nvSpPr>
          <p:cNvPr id="16" name="Shape 13"/>
          <p:cNvSpPr/>
          <p:nvPr/>
        </p:nvSpPr>
        <p:spPr>
          <a:xfrm>
            <a:off x="4663440" y="5230368"/>
            <a:ext cx="0" cy="320040"/>
          </a:xfrm>
          <a:prstGeom prst="line">
            <a:avLst/>
          </a:prstGeom>
          <a:noFill/>
          <a:ln w="19050">
            <a:solidFill>
              <a:srgbClr val="6D7479"/>
            </a:solidFill>
            <a:prstDash val="solid"/>
            <a:tailEnd type="triangle"/>
          </a:ln>
        </p:spPr>
      </p:sp>
      <p:sp>
        <p:nvSpPr>
          <p:cNvPr id="17" name="Text 14"/>
          <p:cNvSpPr/>
          <p:nvPr/>
        </p:nvSpPr>
        <p:spPr>
          <a:xfrm>
            <a:off x="3657600" y="5650992"/>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2B6F73"/>
                </a:solidFill>
                <a:latin typeface="Noto Sans Arabic" pitchFamily="34" charset="0"/>
                <a:ea typeface="Noto Sans Arabic" pitchFamily="34" charset="-122"/>
                <a:cs typeface="Noto Sans Arabic" pitchFamily="34" charset="-120"/>
              </a:rPr>
              <a:t>رضایت رابطه</a:t>
            </a:r>
            <a:endParaRPr lang="en-US" sz="1450" dirty="0"/>
          </a:p>
        </p:txBody>
      </p:sp>
      <p:sp>
        <p:nvSpPr>
          <p:cNvPr id="18" name="Text 15"/>
          <p:cNvSpPr/>
          <p:nvPr/>
        </p:nvSpPr>
        <p:spPr>
          <a:xfrm>
            <a:off x="6492240" y="3913632"/>
            <a:ext cx="2011680" cy="34747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روان‌آزاری</a:t>
            </a:r>
            <a:endParaRPr lang="en-US" sz="1550" dirty="0"/>
          </a:p>
        </p:txBody>
      </p:sp>
      <p:sp>
        <p:nvSpPr>
          <p:cNvPr id="19" name="Shape 16"/>
          <p:cNvSpPr/>
          <p:nvPr/>
        </p:nvSpPr>
        <p:spPr>
          <a:xfrm>
            <a:off x="7498080" y="4343400"/>
            <a:ext cx="0" cy="384048"/>
          </a:xfrm>
          <a:prstGeom prst="line">
            <a:avLst/>
          </a:prstGeom>
          <a:noFill/>
          <a:ln w="19050">
            <a:solidFill>
              <a:srgbClr val="6D7479"/>
            </a:solidFill>
            <a:prstDash val="solid"/>
            <a:tailEnd type="triangle"/>
          </a:ln>
        </p:spPr>
      </p:sp>
      <p:sp>
        <p:nvSpPr>
          <p:cNvPr id="20" name="Text 17"/>
          <p:cNvSpPr/>
          <p:nvPr/>
        </p:nvSpPr>
        <p:spPr>
          <a:xfrm>
            <a:off x="6492240" y="4800600"/>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76566F"/>
                </a:solidFill>
                <a:latin typeface="Noto Sans Arabic" pitchFamily="34" charset="0"/>
                <a:ea typeface="Noto Sans Arabic" pitchFamily="34" charset="-122"/>
                <a:cs typeface="Noto Sans Arabic" pitchFamily="34" charset="-120"/>
              </a:rPr>
              <a:t>واکنش تکانه‌ای</a:t>
            </a:r>
            <a:endParaRPr lang="en-US" sz="1450" dirty="0"/>
          </a:p>
        </p:txBody>
      </p:sp>
      <p:sp>
        <p:nvSpPr>
          <p:cNvPr id="21" name="Shape 18"/>
          <p:cNvSpPr/>
          <p:nvPr/>
        </p:nvSpPr>
        <p:spPr>
          <a:xfrm>
            <a:off x="7498080" y="5230368"/>
            <a:ext cx="0" cy="320040"/>
          </a:xfrm>
          <a:prstGeom prst="line">
            <a:avLst/>
          </a:prstGeom>
          <a:noFill/>
          <a:ln w="19050">
            <a:solidFill>
              <a:srgbClr val="6D7479"/>
            </a:solidFill>
            <a:prstDash val="solid"/>
            <a:tailEnd type="triangle"/>
          </a:ln>
        </p:spPr>
      </p:sp>
      <p:sp>
        <p:nvSpPr>
          <p:cNvPr id="22" name="Text 19"/>
          <p:cNvSpPr/>
          <p:nvPr/>
        </p:nvSpPr>
        <p:spPr>
          <a:xfrm>
            <a:off x="6492240" y="5650992"/>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2B6F73"/>
                </a:solidFill>
                <a:latin typeface="Noto Sans Arabic" pitchFamily="34" charset="0"/>
                <a:ea typeface="Noto Sans Arabic" pitchFamily="34" charset="-122"/>
                <a:cs typeface="Noto Sans Arabic" pitchFamily="34" charset="-120"/>
              </a:rPr>
              <a:t>تعارض</a:t>
            </a:r>
            <a:endParaRPr lang="en-US" sz="1450" dirty="0"/>
          </a:p>
        </p:txBody>
      </p:sp>
      <p:sp>
        <p:nvSpPr>
          <p:cNvPr id="23" name="Text 20"/>
          <p:cNvSpPr/>
          <p:nvPr/>
        </p:nvSpPr>
        <p:spPr>
          <a:xfrm>
            <a:off x="9326880" y="3913632"/>
            <a:ext cx="2011680" cy="34747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سادیسم</a:t>
            </a:r>
            <a:endParaRPr lang="en-US" sz="1550" dirty="0"/>
          </a:p>
        </p:txBody>
      </p:sp>
      <p:sp>
        <p:nvSpPr>
          <p:cNvPr id="24" name="Shape 21"/>
          <p:cNvSpPr/>
          <p:nvPr/>
        </p:nvSpPr>
        <p:spPr>
          <a:xfrm>
            <a:off x="10332720" y="4343400"/>
            <a:ext cx="0" cy="384048"/>
          </a:xfrm>
          <a:prstGeom prst="line">
            <a:avLst/>
          </a:prstGeom>
          <a:noFill/>
          <a:ln w="19050">
            <a:solidFill>
              <a:srgbClr val="6D7479"/>
            </a:solidFill>
            <a:prstDash val="solid"/>
            <a:tailEnd type="triangle"/>
          </a:ln>
        </p:spPr>
      </p:sp>
      <p:sp>
        <p:nvSpPr>
          <p:cNvPr id="25" name="Text 22"/>
          <p:cNvSpPr/>
          <p:nvPr/>
        </p:nvSpPr>
        <p:spPr>
          <a:xfrm>
            <a:off x="9326880" y="4800600"/>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76566F"/>
                </a:solidFill>
                <a:latin typeface="Noto Sans Arabic" pitchFamily="34" charset="0"/>
                <a:ea typeface="Noto Sans Arabic" pitchFamily="34" charset="-122"/>
                <a:cs typeface="Noto Sans Arabic" pitchFamily="34" charset="-120"/>
              </a:rPr>
              <a:t>انگیزش آزار</a:t>
            </a:r>
            <a:endParaRPr lang="en-US" sz="1450" dirty="0"/>
          </a:p>
        </p:txBody>
      </p:sp>
      <p:sp>
        <p:nvSpPr>
          <p:cNvPr id="26" name="Shape 23"/>
          <p:cNvSpPr/>
          <p:nvPr/>
        </p:nvSpPr>
        <p:spPr>
          <a:xfrm>
            <a:off x="10332720" y="5230368"/>
            <a:ext cx="0" cy="320040"/>
          </a:xfrm>
          <a:prstGeom prst="line">
            <a:avLst/>
          </a:prstGeom>
          <a:noFill/>
          <a:ln w="19050">
            <a:solidFill>
              <a:srgbClr val="6D7479"/>
            </a:solidFill>
            <a:prstDash val="solid"/>
            <a:tailEnd type="triangle"/>
          </a:ln>
        </p:spPr>
      </p:sp>
      <p:sp>
        <p:nvSpPr>
          <p:cNvPr id="27" name="Text 24"/>
          <p:cNvSpPr/>
          <p:nvPr/>
        </p:nvSpPr>
        <p:spPr>
          <a:xfrm>
            <a:off x="9326880" y="5650992"/>
            <a:ext cx="2011680" cy="347472"/>
          </a:xfrm>
          <a:prstGeom prst="rect">
            <a:avLst/>
          </a:prstGeom>
          <a:noFill/>
          <a:ln/>
        </p:spPr>
        <p:txBody>
          <a:bodyPr wrap="square" lIns="0" tIns="0" rIns="0" bIns="0" rtlCol="0" anchor="ctr">
            <a:normAutofit/>
          </a:bodyPr>
          <a:lstStyle/>
          <a:p>
            <a:pPr rtl="1" algn="ctr" indent="0" marL="0">
              <a:buNone/>
            </a:pPr>
            <a:r>
              <a:rPr lang="en-US" sz="1450" b="1" dirty="0">
                <a:solidFill>
                  <a:srgbClr val="2B6F73"/>
                </a:solidFill>
                <a:latin typeface="Noto Sans Arabic" pitchFamily="34" charset="0"/>
                <a:ea typeface="Noto Sans Arabic" pitchFamily="34" charset="-122"/>
                <a:cs typeface="Noto Sans Arabic" pitchFamily="34" charset="-120"/>
              </a:rPr>
              <a:t>آزار دیجیتال</a:t>
            </a:r>
            <a:endParaRPr lang="en-US" sz="1450" dirty="0"/>
          </a:p>
        </p:txBody>
      </p:sp>
      <p:sp>
        <p:nvSpPr>
          <p:cNvPr id="28" name="Text 25"/>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مدل مفهومی سازوکارهای ارتباطی و جدول مسیرهای پیشنهادی میانجی / تعدیل‌گر</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شواهد همدلی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همدلی شناختی و عاطفی یکسان نیستند</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11</a:t>
            </a:r>
            <a:endParaRPr lang="en-US" sz="1200" dirty="0"/>
          </a:p>
        </p:txBody>
      </p:sp>
      <p:sp>
        <p:nvSpPr>
          <p:cNvPr id="6" name="Shape 4"/>
          <p:cNvSpPr/>
          <p:nvPr/>
        </p:nvSpPr>
        <p:spPr>
          <a:xfrm>
            <a:off x="685800" y="1325880"/>
            <a:ext cx="6537960" cy="4297680"/>
          </a:xfrm>
          <a:prstGeom prst="roundRect">
            <a:avLst>
              <a:gd name="adj" fmla="val 1702"/>
            </a:avLst>
          </a:prstGeom>
          <a:solidFill>
            <a:srgbClr val="FFFFFF"/>
          </a:solidFill>
          <a:ln w="10160">
            <a:solidFill>
              <a:srgbClr val="D7DEDF"/>
            </a:solidFill>
            <a:prstDash val="solid"/>
          </a:ln>
          <a:effectLst>
            <a:outerShdw sx="100000" sy="100000" kx="0" ky="0" algn="bl" rotWithShape="0" blurRad="4096766000000" dist="2048383000000" dir="9720000000000000">
              <a:srgbClr val="000000">
                <a:alpha val="180000000000000"/>
              </a:srgbClr>
            </a:outerShdw>
          </a:effectLst>
        </p:spPr>
      </p:sp>
      <p:pic>
        <p:nvPicPr>
          <p:cNvPr id="7" name="Image 0" descr="/mnt/data/_ppt_work/assets/image9.png">    </p:cNvPr>
          <p:cNvPicPr>
            <a:picLocks noChangeAspect="1"/>
          </p:cNvPicPr>
          <p:nvPr/>
        </p:nvPicPr>
        <p:blipFill>
          <a:blip r:embed="rId1"/>
          <a:stretch>
            <a:fillRect/>
          </a:stretch>
        </p:blipFill>
        <p:spPr>
          <a:xfrm>
            <a:off x="941162" y="1572768"/>
            <a:ext cx="6036381" cy="2971800"/>
          </a:xfrm>
          <a:prstGeom prst="rect">
            <a:avLst/>
          </a:prstGeom>
        </p:spPr>
      </p:pic>
      <p:sp>
        <p:nvSpPr>
          <p:cNvPr id="8" name="Text 5"/>
          <p:cNvSpPr/>
          <p:nvPr/>
        </p:nvSpPr>
        <p:spPr>
          <a:xfrm>
            <a:off x="1143000" y="4736592"/>
            <a:ext cx="5486400" cy="292608"/>
          </a:xfrm>
          <a:prstGeom prst="rect">
            <a:avLst/>
          </a:prstGeom>
          <a:noFill/>
          <a:ln/>
        </p:spPr>
        <p:txBody>
          <a:bodyPr wrap="square" lIns="0" tIns="0" rIns="0" bIns="0" rtlCol="0" anchor="ctr">
            <a:normAutofit/>
          </a:bodyPr>
          <a:lstStyle/>
          <a:p>
            <a:pPr rtl="1" algn="ctr" indent="0" marL="0">
              <a:buNone/>
            </a:pPr>
            <a:r>
              <a:rPr lang="en-US" sz="1350" b="1" dirty="0">
                <a:solidFill>
                  <a:srgbClr val="6D7479"/>
                </a:solidFill>
                <a:latin typeface="Noto Sans Arabic" pitchFamily="34" charset="0"/>
                <a:ea typeface="Noto Sans Arabic" pitchFamily="34" charset="-122"/>
                <a:cs typeface="Noto Sans Arabic" pitchFamily="34" charset="-120"/>
              </a:rPr>
              <a:t>۱۴ مطالعه  |  N = ۵٬۳۲۸</a:t>
            </a:r>
            <a:endParaRPr lang="en-US" sz="1350" dirty="0"/>
          </a:p>
        </p:txBody>
      </p:sp>
      <p:sp>
        <p:nvSpPr>
          <p:cNvPr id="9" name="Text 6"/>
          <p:cNvSpPr/>
          <p:nvPr/>
        </p:nvSpPr>
        <p:spPr>
          <a:xfrm>
            <a:off x="7680960" y="1463040"/>
            <a:ext cx="3611880" cy="365760"/>
          </a:xfrm>
          <a:prstGeom prst="rect">
            <a:avLst/>
          </a:prstGeom>
          <a:noFill/>
          <a:ln/>
        </p:spPr>
        <p:txBody>
          <a:bodyPr wrap="square" lIns="0" tIns="0" rIns="0" bIns="0" rtlCol="0" anchor="ctr">
            <a:normAutofit/>
          </a:bodyPr>
          <a:lstStyle/>
          <a:p>
            <a:pPr rtl="1" algn="r" indent="0" marL="0">
              <a:buNone/>
            </a:pPr>
            <a:r>
              <a:rPr lang="en-US" sz="2000" b="1" dirty="0">
                <a:solidFill>
                  <a:srgbClr val="76566F"/>
                </a:solidFill>
                <a:latin typeface="Noto Kufi Arabic" pitchFamily="34" charset="0"/>
                <a:ea typeface="Noto Kufi Arabic" pitchFamily="34" charset="-122"/>
                <a:cs typeface="Noto Kufi Arabic" pitchFamily="34" charset="-120"/>
              </a:rPr>
              <a:t>همدلی عاطفی</a:t>
            </a:r>
            <a:endParaRPr lang="en-US" sz="2000" dirty="0"/>
          </a:p>
        </p:txBody>
      </p:sp>
      <p:sp>
        <p:nvSpPr>
          <p:cNvPr id="10" name="Shape 7"/>
          <p:cNvSpPr/>
          <p:nvPr/>
        </p:nvSpPr>
        <p:spPr>
          <a:xfrm>
            <a:off x="11109960" y="2130552"/>
            <a:ext cx="100584" cy="100584"/>
          </a:xfrm>
          <a:prstGeom prst="ellipse">
            <a:avLst/>
          </a:prstGeom>
          <a:solidFill>
            <a:srgbClr val="2B6F73"/>
          </a:solidFill>
          <a:ln w="12700">
            <a:solidFill>
              <a:srgbClr val="2B6F73">
                <a:alpha val="0"/>
              </a:srgbClr>
            </a:solidFill>
            <a:prstDash val="solid"/>
          </a:ln>
        </p:spPr>
      </p:sp>
      <p:sp>
        <p:nvSpPr>
          <p:cNvPr id="11" name="Text 8"/>
          <p:cNvSpPr/>
          <p:nvPr/>
        </p:nvSpPr>
        <p:spPr>
          <a:xfrm>
            <a:off x="7589520" y="1993392"/>
            <a:ext cx="3474720" cy="45720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روان‌آزاری: r = −0.347</a:t>
            </a:r>
            <a:endParaRPr lang="en-US" sz="1750" dirty="0"/>
          </a:p>
        </p:txBody>
      </p:sp>
      <p:sp>
        <p:nvSpPr>
          <p:cNvPr id="12" name="Shape 9"/>
          <p:cNvSpPr/>
          <p:nvPr/>
        </p:nvSpPr>
        <p:spPr>
          <a:xfrm>
            <a:off x="11109960" y="2734056"/>
            <a:ext cx="100584" cy="100584"/>
          </a:xfrm>
          <a:prstGeom prst="ellipse">
            <a:avLst/>
          </a:prstGeom>
          <a:solidFill>
            <a:srgbClr val="7DA3B4"/>
          </a:solidFill>
          <a:ln w="12700">
            <a:solidFill>
              <a:srgbClr val="7DA3B4">
                <a:alpha val="0"/>
              </a:srgbClr>
            </a:solidFill>
            <a:prstDash val="solid"/>
          </a:ln>
        </p:spPr>
      </p:sp>
      <p:sp>
        <p:nvSpPr>
          <p:cNvPr id="13" name="Text 10"/>
          <p:cNvSpPr/>
          <p:nvPr/>
        </p:nvSpPr>
        <p:spPr>
          <a:xfrm>
            <a:off x="7589520" y="2596896"/>
            <a:ext cx="3474720" cy="45720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ماکیاولیسم: r = −0.291</a:t>
            </a:r>
            <a:endParaRPr lang="en-US" sz="1750" dirty="0"/>
          </a:p>
        </p:txBody>
      </p:sp>
      <p:sp>
        <p:nvSpPr>
          <p:cNvPr id="14" name="Shape 11"/>
          <p:cNvSpPr/>
          <p:nvPr/>
        </p:nvSpPr>
        <p:spPr>
          <a:xfrm>
            <a:off x="11109960" y="3337560"/>
            <a:ext cx="100584" cy="100584"/>
          </a:xfrm>
          <a:prstGeom prst="ellipse">
            <a:avLst/>
          </a:prstGeom>
          <a:solidFill>
            <a:srgbClr val="76566F"/>
          </a:solidFill>
          <a:ln w="12700">
            <a:solidFill>
              <a:srgbClr val="76566F">
                <a:alpha val="0"/>
              </a:srgbClr>
            </a:solidFill>
            <a:prstDash val="solid"/>
          </a:ln>
        </p:spPr>
      </p:sp>
      <p:sp>
        <p:nvSpPr>
          <p:cNvPr id="15" name="Text 12"/>
          <p:cNvSpPr/>
          <p:nvPr/>
        </p:nvSpPr>
        <p:spPr>
          <a:xfrm>
            <a:off x="7589520" y="3200400"/>
            <a:ext cx="3474720" cy="457200"/>
          </a:xfrm>
          <a:prstGeom prst="rect">
            <a:avLst/>
          </a:prstGeom>
          <a:noFill/>
          <a:ln/>
        </p:spPr>
        <p:txBody>
          <a:bodyPr wrap="square" lIns="0" tIns="0" rIns="0" bIns="0" rtlCol="0" anchor="ctr">
            <a:normAutofit/>
          </a:bodyPr>
          <a:lstStyle/>
          <a:p>
            <a:pPr rtl="1" algn="r" indent="0" marL="0">
              <a:buNone/>
            </a:pPr>
            <a:r>
              <a:rPr lang="en-US" sz="1750" dirty="0">
                <a:solidFill>
                  <a:srgbClr val="172027"/>
                </a:solidFill>
                <a:latin typeface="Noto Sans Arabic" pitchFamily="34" charset="0"/>
                <a:ea typeface="Noto Sans Arabic" pitchFamily="34" charset="-122"/>
                <a:cs typeface="Noto Sans Arabic" pitchFamily="34" charset="-120"/>
              </a:rPr>
              <a:t>خودشیفتگی: r = −0.134</a:t>
            </a:r>
            <a:endParaRPr lang="en-US" sz="1750" dirty="0"/>
          </a:p>
        </p:txBody>
      </p:sp>
      <p:sp>
        <p:nvSpPr>
          <p:cNvPr id="16" name="Text 13"/>
          <p:cNvSpPr/>
          <p:nvPr/>
        </p:nvSpPr>
        <p:spPr>
          <a:xfrm>
            <a:off x="7680960" y="3977640"/>
            <a:ext cx="3611880" cy="365760"/>
          </a:xfrm>
          <a:prstGeom prst="rect">
            <a:avLst/>
          </a:prstGeom>
          <a:noFill/>
          <a:ln/>
        </p:spPr>
        <p:txBody>
          <a:bodyPr wrap="square" lIns="0" tIns="0" rIns="0" bIns="0" rtlCol="0" anchor="ctr">
            <a:normAutofit/>
          </a:bodyPr>
          <a:lstStyle/>
          <a:p>
            <a:pPr rtl="1" algn="r" indent="0" marL="0">
              <a:buNone/>
            </a:pPr>
            <a:r>
              <a:rPr lang="en-US" sz="2000" b="1" dirty="0">
                <a:solidFill>
                  <a:srgbClr val="2B6F73"/>
                </a:solidFill>
                <a:latin typeface="Noto Kufi Arabic" pitchFamily="34" charset="0"/>
                <a:ea typeface="Noto Kufi Arabic" pitchFamily="34" charset="-122"/>
                <a:cs typeface="Noto Kufi Arabic" pitchFamily="34" charset="-120"/>
              </a:rPr>
              <a:t>همدلی شناختی</a:t>
            </a:r>
            <a:endParaRPr lang="en-US" sz="2000" dirty="0"/>
          </a:p>
        </p:txBody>
      </p:sp>
      <p:sp>
        <p:nvSpPr>
          <p:cNvPr id="17" name="Text 14"/>
          <p:cNvSpPr/>
          <p:nvPr/>
        </p:nvSpPr>
        <p:spPr>
          <a:xfrm>
            <a:off x="7543800" y="4498848"/>
            <a:ext cx="3611880" cy="868680"/>
          </a:xfrm>
          <a:prstGeom prst="rect">
            <a:avLst/>
          </a:prstGeom>
          <a:noFill/>
          <a:ln/>
        </p:spPr>
        <p:txBody>
          <a:bodyPr wrap="square" lIns="0" tIns="0" rIns="0" bIns="0" rtlCol="0" anchor="t">
            <a:normAutofit/>
          </a:bodyPr>
          <a:lstStyle/>
          <a:p>
            <a:pPr rtl="1" algn="r" indent="0" marL="0">
              <a:buNone/>
            </a:pPr>
            <a:r>
              <a:rPr lang="en-US" sz="1650" dirty="0">
                <a:solidFill>
                  <a:srgbClr val="172027"/>
                </a:solidFill>
                <a:latin typeface="Noto Sans Arabic" pitchFamily="34" charset="0"/>
                <a:ea typeface="Noto Sans Arabic" pitchFamily="34" charset="-122"/>
                <a:cs typeface="Noto Sans Arabic" pitchFamily="34" charset="-120"/>
              </a:rPr>
              <a:t>برای خودشیفتگی رابطهٔ معنادار گزارش نشد؛ برای ماکیاولیسم رابطه‌ای ضعیف و منفی بود.</a:t>
            </a:r>
            <a:endParaRPr lang="en-US" sz="1650" dirty="0"/>
          </a:p>
        </p:txBody>
      </p:sp>
      <p:sp>
        <p:nvSpPr>
          <p:cNvPr id="18" name="Text 15"/>
          <p:cNvSpPr/>
          <p:nvPr/>
        </p:nvSpPr>
        <p:spPr>
          <a:xfrm>
            <a:off x="7543800" y="5532120"/>
            <a:ext cx="3657600" cy="502920"/>
          </a:xfrm>
          <a:prstGeom prst="rect">
            <a:avLst/>
          </a:prstGeom>
          <a:noFill/>
          <a:ln/>
        </p:spPr>
        <p:txBody>
          <a:bodyPr wrap="square" lIns="0" tIns="0" rIns="0" bIns="0" rtlCol="0" anchor="ctr">
            <a:normAutofit/>
          </a:bodyPr>
          <a:lstStyle/>
          <a:p>
            <a:pPr rtl="1" algn="ctr" indent="0" marL="0">
              <a:buNone/>
            </a:pPr>
            <a:r>
              <a:rPr lang="en-US" sz="1800" b="1" dirty="0">
                <a:solidFill>
                  <a:srgbClr val="9D5D60"/>
                </a:solidFill>
                <a:latin typeface="Noto Kufi Arabic" pitchFamily="34" charset="0"/>
                <a:ea typeface="Noto Kufi Arabic" pitchFamily="34" charset="-122"/>
                <a:cs typeface="Noto Kufi Arabic" pitchFamily="34" charset="-120"/>
              </a:rPr>
              <a:t>«فهم احساس دیگری» الزاماً به «پاسخ حمایتگرانه» منجر نمی‌شود.</a:t>
            </a:r>
            <a:endParaRPr lang="en-US" sz="1800" dirty="0"/>
          </a:p>
        </p:txBody>
      </p:sp>
      <p:sp>
        <p:nvSpPr>
          <p:cNvPr id="19" name="Text 16"/>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Shukla &amp; Upadhyay (2025) — ناهمگنی تجمیع‌ها حدود ۴۱ تا ۹۴ درصد</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61C"/>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چرخه‌های رابطه</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دلبستگی، تهدید منزلت و چرخهٔ تعارض</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12</a:t>
            </a:r>
            <a:endParaRPr lang="en-US" sz="1200" dirty="0"/>
          </a:p>
        </p:txBody>
      </p:sp>
      <p:pic>
        <p:nvPicPr>
          <p:cNvPr id="6" name="Image 0" descr="/mnt/data/_ppt_work/assets/counseling.png">    </p:cNvPr>
          <p:cNvPicPr>
            <a:picLocks noChangeAspect="1"/>
          </p:cNvPicPr>
          <p:nvPr/>
        </p:nvPicPr>
        <p:blipFill>
          <a:blip r:embed="rId1"/>
          <a:srcRect l="10743" r="10743" t="0" b="0"/>
          <a:stretch/>
        </p:blipFill>
        <p:spPr>
          <a:xfrm>
            <a:off x="411480" y="1325880"/>
            <a:ext cx="5166360" cy="3703320"/>
          </a:xfrm>
          <a:prstGeom prst="rect">
            <a:avLst/>
          </a:prstGeom>
        </p:spPr>
      </p:pic>
      <p:sp>
        <p:nvSpPr>
          <p:cNvPr id="7" name="Shape 4"/>
          <p:cNvSpPr/>
          <p:nvPr/>
        </p:nvSpPr>
        <p:spPr>
          <a:xfrm>
            <a:off x="411480" y="5230368"/>
            <a:ext cx="5166360" cy="822960"/>
          </a:xfrm>
          <a:prstGeom prst="roundRect">
            <a:avLst>
              <a:gd name="adj" fmla="val 8889"/>
            </a:avLst>
          </a:prstGeom>
          <a:solidFill>
            <a:srgbClr val="1B2931"/>
          </a:solidFill>
          <a:ln w="10160">
            <a:solidFill>
              <a:srgbClr val="40515A"/>
            </a:solidFill>
            <a:prstDash val="solid"/>
          </a:ln>
        </p:spPr>
      </p:sp>
      <p:sp>
        <p:nvSpPr>
          <p:cNvPr id="8" name="Text 5"/>
          <p:cNvSpPr/>
          <p:nvPr/>
        </p:nvSpPr>
        <p:spPr>
          <a:xfrm>
            <a:off x="621792" y="5394960"/>
            <a:ext cx="4754880" cy="502920"/>
          </a:xfrm>
          <a:prstGeom prst="rect">
            <a:avLst/>
          </a:prstGeom>
          <a:noFill/>
          <a:ln/>
        </p:spPr>
        <p:txBody>
          <a:bodyPr wrap="square" lIns="0" tIns="0" rIns="0" bIns="0" rtlCol="0" anchor="ctr">
            <a:normAutofit/>
          </a:bodyPr>
          <a:lstStyle/>
          <a:p>
            <a:pPr rtl="1" algn="ctr" indent="0" marL="0">
              <a:buNone/>
            </a:pPr>
            <a:r>
              <a:rPr lang="en-US" sz="1420" dirty="0">
                <a:solidFill>
                  <a:srgbClr val="E0E6E8"/>
                </a:solidFill>
                <a:latin typeface="Noto Sans Arabic" pitchFamily="34" charset="0"/>
                <a:ea typeface="Noto Sans Arabic" pitchFamily="34" charset="-122"/>
                <a:cs typeface="Noto Sans Arabic" pitchFamily="34" charset="-120"/>
              </a:rPr>
              <a:t>۳۳ مطالعه، N = ۱۰٬۶۷۵  |  خودشیفتگی آسیب‌پذیر و دلبستگی ناایمن</a:t>
            </a:r>
            <a:endParaRPr lang="en-US" sz="1420" dirty="0"/>
          </a:p>
          <a:p>
            <a:pPr rtl="1" algn="ctr" indent="0" marL="0">
              <a:buNone/>
            </a:pPr>
            <a:r>
              <a:rPr lang="en-US" sz="1420" dirty="0">
                <a:solidFill>
                  <a:srgbClr val="E0E6E8"/>
                </a:solidFill>
                <a:latin typeface="Noto Sans Arabic" pitchFamily="34" charset="0"/>
                <a:ea typeface="Noto Sans Arabic" pitchFamily="34" charset="-122"/>
                <a:cs typeface="Noto Sans Arabic" pitchFamily="34" charset="-120"/>
              </a:rPr>
              <a:t>دلبستگی دل‌مشغول: r ≈ ۰٫۴۳</a:t>
            </a:r>
            <a:endParaRPr lang="en-US" sz="1420" dirty="0"/>
          </a:p>
        </p:txBody>
      </p:sp>
      <p:sp>
        <p:nvSpPr>
          <p:cNvPr id="9" name="Shape 6"/>
          <p:cNvSpPr/>
          <p:nvPr/>
        </p:nvSpPr>
        <p:spPr>
          <a:xfrm>
            <a:off x="7909560" y="1938528"/>
            <a:ext cx="502920" cy="658368"/>
          </a:xfrm>
          <a:prstGeom prst="line">
            <a:avLst/>
          </a:prstGeom>
          <a:noFill/>
          <a:ln w="27940">
            <a:solidFill>
              <a:srgbClr val="6FA4A6"/>
            </a:solidFill>
            <a:prstDash val="solid"/>
            <a:tailEnd type="triangle"/>
          </a:ln>
        </p:spPr>
      </p:sp>
      <p:sp>
        <p:nvSpPr>
          <p:cNvPr id="10" name="Shape 7"/>
          <p:cNvSpPr/>
          <p:nvPr/>
        </p:nvSpPr>
        <p:spPr>
          <a:xfrm>
            <a:off x="9784080" y="3182112"/>
            <a:ext cx="0" cy="969264"/>
          </a:xfrm>
          <a:prstGeom prst="line">
            <a:avLst/>
          </a:prstGeom>
          <a:noFill/>
          <a:ln w="27940">
            <a:solidFill>
              <a:srgbClr val="6FA4A6"/>
            </a:solidFill>
            <a:prstDash val="solid"/>
            <a:tailEnd type="triangle"/>
          </a:ln>
        </p:spPr>
      </p:sp>
      <p:sp>
        <p:nvSpPr>
          <p:cNvPr id="11" name="Shape 8"/>
          <p:cNvSpPr/>
          <p:nvPr/>
        </p:nvSpPr>
        <p:spPr>
          <a:xfrm>
            <a:off x="8778240" y="4617720"/>
            <a:ext cx="-502920" cy="-658368"/>
          </a:xfrm>
          <a:prstGeom prst="line">
            <a:avLst/>
          </a:prstGeom>
          <a:noFill/>
          <a:ln w="27940">
            <a:solidFill>
              <a:srgbClr val="6FA4A6"/>
            </a:solidFill>
            <a:prstDash val="solid"/>
            <a:tailEnd type="triangle"/>
          </a:ln>
        </p:spPr>
      </p:sp>
      <p:sp>
        <p:nvSpPr>
          <p:cNvPr id="12" name="Shape 9"/>
          <p:cNvSpPr/>
          <p:nvPr/>
        </p:nvSpPr>
        <p:spPr>
          <a:xfrm>
            <a:off x="6903720" y="4005072"/>
            <a:ext cx="0" cy="-969264"/>
          </a:xfrm>
          <a:prstGeom prst="line">
            <a:avLst/>
          </a:prstGeom>
          <a:noFill/>
          <a:ln w="27940">
            <a:solidFill>
              <a:srgbClr val="6FA4A6"/>
            </a:solidFill>
            <a:prstDash val="solid"/>
            <a:tailEnd type="triangle"/>
          </a:ln>
        </p:spPr>
      </p:sp>
      <p:sp>
        <p:nvSpPr>
          <p:cNvPr id="13" name="Shape 10"/>
          <p:cNvSpPr/>
          <p:nvPr/>
        </p:nvSpPr>
        <p:spPr>
          <a:xfrm>
            <a:off x="5989320" y="1481328"/>
            <a:ext cx="1737360" cy="822960"/>
          </a:xfrm>
          <a:prstGeom prst="roundRect">
            <a:avLst>
              <a:gd name="adj" fmla="val 7778"/>
            </a:avLst>
          </a:prstGeom>
          <a:solidFill>
            <a:srgbClr val="263942"/>
          </a:solidFill>
          <a:ln w="16510">
            <a:solidFill>
              <a:srgbClr val="6FA4A6"/>
            </a:solidFill>
            <a:prstDash val="solid"/>
          </a:ln>
        </p:spPr>
      </p:sp>
      <p:sp>
        <p:nvSpPr>
          <p:cNvPr id="14" name="Text 11"/>
          <p:cNvSpPr/>
          <p:nvPr/>
        </p:nvSpPr>
        <p:spPr>
          <a:xfrm>
            <a:off x="6062472" y="1572768"/>
            <a:ext cx="1591056" cy="640080"/>
          </a:xfrm>
          <a:prstGeom prst="rect">
            <a:avLst/>
          </a:prstGeom>
          <a:noFill/>
          <a:ln/>
        </p:spPr>
        <p:txBody>
          <a:bodyPr wrap="square" lIns="0" tIns="0" rIns="0" bIns="0" rtlCol="0" anchor="ctr">
            <a:normAutofit/>
          </a:bodyPr>
          <a:lstStyle/>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ابهام یا</a:t>
            </a:r>
            <a:endParaRPr lang="en-US" sz="1500" dirty="0"/>
          </a:p>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تهدید منزلت</a:t>
            </a:r>
            <a:endParaRPr lang="en-US" sz="1500" dirty="0"/>
          </a:p>
        </p:txBody>
      </p:sp>
      <p:sp>
        <p:nvSpPr>
          <p:cNvPr id="15" name="Shape 12"/>
          <p:cNvSpPr/>
          <p:nvPr/>
        </p:nvSpPr>
        <p:spPr>
          <a:xfrm>
            <a:off x="8823960" y="2487168"/>
            <a:ext cx="1737360" cy="822960"/>
          </a:xfrm>
          <a:prstGeom prst="roundRect">
            <a:avLst>
              <a:gd name="adj" fmla="val 7778"/>
            </a:avLst>
          </a:prstGeom>
          <a:solidFill>
            <a:srgbClr val="3B3340"/>
          </a:solidFill>
          <a:ln w="16510">
            <a:solidFill>
              <a:srgbClr val="A9899F"/>
            </a:solidFill>
            <a:prstDash val="solid"/>
          </a:ln>
        </p:spPr>
      </p:sp>
      <p:sp>
        <p:nvSpPr>
          <p:cNvPr id="16" name="Text 13"/>
          <p:cNvSpPr/>
          <p:nvPr/>
        </p:nvSpPr>
        <p:spPr>
          <a:xfrm>
            <a:off x="8897112" y="2578608"/>
            <a:ext cx="1591056" cy="640080"/>
          </a:xfrm>
          <a:prstGeom prst="rect">
            <a:avLst/>
          </a:prstGeom>
          <a:noFill/>
          <a:ln/>
        </p:spPr>
        <p:txBody>
          <a:bodyPr wrap="square" lIns="0" tIns="0" rIns="0" bIns="0" rtlCol="0" anchor="ctr">
            <a:normAutofit/>
          </a:bodyPr>
          <a:lstStyle/>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واکنش دفاعی</a:t>
            </a:r>
            <a:endParaRPr lang="en-US" sz="1500" dirty="0"/>
          </a:p>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یا کنترل‌گرانه</a:t>
            </a:r>
            <a:endParaRPr lang="en-US" sz="1500" dirty="0"/>
          </a:p>
        </p:txBody>
      </p:sp>
      <p:sp>
        <p:nvSpPr>
          <p:cNvPr id="17" name="Shape 14"/>
          <p:cNvSpPr/>
          <p:nvPr/>
        </p:nvSpPr>
        <p:spPr>
          <a:xfrm>
            <a:off x="8823960" y="4224528"/>
            <a:ext cx="1737360" cy="822960"/>
          </a:xfrm>
          <a:prstGeom prst="roundRect">
            <a:avLst>
              <a:gd name="adj" fmla="val 7778"/>
            </a:avLst>
          </a:prstGeom>
          <a:solidFill>
            <a:srgbClr val="3D4641"/>
          </a:solidFill>
          <a:ln w="16510">
            <a:solidFill>
              <a:srgbClr val="88A493"/>
            </a:solidFill>
            <a:prstDash val="solid"/>
          </a:ln>
        </p:spPr>
      </p:sp>
      <p:sp>
        <p:nvSpPr>
          <p:cNvPr id="18" name="Text 15"/>
          <p:cNvSpPr/>
          <p:nvPr/>
        </p:nvSpPr>
        <p:spPr>
          <a:xfrm>
            <a:off x="8897112" y="4315968"/>
            <a:ext cx="1591056" cy="640080"/>
          </a:xfrm>
          <a:prstGeom prst="rect">
            <a:avLst/>
          </a:prstGeom>
          <a:noFill/>
          <a:ln/>
        </p:spPr>
        <p:txBody>
          <a:bodyPr wrap="square" lIns="0" tIns="0" rIns="0" bIns="0" rtlCol="0" anchor="ctr">
            <a:normAutofit/>
          </a:bodyPr>
          <a:lstStyle/>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پاسخ شریک</a:t>
            </a:r>
            <a:endParaRPr lang="en-US" sz="1500" dirty="0"/>
          </a:p>
        </p:txBody>
      </p:sp>
      <p:sp>
        <p:nvSpPr>
          <p:cNvPr id="19" name="Shape 16"/>
          <p:cNvSpPr/>
          <p:nvPr/>
        </p:nvSpPr>
        <p:spPr>
          <a:xfrm>
            <a:off x="5989320" y="3493008"/>
            <a:ext cx="1737360" cy="822960"/>
          </a:xfrm>
          <a:prstGeom prst="roundRect">
            <a:avLst>
              <a:gd name="adj" fmla="val 7778"/>
            </a:avLst>
          </a:prstGeom>
          <a:solidFill>
            <a:srgbClr val="3A3A32"/>
          </a:solidFill>
          <a:ln w="16510">
            <a:solidFill>
              <a:srgbClr val="C4AD78"/>
            </a:solidFill>
            <a:prstDash val="solid"/>
          </a:ln>
        </p:spPr>
      </p:sp>
      <p:sp>
        <p:nvSpPr>
          <p:cNvPr id="20" name="Text 17"/>
          <p:cNvSpPr/>
          <p:nvPr/>
        </p:nvSpPr>
        <p:spPr>
          <a:xfrm>
            <a:off x="6062472" y="3584448"/>
            <a:ext cx="1591056" cy="640080"/>
          </a:xfrm>
          <a:prstGeom prst="rect">
            <a:avLst/>
          </a:prstGeom>
          <a:noFill/>
          <a:ln/>
        </p:spPr>
        <p:txBody>
          <a:bodyPr wrap="square" lIns="0" tIns="0" rIns="0" bIns="0" rtlCol="0" anchor="ctr">
            <a:normAutofit/>
          </a:bodyPr>
          <a:lstStyle/>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تشدید یا</a:t>
            </a:r>
            <a:endParaRPr lang="en-US" sz="1500" dirty="0"/>
          </a:p>
          <a:p>
            <a:pPr rtl="1" algn="ctr" indent="0" marL="0">
              <a:buNone/>
            </a:pPr>
            <a:r>
              <a:rPr lang="en-US" sz="1500" b="1" dirty="0">
                <a:solidFill>
                  <a:srgbClr val="FFFFFF"/>
                </a:solidFill>
                <a:latin typeface="Noto Sans Arabic" pitchFamily="34" charset="0"/>
                <a:ea typeface="Noto Sans Arabic" pitchFamily="34" charset="-122"/>
                <a:cs typeface="Noto Sans Arabic" pitchFamily="34" charset="-120"/>
              </a:rPr>
              <a:t>ترمیم تعارض</a:t>
            </a:r>
            <a:endParaRPr lang="en-US" sz="1500" dirty="0"/>
          </a:p>
        </p:txBody>
      </p:sp>
      <p:sp>
        <p:nvSpPr>
          <p:cNvPr id="21" name="Text 18"/>
          <p:cNvSpPr/>
          <p:nvPr/>
        </p:nvSpPr>
        <p:spPr>
          <a:xfrm>
            <a:off x="5897880" y="5650992"/>
            <a:ext cx="5486400" cy="457200"/>
          </a:xfrm>
          <a:prstGeom prst="rect">
            <a:avLst/>
          </a:prstGeom>
          <a:noFill/>
          <a:ln/>
        </p:spPr>
        <p:txBody>
          <a:bodyPr wrap="square" lIns="0" tIns="0" rIns="0" bIns="0" rtlCol="0" anchor="ctr">
            <a:normAutofit/>
          </a:bodyPr>
          <a:lstStyle/>
          <a:p>
            <a:pPr rtl="1" algn="ctr" indent="0" marL="0">
              <a:buNone/>
            </a:pPr>
            <a:r>
              <a:rPr lang="en-US" sz="1620" b="1" dirty="0">
                <a:solidFill>
                  <a:srgbClr val="D7E0E2"/>
                </a:solidFill>
                <a:latin typeface="Noto Sans Arabic" pitchFamily="34" charset="0"/>
                <a:ea typeface="Noto Sans Arabic" pitchFamily="34" charset="-122"/>
                <a:cs typeface="Noto Sans Arabic" pitchFamily="34" charset="-120"/>
              </a:rPr>
              <a:t>این چرخه بدون دادهٔ چندموجی و چندمنبعی، از یک همبستگی استخراج نمی‌شود.</a:t>
            </a:r>
            <a:endParaRPr lang="en-US" sz="1620" dirty="0"/>
          </a:p>
        </p:txBody>
      </p:sp>
      <p:sp>
        <p:nvSpPr>
          <p:cNvPr id="22" name="Text 19"/>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Mohay et al. (2025) — رابطهٔ دلبستگی و خودشیفتگی؛ جهت علیت روشن نیست</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روابط عاطفی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جذابیت آغازین ≠ کیفیت بلندمدت</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13</a:t>
            </a:r>
            <a:endParaRPr lang="en-US" sz="1200" dirty="0"/>
          </a:p>
        </p:txBody>
      </p:sp>
      <p:sp>
        <p:nvSpPr>
          <p:cNvPr id="6" name="Text 4"/>
          <p:cNvSpPr/>
          <p:nvPr/>
        </p:nvSpPr>
        <p:spPr>
          <a:xfrm>
            <a:off x="868680" y="1371600"/>
            <a:ext cx="2011680" cy="411480"/>
          </a:xfrm>
          <a:prstGeom prst="rect">
            <a:avLst/>
          </a:prstGeom>
          <a:noFill/>
          <a:ln/>
        </p:spPr>
        <p:txBody>
          <a:bodyPr wrap="square" lIns="0" tIns="0" rIns="0" bIns="0" rtlCol="0" anchor="ctr">
            <a:normAutofit/>
          </a:bodyPr>
          <a:lstStyle/>
          <a:p>
            <a:pPr rtl="1" algn="ctr" indent="0" marL="0">
              <a:buNone/>
            </a:pPr>
            <a:r>
              <a:rPr lang="en-US" sz="2100" b="1" dirty="0">
                <a:solidFill>
                  <a:srgbClr val="2B6F73"/>
                </a:solidFill>
                <a:latin typeface="Noto Kufi Arabic" pitchFamily="34" charset="0"/>
                <a:ea typeface="Noto Kufi Arabic" pitchFamily="34" charset="-122"/>
                <a:cs typeface="Noto Kufi Arabic" pitchFamily="34" charset="-120"/>
              </a:rPr>
              <a:t>شروع رابطه</a:t>
            </a:r>
            <a:endParaRPr lang="en-US" sz="2100" dirty="0"/>
          </a:p>
        </p:txBody>
      </p:sp>
      <p:sp>
        <p:nvSpPr>
          <p:cNvPr id="7" name="Text 5"/>
          <p:cNvSpPr/>
          <p:nvPr/>
        </p:nvSpPr>
        <p:spPr>
          <a:xfrm>
            <a:off x="9326880" y="1371600"/>
            <a:ext cx="2011680" cy="411480"/>
          </a:xfrm>
          <a:prstGeom prst="rect">
            <a:avLst/>
          </a:prstGeom>
          <a:noFill/>
          <a:ln/>
        </p:spPr>
        <p:txBody>
          <a:bodyPr wrap="square" lIns="0" tIns="0" rIns="0" bIns="0" rtlCol="0" anchor="ctr">
            <a:normAutofit/>
          </a:bodyPr>
          <a:lstStyle/>
          <a:p>
            <a:pPr rtl="1" algn="ctr" indent="0" marL="0">
              <a:buNone/>
            </a:pPr>
            <a:r>
              <a:rPr lang="en-US" sz="2100" b="1" dirty="0">
                <a:solidFill>
                  <a:srgbClr val="76566F"/>
                </a:solidFill>
                <a:latin typeface="Noto Kufi Arabic" pitchFamily="34" charset="0"/>
                <a:ea typeface="Noto Kufi Arabic" pitchFamily="34" charset="-122"/>
                <a:cs typeface="Noto Kufi Arabic" pitchFamily="34" charset="-120"/>
              </a:rPr>
              <a:t>تداوم رابطه</a:t>
            </a:r>
            <a:endParaRPr lang="en-US" sz="2100" dirty="0"/>
          </a:p>
        </p:txBody>
      </p:sp>
      <p:sp>
        <p:nvSpPr>
          <p:cNvPr id="8" name="Shape 6"/>
          <p:cNvSpPr/>
          <p:nvPr/>
        </p:nvSpPr>
        <p:spPr>
          <a:xfrm>
            <a:off x="2011680" y="2148840"/>
            <a:ext cx="8183880" cy="0"/>
          </a:xfrm>
          <a:prstGeom prst="line">
            <a:avLst/>
          </a:prstGeom>
          <a:noFill/>
          <a:ln w="38100">
            <a:solidFill>
              <a:srgbClr val="AAB8BA"/>
            </a:solidFill>
            <a:prstDash val="solid"/>
            <a:tailEnd type="triangle"/>
          </a:ln>
        </p:spPr>
      </p:sp>
      <p:sp>
        <p:nvSpPr>
          <p:cNvPr id="9" name="Shape 7"/>
          <p:cNvSpPr/>
          <p:nvPr/>
        </p:nvSpPr>
        <p:spPr>
          <a:xfrm>
            <a:off x="1005840" y="1874520"/>
            <a:ext cx="566928" cy="566928"/>
          </a:xfrm>
          <a:prstGeom prst="ellipse">
            <a:avLst/>
          </a:prstGeom>
          <a:solidFill>
            <a:srgbClr val="6FA4A6"/>
          </a:solidFill>
          <a:ln w="25400">
            <a:solidFill>
              <a:srgbClr val="FFFFFF"/>
            </a:solidFill>
            <a:prstDash val="solid"/>
          </a:ln>
        </p:spPr>
      </p:sp>
      <p:sp>
        <p:nvSpPr>
          <p:cNvPr id="10" name="Text 8"/>
          <p:cNvSpPr/>
          <p:nvPr/>
        </p:nvSpPr>
        <p:spPr>
          <a:xfrm>
            <a:off x="548640" y="2670048"/>
            <a:ext cx="1481328" cy="320040"/>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جذابیت</a:t>
            </a:r>
            <a:endParaRPr lang="en-US" sz="1550" dirty="0"/>
          </a:p>
        </p:txBody>
      </p:sp>
      <p:sp>
        <p:nvSpPr>
          <p:cNvPr id="11" name="Text 9"/>
          <p:cNvSpPr/>
          <p:nvPr/>
        </p:nvSpPr>
        <p:spPr>
          <a:xfrm>
            <a:off x="411480" y="3090672"/>
            <a:ext cx="1783080" cy="658368"/>
          </a:xfrm>
          <a:prstGeom prst="rect">
            <a:avLst/>
          </a:prstGeom>
          <a:noFill/>
          <a:ln/>
        </p:spPr>
        <p:txBody>
          <a:bodyPr wrap="square" lIns="0" tIns="0" rIns="0" bIns="0" rtlCol="0" anchor="t">
            <a:normAutofit/>
          </a:bodyPr>
          <a:lstStyle/>
          <a:p>
            <a:pPr rtl="1" algn="ctr" indent="0" marL="0">
              <a:buNone/>
            </a:pPr>
            <a:r>
              <a:rPr lang="en-US" sz="1340" dirty="0">
                <a:solidFill>
                  <a:srgbClr val="6D7479"/>
                </a:solidFill>
                <a:latin typeface="Noto Sans Arabic" pitchFamily="34" charset="0"/>
                <a:ea typeface="Noto Sans Arabic" pitchFamily="34" charset="-122"/>
                <a:cs typeface="Noto Sans Arabic" pitchFamily="34" charset="-120"/>
              </a:rPr>
              <a:t>جسارت، حضور اجتماعی</a:t>
            </a:r>
            <a:endParaRPr lang="en-US" sz="1340" dirty="0"/>
          </a:p>
        </p:txBody>
      </p:sp>
      <p:sp>
        <p:nvSpPr>
          <p:cNvPr id="12" name="Shape 10"/>
          <p:cNvSpPr/>
          <p:nvPr/>
        </p:nvSpPr>
        <p:spPr>
          <a:xfrm>
            <a:off x="2971800" y="1874520"/>
            <a:ext cx="566928" cy="566928"/>
          </a:xfrm>
          <a:prstGeom prst="ellipse">
            <a:avLst/>
          </a:prstGeom>
          <a:solidFill>
            <a:srgbClr val="6FA4A6"/>
          </a:solidFill>
          <a:ln w="25400">
            <a:solidFill>
              <a:srgbClr val="FFFFFF"/>
            </a:solidFill>
            <a:prstDash val="solid"/>
          </a:ln>
        </p:spPr>
      </p:sp>
      <p:sp>
        <p:nvSpPr>
          <p:cNvPr id="13" name="Text 11"/>
          <p:cNvSpPr/>
          <p:nvPr/>
        </p:nvSpPr>
        <p:spPr>
          <a:xfrm>
            <a:off x="2514600" y="2670048"/>
            <a:ext cx="1481328" cy="320040"/>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خودافشایی</a:t>
            </a:r>
            <a:endParaRPr lang="en-US" sz="1550" dirty="0"/>
          </a:p>
        </p:txBody>
      </p:sp>
      <p:sp>
        <p:nvSpPr>
          <p:cNvPr id="14" name="Text 12"/>
          <p:cNvSpPr/>
          <p:nvPr/>
        </p:nvSpPr>
        <p:spPr>
          <a:xfrm>
            <a:off x="2377440" y="3090672"/>
            <a:ext cx="1783080" cy="658368"/>
          </a:xfrm>
          <a:prstGeom prst="rect">
            <a:avLst/>
          </a:prstGeom>
          <a:noFill/>
          <a:ln/>
        </p:spPr>
        <p:txBody>
          <a:bodyPr wrap="square" lIns="0" tIns="0" rIns="0" bIns="0" rtlCol="0" anchor="t">
            <a:normAutofit/>
          </a:bodyPr>
          <a:lstStyle/>
          <a:p>
            <a:pPr rtl="1" algn="ctr" indent="0" marL="0">
              <a:buNone/>
            </a:pPr>
            <a:r>
              <a:rPr lang="en-US" sz="1340" dirty="0">
                <a:solidFill>
                  <a:srgbClr val="6D7479"/>
                </a:solidFill>
                <a:latin typeface="Noto Sans Arabic" pitchFamily="34" charset="0"/>
                <a:ea typeface="Noto Sans Arabic" pitchFamily="34" charset="-122"/>
                <a:cs typeface="Noto Sans Arabic" pitchFamily="34" charset="-120"/>
              </a:rPr>
              <a:t>تعادل و پاسخ‌دهی</a:t>
            </a:r>
            <a:endParaRPr lang="en-US" sz="1340" dirty="0"/>
          </a:p>
        </p:txBody>
      </p:sp>
      <p:sp>
        <p:nvSpPr>
          <p:cNvPr id="15" name="Shape 13"/>
          <p:cNvSpPr/>
          <p:nvPr/>
        </p:nvSpPr>
        <p:spPr>
          <a:xfrm>
            <a:off x="4937760" y="1874520"/>
            <a:ext cx="566928" cy="566928"/>
          </a:xfrm>
          <a:prstGeom prst="ellipse">
            <a:avLst/>
          </a:prstGeom>
          <a:solidFill>
            <a:srgbClr val="BFA9BB"/>
          </a:solidFill>
          <a:ln w="25400">
            <a:solidFill>
              <a:srgbClr val="FFFFFF"/>
            </a:solidFill>
            <a:prstDash val="solid"/>
          </a:ln>
        </p:spPr>
      </p:sp>
      <p:sp>
        <p:nvSpPr>
          <p:cNvPr id="16" name="Text 14"/>
          <p:cNvSpPr/>
          <p:nvPr/>
        </p:nvSpPr>
        <p:spPr>
          <a:xfrm>
            <a:off x="4480560" y="2670048"/>
            <a:ext cx="1481328" cy="320040"/>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اعتماد</a:t>
            </a:r>
            <a:endParaRPr lang="en-US" sz="1550" dirty="0"/>
          </a:p>
        </p:txBody>
      </p:sp>
      <p:sp>
        <p:nvSpPr>
          <p:cNvPr id="17" name="Text 15"/>
          <p:cNvSpPr/>
          <p:nvPr/>
        </p:nvSpPr>
        <p:spPr>
          <a:xfrm>
            <a:off x="4343400" y="3090672"/>
            <a:ext cx="1783080" cy="658368"/>
          </a:xfrm>
          <a:prstGeom prst="rect">
            <a:avLst/>
          </a:prstGeom>
          <a:noFill/>
          <a:ln/>
        </p:spPr>
        <p:txBody>
          <a:bodyPr wrap="square" lIns="0" tIns="0" rIns="0" bIns="0" rtlCol="0" anchor="t">
            <a:normAutofit/>
          </a:bodyPr>
          <a:lstStyle/>
          <a:p>
            <a:pPr rtl="1" algn="ctr" indent="0" marL="0">
              <a:buNone/>
            </a:pPr>
            <a:r>
              <a:rPr lang="en-US" sz="1340" dirty="0">
                <a:solidFill>
                  <a:srgbClr val="6D7479"/>
                </a:solidFill>
                <a:latin typeface="Noto Sans Arabic" pitchFamily="34" charset="0"/>
                <a:ea typeface="Noto Sans Arabic" pitchFamily="34" charset="-122"/>
                <a:cs typeface="Noto Sans Arabic" pitchFamily="34" charset="-120"/>
              </a:rPr>
              <a:t>هماهنگی گفتار و عمل</a:t>
            </a:r>
            <a:endParaRPr lang="en-US" sz="1340" dirty="0"/>
          </a:p>
        </p:txBody>
      </p:sp>
      <p:sp>
        <p:nvSpPr>
          <p:cNvPr id="18" name="Shape 16"/>
          <p:cNvSpPr/>
          <p:nvPr/>
        </p:nvSpPr>
        <p:spPr>
          <a:xfrm>
            <a:off x="6903720" y="1874520"/>
            <a:ext cx="566928" cy="566928"/>
          </a:xfrm>
          <a:prstGeom prst="ellipse">
            <a:avLst/>
          </a:prstGeom>
          <a:solidFill>
            <a:srgbClr val="BFA9BB"/>
          </a:solidFill>
          <a:ln w="25400">
            <a:solidFill>
              <a:srgbClr val="FFFFFF"/>
            </a:solidFill>
            <a:prstDash val="solid"/>
          </a:ln>
        </p:spPr>
      </p:sp>
      <p:sp>
        <p:nvSpPr>
          <p:cNvPr id="19" name="Text 17"/>
          <p:cNvSpPr/>
          <p:nvPr/>
        </p:nvSpPr>
        <p:spPr>
          <a:xfrm>
            <a:off x="6446520" y="2670048"/>
            <a:ext cx="1481328" cy="320040"/>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تعارض</a:t>
            </a:r>
            <a:endParaRPr lang="en-US" sz="1550" dirty="0"/>
          </a:p>
        </p:txBody>
      </p:sp>
      <p:sp>
        <p:nvSpPr>
          <p:cNvPr id="20" name="Text 18"/>
          <p:cNvSpPr/>
          <p:nvPr/>
        </p:nvSpPr>
        <p:spPr>
          <a:xfrm>
            <a:off x="6309360" y="3090672"/>
            <a:ext cx="1783080" cy="658368"/>
          </a:xfrm>
          <a:prstGeom prst="rect">
            <a:avLst/>
          </a:prstGeom>
          <a:noFill/>
          <a:ln/>
        </p:spPr>
        <p:txBody>
          <a:bodyPr wrap="square" lIns="0" tIns="0" rIns="0" bIns="0" rtlCol="0" anchor="t">
            <a:normAutofit/>
          </a:bodyPr>
          <a:lstStyle/>
          <a:p>
            <a:pPr rtl="1" algn="ctr" indent="0" marL="0">
              <a:buNone/>
            </a:pPr>
            <a:r>
              <a:rPr lang="en-US" sz="1340" dirty="0">
                <a:solidFill>
                  <a:srgbClr val="6D7479"/>
                </a:solidFill>
                <a:latin typeface="Noto Sans Arabic" pitchFamily="34" charset="0"/>
                <a:ea typeface="Noto Sans Arabic" pitchFamily="34" charset="-122"/>
                <a:cs typeface="Noto Sans Arabic" pitchFamily="34" charset="-120"/>
              </a:rPr>
              <a:t>احترام و ترمیم</a:t>
            </a:r>
            <a:endParaRPr lang="en-US" sz="1340" dirty="0"/>
          </a:p>
        </p:txBody>
      </p:sp>
      <p:sp>
        <p:nvSpPr>
          <p:cNvPr id="21" name="Shape 19"/>
          <p:cNvSpPr/>
          <p:nvPr/>
        </p:nvSpPr>
        <p:spPr>
          <a:xfrm>
            <a:off x="8869680" y="1874520"/>
            <a:ext cx="566928" cy="566928"/>
          </a:xfrm>
          <a:prstGeom prst="ellipse">
            <a:avLst/>
          </a:prstGeom>
          <a:solidFill>
            <a:srgbClr val="D9C8A6"/>
          </a:solidFill>
          <a:ln w="25400">
            <a:solidFill>
              <a:srgbClr val="FFFFFF"/>
            </a:solidFill>
            <a:prstDash val="solid"/>
          </a:ln>
        </p:spPr>
      </p:sp>
      <p:sp>
        <p:nvSpPr>
          <p:cNvPr id="22" name="Text 20"/>
          <p:cNvSpPr/>
          <p:nvPr/>
        </p:nvSpPr>
        <p:spPr>
          <a:xfrm>
            <a:off x="8412480" y="2670048"/>
            <a:ext cx="1481328" cy="320040"/>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Kufi Arabic" pitchFamily="34" charset="0"/>
                <a:ea typeface="Noto Kufi Arabic" pitchFamily="34" charset="-122"/>
                <a:cs typeface="Noto Kufi Arabic" pitchFamily="34" charset="-120"/>
              </a:rPr>
              <a:t>ایمنی و پایداری</a:t>
            </a:r>
            <a:endParaRPr lang="en-US" sz="1550" dirty="0"/>
          </a:p>
        </p:txBody>
      </p:sp>
      <p:sp>
        <p:nvSpPr>
          <p:cNvPr id="23" name="Text 21"/>
          <p:cNvSpPr/>
          <p:nvPr/>
        </p:nvSpPr>
        <p:spPr>
          <a:xfrm>
            <a:off x="8275320" y="3090672"/>
            <a:ext cx="1783080" cy="658368"/>
          </a:xfrm>
          <a:prstGeom prst="rect">
            <a:avLst/>
          </a:prstGeom>
          <a:noFill/>
          <a:ln/>
        </p:spPr>
        <p:txBody>
          <a:bodyPr wrap="square" lIns="0" tIns="0" rIns="0" bIns="0" rtlCol="0" anchor="t">
            <a:normAutofit/>
          </a:bodyPr>
          <a:lstStyle/>
          <a:p>
            <a:pPr rtl="1" algn="ctr" indent="0" marL="0">
              <a:buNone/>
            </a:pPr>
            <a:r>
              <a:rPr lang="en-US" sz="1340" dirty="0">
                <a:solidFill>
                  <a:srgbClr val="6D7479"/>
                </a:solidFill>
                <a:latin typeface="Noto Sans Arabic" pitchFamily="34" charset="0"/>
                <a:ea typeface="Noto Sans Arabic" pitchFamily="34" charset="-122"/>
                <a:cs typeface="Noto Sans Arabic" pitchFamily="34" charset="-120"/>
              </a:rPr>
              <a:t>حق مخالفت و عدم اجبار</a:t>
            </a:r>
            <a:endParaRPr lang="en-US" sz="1340" dirty="0"/>
          </a:p>
        </p:txBody>
      </p:sp>
      <p:sp>
        <p:nvSpPr>
          <p:cNvPr id="24" name="Text 22"/>
          <p:cNvSpPr/>
          <p:nvPr/>
        </p:nvSpPr>
        <p:spPr>
          <a:xfrm>
            <a:off x="914400" y="4224528"/>
            <a:ext cx="2194560" cy="310896"/>
          </a:xfrm>
          <a:prstGeom prst="rect">
            <a:avLst/>
          </a:prstGeom>
          <a:noFill/>
          <a:ln/>
        </p:spPr>
        <p:txBody>
          <a:bodyPr wrap="square" lIns="0" tIns="0" rIns="0" bIns="0" rtlCol="0" anchor="ctr">
            <a:normAutofit/>
          </a:bodyPr>
          <a:lstStyle/>
          <a:p>
            <a:pPr rtl="1" algn="r" indent="0" marL="0">
              <a:buNone/>
            </a:pPr>
            <a:r>
              <a:rPr lang="en-US" sz="1550" b="1" dirty="0">
                <a:solidFill>
                  <a:srgbClr val="2B6F73"/>
                </a:solidFill>
                <a:latin typeface="Noto Kufi Arabic" pitchFamily="34" charset="0"/>
                <a:ea typeface="Noto Kufi Arabic" pitchFamily="34" charset="-122"/>
                <a:cs typeface="Noto Kufi Arabic" pitchFamily="34" charset="-120"/>
              </a:rPr>
              <a:t>پنج پیامد متمایز</a:t>
            </a:r>
            <a:endParaRPr lang="en-US" sz="1550" dirty="0"/>
          </a:p>
        </p:txBody>
      </p:sp>
      <p:sp>
        <p:nvSpPr>
          <p:cNvPr id="25" name="Text 23"/>
          <p:cNvSpPr/>
          <p:nvPr/>
        </p:nvSpPr>
        <p:spPr>
          <a:xfrm>
            <a:off x="3154680" y="4187952"/>
            <a:ext cx="7955280" cy="384048"/>
          </a:xfrm>
          <a:prstGeom prst="rect">
            <a:avLst/>
          </a:prstGeom>
          <a:noFill/>
          <a:ln/>
        </p:spPr>
        <p:txBody>
          <a:bodyPr wrap="square" lIns="0" tIns="0" rIns="0" bIns="0" rtlCol="0" anchor="ctr">
            <a:normAutofit/>
          </a:bodyPr>
          <a:lstStyle/>
          <a:p>
            <a:pPr rtl="1" algn="ctr" indent="0" marL="0">
              <a:buNone/>
            </a:pPr>
            <a:r>
              <a:rPr lang="en-US" sz="2000" b="1" dirty="0">
                <a:solidFill>
                  <a:srgbClr val="172027"/>
                </a:solidFill>
                <a:latin typeface="Noto Kufi Arabic" pitchFamily="34" charset="0"/>
                <a:ea typeface="Noto Kufi Arabic" pitchFamily="34" charset="-122"/>
                <a:cs typeface="Noto Kufi Arabic" pitchFamily="34" charset="-120"/>
              </a:rPr>
              <a:t>اعتماد  |  تعهد  |  رضایت  |  ایمنی  |  پایداری</a:t>
            </a:r>
            <a:endParaRPr lang="en-US" sz="2000" dirty="0"/>
          </a:p>
        </p:txBody>
      </p:sp>
      <p:sp>
        <p:nvSpPr>
          <p:cNvPr id="26" name="Text 24"/>
          <p:cNvSpPr/>
          <p:nvPr/>
        </p:nvSpPr>
        <p:spPr>
          <a:xfrm>
            <a:off x="1097280" y="4892040"/>
            <a:ext cx="9966960" cy="384048"/>
          </a:xfrm>
          <a:prstGeom prst="rect">
            <a:avLst/>
          </a:prstGeom>
          <a:noFill/>
          <a:ln/>
        </p:spPr>
        <p:txBody>
          <a:bodyPr wrap="square" lIns="0" tIns="0" rIns="0" bIns="0" rtlCol="0" anchor="ctr">
            <a:normAutofit/>
          </a:bodyPr>
          <a:lstStyle/>
          <a:p>
            <a:pPr rtl="1" algn="ctr" indent="0" marL="0">
              <a:buNone/>
            </a:pPr>
            <a:r>
              <a:rPr lang="en-US" sz="1750" b="1" dirty="0">
                <a:solidFill>
                  <a:srgbClr val="9D5D60"/>
                </a:solidFill>
                <a:latin typeface="Noto Sans Arabic" pitchFamily="34" charset="0"/>
                <a:ea typeface="Noto Sans Arabic" pitchFamily="34" charset="-122"/>
                <a:cs typeface="Noto Sans Arabic" pitchFamily="34" charset="-120"/>
              </a:rPr>
              <a:t>ماندن در رابطه، به‌تنهایی، شاهد سلامت عاطفی یا نبود خشونت نیست.</a:t>
            </a:r>
            <a:endParaRPr lang="en-US" sz="1750" dirty="0"/>
          </a:p>
        </p:txBody>
      </p:sp>
      <p:sp>
        <p:nvSpPr>
          <p:cNvPr id="27" name="Text 25"/>
          <p:cNvSpPr/>
          <p:nvPr/>
        </p:nvSpPr>
        <p:spPr>
          <a:xfrm>
            <a:off x="1097280" y="5650992"/>
            <a:ext cx="9966960" cy="384048"/>
          </a:xfrm>
          <a:prstGeom prst="rect">
            <a:avLst/>
          </a:prstGeom>
          <a:noFill/>
          <a:ln/>
        </p:spPr>
        <p:txBody>
          <a:bodyPr wrap="square" lIns="0" tIns="0" rIns="0" bIns="0" rtlCol="0" anchor="ctr">
            <a:normAutofit/>
          </a:bodyPr>
          <a:lstStyle/>
          <a:p>
            <a:pPr rtl="1" algn="ctr" indent="0" marL="0">
              <a:buNone/>
            </a:pPr>
            <a:r>
              <a:rPr lang="en-US" sz="1750" dirty="0">
                <a:solidFill>
                  <a:srgbClr val="172027"/>
                </a:solidFill>
                <a:latin typeface="Noto Sans Arabic" pitchFamily="34" charset="0"/>
                <a:ea typeface="Noto Sans Arabic" pitchFamily="34" charset="-122"/>
                <a:cs typeface="Noto Sans Arabic" pitchFamily="34" charset="-120"/>
              </a:rPr>
              <a:t>در پژوهش، نگرش، قصد، رفتار واقعی و تجربهٔ شریک باید جدا سنجیده شوند.</a:t>
            </a:r>
            <a:endParaRPr lang="en-US" sz="1750" dirty="0"/>
          </a:p>
        </p:txBody>
      </p:sp>
      <p:sp>
        <p:nvSpPr>
          <p:cNvPr id="28" name="Text 26"/>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جمع‌بندی فصل ۵: جذابیت، اعتماد، تعهد، رضایت، ایمنی و پایداری متغیرهای جانشین‌پذیر نیستند</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تحلیل زوجی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اثر کنش‌گر و اثر شریک</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14</a:t>
            </a:r>
            <a:endParaRPr lang="en-US" sz="1200" dirty="0"/>
          </a:p>
        </p:txBody>
      </p:sp>
      <p:pic>
        <p:nvPicPr>
          <p:cNvPr id="6" name="Image 0" descr="/mnt/data/_ppt_work/assets/image10.png">    </p:cNvPr>
          <p:cNvPicPr>
            <a:picLocks noChangeAspect="1"/>
          </p:cNvPicPr>
          <p:nvPr/>
        </p:nvPicPr>
        <p:blipFill>
          <a:blip r:embed="rId1"/>
          <a:stretch>
            <a:fillRect/>
          </a:stretch>
        </p:blipFill>
        <p:spPr>
          <a:xfrm>
            <a:off x="685800" y="1574292"/>
            <a:ext cx="5669280" cy="3023616"/>
          </a:xfrm>
          <a:prstGeom prst="rect">
            <a:avLst/>
          </a:prstGeom>
        </p:spPr>
      </p:pic>
      <p:sp>
        <p:nvSpPr>
          <p:cNvPr id="7" name="Text 4"/>
          <p:cNvSpPr/>
          <p:nvPr/>
        </p:nvSpPr>
        <p:spPr>
          <a:xfrm>
            <a:off x="6812280" y="1444752"/>
            <a:ext cx="4480560" cy="384048"/>
          </a:xfrm>
          <a:prstGeom prst="rect">
            <a:avLst/>
          </a:prstGeom>
          <a:noFill/>
          <a:ln/>
        </p:spPr>
        <p:txBody>
          <a:bodyPr wrap="square" lIns="0" tIns="0" rIns="0" bIns="0" rtlCol="0" anchor="ctr">
            <a:normAutofit/>
          </a:bodyPr>
          <a:lstStyle/>
          <a:p>
            <a:pPr rtl="1" algn="r" indent="0" marL="0">
              <a:buNone/>
            </a:pPr>
            <a:r>
              <a:rPr lang="en-US" sz="2300" b="1" dirty="0">
                <a:solidFill>
                  <a:srgbClr val="2B6F73"/>
                </a:solidFill>
                <a:latin typeface="Noto Kufi Arabic" pitchFamily="34" charset="0"/>
                <a:ea typeface="Noto Kufi Arabic" pitchFamily="34" charset="-122"/>
                <a:cs typeface="Noto Kufi Arabic" pitchFamily="34" charset="-120"/>
              </a:rPr>
              <a:t>اثر کنش‌گر</a:t>
            </a:r>
            <a:endParaRPr lang="en-US" sz="2300" dirty="0"/>
          </a:p>
        </p:txBody>
      </p:sp>
      <p:sp>
        <p:nvSpPr>
          <p:cNvPr id="8" name="Text 5"/>
          <p:cNvSpPr/>
          <p:nvPr/>
        </p:nvSpPr>
        <p:spPr>
          <a:xfrm>
            <a:off x="6812280" y="1901952"/>
            <a:ext cx="4343400" cy="621792"/>
          </a:xfrm>
          <a:prstGeom prst="rect">
            <a:avLst/>
          </a:prstGeom>
          <a:noFill/>
          <a:ln/>
        </p:spPr>
        <p:txBody>
          <a:bodyPr wrap="square" lIns="0" tIns="0" rIns="0" bIns="0" rtlCol="0" anchor="ctr">
            <a:normAutofit/>
          </a:bodyPr>
          <a:lstStyle/>
          <a:p>
            <a:pPr rtl="1" algn="r" indent="0" marL="0">
              <a:buNone/>
            </a:pPr>
            <a:r>
              <a:rPr lang="en-US" sz="1800" dirty="0">
                <a:solidFill>
                  <a:srgbClr val="172027"/>
                </a:solidFill>
                <a:latin typeface="Noto Sans Arabic" pitchFamily="34" charset="0"/>
                <a:ea typeface="Noto Sans Arabic" pitchFamily="34" charset="-122"/>
                <a:cs typeface="Noto Sans Arabic" pitchFamily="34" charset="-120"/>
              </a:rPr>
              <a:t>ویژگی‌های من با رضایت خودم چه ارتباطی دارد؟</a:t>
            </a:r>
            <a:endParaRPr lang="en-US" sz="1800" dirty="0"/>
          </a:p>
        </p:txBody>
      </p:sp>
      <p:sp>
        <p:nvSpPr>
          <p:cNvPr id="9" name="Text 6"/>
          <p:cNvSpPr/>
          <p:nvPr/>
        </p:nvSpPr>
        <p:spPr>
          <a:xfrm>
            <a:off x="6812280" y="2788920"/>
            <a:ext cx="4480560" cy="384048"/>
          </a:xfrm>
          <a:prstGeom prst="rect">
            <a:avLst/>
          </a:prstGeom>
          <a:noFill/>
          <a:ln/>
        </p:spPr>
        <p:txBody>
          <a:bodyPr wrap="square" lIns="0" tIns="0" rIns="0" bIns="0" rtlCol="0" anchor="ctr">
            <a:normAutofit/>
          </a:bodyPr>
          <a:lstStyle/>
          <a:p>
            <a:pPr rtl="1" algn="r" indent="0" marL="0">
              <a:buNone/>
            </a:pPr>
            <a:r>
              <a:rPr lang="en-US" sz="2300" b="1" dirty="0">
                <a:solidFill>
                  <a:srgbClr val="76566F"/>
                </a:solidFill>
                <a:latin typeface="Noto Kufi Arabic" pitchFamily="34" charset="0"/>
                <a:ea typeface="Noto Kufi Arabic" pitchFamily="34" charset="-122"/>
                <a:cs typeface="Noto Kufi Arabic" pitchFamily="34" charset="-120"/>
              </a:rPr>
              <a:t>اثر شریک</a:t>
            </a:r>
            <a:endParaRPr lang="en-US" sz="2300" dirty="0"/>
          </a:p>
        </p:txBody>
      </p:sp>
      <p:sp>
        <p:nvSpPr>
          <p:cNvPr id="10" name="Text 7"/>
          <p:cNvSpPr/>
          <p:nvPr/>
        </p:nvSpPr>
        <p:spPr>
          <a:xfrm>
            <a:off x="6812280" y="3246120"/>
            <a:ext cx="4343400" cy="658368"/>
          </a:xfrm>
          <a:prstGeom prst="rect">
            <a:avLst/>
          </a:prstGeom>
          <a:noFill/>
          <a:ln/>
        </p:spPr>
        <p:txBody>
          <a:bodyPr wrap="square" lIns="0" tIns="0" rIns="0" bIns="0" rtlCol="0" anchor="ctr">
            <a:normAutofit/>
          </a:bodyPr>
          <a:lstStyle/>
          <a:p>
            <a:pPr rtl="1" algn="r" indent="0" marL="0">
              <a:buNone/>
            </a:pPr>
            <a:r>
              <a:rPr lang="en-US" sz="1800" dirty="0">
                <a:solidFill>
                  <a:srgbClr val="172027"/>
                </a:solidFill>
                <a:latin typeface="Noto Sans Arabic" pitchFamily="34" charset="0"/>
                <a:ea typeface="Noto Sans Arabic" pitchFamily="34" charset="-122"/>
                <a:cs typeface="Noto Sans Arabic" pitchFamily="34" charset="-120"/>
              </a:rPr>
              <a:t>ویژگی‌های من با رضایت طرف مقابل چه ارتباطی دارد؟</a:t>
            </a:r>
            <a:endParaRPr lang="en-US" sz="1800" dirty="0"/>
          </a:p>
        </p:txBody>
      </p:sp>
      <p:sp>
        <p:nvSpPr>
          <p:cNvPr id="11" name="Shape 8"/>
          <p:cNvSpPr/>
          <p:nvPr/>
        </p:nvSpPr>
        <p:spPr>
          <a:xfrm>
            <a:off x="6720840" y="4251960"/>
            <a:ext cx="4526280" cy="1280160"/>
          </a:xfrm>
          <a:prstGeom prst="roundRect">
            <a:avLst>
              <a:gd name="adj" fmla="val 5714"/>
            </a:avLst>
          </a:prstGeom>
          <a:solidFill>
            <a:srgbClr val="E9EFED"/>
          </a:solidFill>
          <a:ln w="10160">
            <a:solidFill>
              <a:srgbClr val="C7D7D2"/>
            </a:solidFill>
            <a:prstDash val="solid"/>
          </a:ln>
        </p:spPr>
      </p:sp>
      <p:sp>
        <p:nvSpPr>
          <p:cNvPr id="12" name="Text 9"/>
          <p:cNvSpPr/>
          <p:nvPr/>
        </p:nvSpPr>
        <p:spPr>
          <a:xfrm>
            <a:off x="6995160" y="4407408"/>
            <a:ext cx="3977640" cy="329184"/>
          </a:xfrm>
          <a:prstGeom prst="rect">
            <a:avLst/>
          </a:prstGeom>
          <a:noFill/>
          <a:ln/>
        </p:spPr>
        <p:txBody>
          <a:bodyPr wrap="square" lIns="0" tIns="0" rIns="0" bIns="0" rtlCol="0" anchor="ctr">
            <a:normAutofit/>
          </a:bodyPr>
          <a:lstStyle/>
          <a:p>
            <a:pPr rtl="1" algn="ctr" indent="0" marL="0">
              <a:buNone/>
            </a:pPr>
            <a:r>
              <a:rPr lang="en-US" sz="1650" b="1" dirty="0">
                <a:solidFill>
                  <a:srgbClr val="5E8C76"/>
                </a:solidFill>
                <a:latin typeface="Noto Kufi Arabic" pitchFamily="34" charset="0"/>
                <a:ea typeface="Noto Kufi Arabic" pitchFamily="34" charset="-122"/>
                <a:cs typeface="Noto Kufi Arabic" pitchFamily="34" charset="-120"/>
              </a:rPr>
              <a:t>کاردوم و همکاران، ۲۰۲۴</a:t>
            </a:r>
            <a:endParaRPr lang="en-US" sz="1650" dirty="0"/>
          </a:p>
        </p:txBody>
      </p:sp>
      <p:sp>
        <p:nvSpPr>
          <p:cNvPr id="13" name="Text 10"/>
          <p:cNvSpPr/>
          <p:nvPr/>
        </p:nvSpPr>
        <p:spPr>
          <a:xfrm>
            <a:off x="6995160" y="4773168"/>
            <a:ext cx="3977640" cy="594360"/>
          </a:xfrm>
          <a:prstGeom prst="rect">
            <a:avLst/>
          </a:prstGeom>
          <a:noFill/>
          <a:ln/>
        </p:spPr>
        <p:txBody>
          <a:bodyPr wrap="square" lIns="0" tIns="0" rIns="0" bIns="0" rtlCol="0" anchor="t">
            <a:normAutofit/>
          </a:bodyPr>
          <a:lstStyle/>
          <a:p>
            <a:pPr rtl="1" algn="ctr" indent="0" marL="0">
              <a:buNone/>
            </a:pPr>
            <a:r>
              <a:rPr lang="en-US" sz="1470" dirty="0">
                <a:solidFill>
                  <a:srgbClr val="172027"/>
                </a:solidFill>
                <a:latin typeface="Noto Sans Arabic" pitchFamily="34" charset="0"/>
                <a:ea typeface="Noto Sans Arabic" pitchFamily="34" charset="-122"/>
                <a:cs typeface="Noto Sans Arabic" pitchFamily="34" charset="-120"/>
              </a:rPr>
              <a:t>۲۰۵ زوج دگرجنس‌گرا  |  تحلیل سطح پاسخ زوجی</a:t>
            </a:r>
            <a:endParaRPr lang="en-US" sz="1470" dirty="0"/>
          </a:p>
          <a:p>
            <a:pPr rtl="1" algn="ctr" indent="0" marL="0">
              <a:buNone/>
            </a:pPr>
            <a:r>
              <a:rPr lang="en-US" sz="1470" dirty="0">
                <a:solidFill>
                  <a:srgbClr val="172027"/>
                </a:solidFill>
                <a:latin typeface="Noto Sans Arabic" pitchFamily="34" charset="0"/>
                <a:ea typeface="Noto Sans Arabic" pitchFamily="34" charset="-122"/>
                <a:cs typeface="Noto Sans Arabic" pitchFamily="34" charset="-120"/>
              </a:rPr>
              <a:t>اثرهای کنش‌گر و شریک غالباً با رضایت کمتر مرتبط بودند.</a:t>
            </a:r>
            <a:endParaRPr lang="en-US" sz="1470" dirty="0"/>
          </a:p>
        </p:txBody>
      </p:sp>
      <p:sp>
        <p:nvSpPr>
          <p:cNvPr id="14" name="Text 11"/>
          <p:cNvSpPr/>
          <p:nvPr/>
        </p:nvSpPr>
        <p:spPr>
          <a:xfrm>
            <a:off x="822960" y="5257800"/>
            <a:ext cx="5623560" cy="566928"/>
          </a:xfrm>
          <a:prstGeom prst="rect">
            <a:avLst/>
          </a:prstGeom>
          <a:noFill/>
          <a:ln/>
        </p:spPr>
        <p:txBody>
          <a:bodyPr wrap="square" lIns="0" tIns="0" rIns="0" bIns="0" rtlCol="0" anchor="ctr">
            <a:normAutofit/>
          </a:bodyPr>
          <a:lstStyle/>
          <a:p>
            <a:pPr rtl="1" algn="ctr" indent="0" marL="0">
              <a:buNone/>
            </a:pPr>
            <a:r>
              <a:rPr lang="en-US" sz="1700" b="1" dirty="0">
                <a:solidFill>
                  <a:srgbClr val="9D5D60"/>
                </a:solidFill>
                <a:latin typeface="Noto Sans Arabic" pitchFamily="34" charset="0"/>
                <a:ea typeface="Noto Sans Arabic" pitchFamily="34" charset="-122"/>
                <a:cs typeface="Noto Sans Arabic" pitchFamily="34" charset="-120"/>
              </a:rPr>
              <a:t>دادهٔ زوجی کامل‌تر است، اما مقطعی‌بودن همچنان جهت علیت را محدود می‌کند.</a:t>
            </a:r>
            <a:endParaRPr lang="en-US" sz="1700" dirty="0"/>
          </a:p>
        </p:txBody>
      </p:sp>
      <p:sp>
        <p:nvSpPr>
          <p:cNvPr id="15" name="Text 12"/>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Kardum et al. (2024) — Dyadic response surface analysis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61C"/>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خواندن اندازهٔ اثر</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خشونت شریک: رابطهٔ کوچک، عدم قطعیت زیاد</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15</a:t>
            </a:r>
            <a:endParaRPr lang="en-US" sz="1200" dirty="0"/>
          </a:p>
        </p:txBody>
      </p:sp>
      <p:sp>
        <p:nvSpPr>
          <p:cNvPr id="6" name="Shape 4"/>
          <p:cNvSpPr/>
          <p:nvPr/>
        </p:nvSpPr>
        <p:spPr>
          <a:xfrm>
            <a:off x="685800" y="1325880"/>
            <a:ext cx="6537960" cy="4389120"/>
          </a:xfrm>
          <a:prstGeom prst="roundRect">
            <a:avLst>
              <a:gd name="adj" fmla="val 1667"/>
            </a:avLst>
          </a:prstGeom>
          <a:solidFill>
            <a:srgbClr val="F8F8F6"/>
          </a:solidFill>
          <a:ln w="10160">
            <a:solidFill>
              <a:srgbClr val="F8F8F6"/>
            </a:solidFill>
            <a:prstDash val="solid"/>
          </a:ln>
          <a:effectLst>
            <a:outerShdw sx="100000" sy="100000" kx="0" ky="0" algn="bl" rotWithShape="0" blurRad="52028928200000000" dist="26014464100000000" dir="583200000000000000000">
              <a:srgbClr val="000000">
                <a:alpha val="18000000000000000000"/>
              </a:srgbClr>
            </a:outerShdw>
          </a:effectLst>
        </p:spPr>
      </p:sp>
      <p:pic>
        <p:nvPicPr>
          <p:cNvPr id="7" name="Image 0" descr="/mnt/data/_ppt_work/assets/image11.png">    </p:cNvPr>
          <p:cNvPicPr>
            <a:picLocks noChangeAspect="1"/>
          </p:cNvPicPr>
          <p:nvPr/>
        </p:nvPicPr>
        <p:blipFill>
          <a:blip r:embed="rId1"/>
          <a:stretch>
            <a:fillRect/>
          </a:stretch>
        </p:blipFill>
        <p:spPr>
          <a:xfrm>
            <a:off x="896112" y="1573449"/>
            <a:ext cx="6126480" cy="3016157"/>
          </a:xfrm>
          <a:prstGeom prst="rect">
            <a:avLst/>
          </a:prstGeom>
        </p:spPr>
      </p:pic>
      <p:sp>
        <p:nvSpPr>
          <p:cNvPr id="8" name="Text 5"/>
          <p:cNvSpPr/>
          <p:nvPr/>
        </p:nvSpPr>
        <p:spPr>
          <a:xfrm>
            <a:off x="1005840" y="4709160"/>
            <a:ext cx="5852160" cy="310896"/>
          </a:xfrm>
          <a:prstGeom prst="rect">
            <a:avLst/>
          </a:prstGeom>
          <a:noFill/>
          <a:ln/>
        </p:spPr>
        <p:txBody>
          <a:bodyPr wrap="square" lIns="0" tIns="0" rIns="0" bIns="0" rtlCol="0" anchor="ctr">
            <a:normAutofit/>
          </a:bodyPr>
          <a:lstStyle/>
          <a:p>
            <a:pPr rtl="1" algn="ctr" indent="0" marL="0">
              <a:buNone/>
            </a:pPr>
            <a:r>
              <a:rPr lang="en-US" sz="1340" b="1" dirty="0">
                <a:solidFill>
                  <a:srgbClr val="6D7479"/>
                </a:solidFill>
                <a:latin typeface="Noto Sans Arabic" pitchFamily="34" charset="0"/>
                <a:ea typeface="Noto Sans Arabic" pitchFamily="34" charset="-122"/>
                <a:cs typeface="Noto Sans Arabic" pitchFamily="34" charset="-120"/>
              </a:rPr>
              <a:t>Oliver et al. (2024)  |  ۲۲ مطالعه  |  N = ۱۱٬۵۲۰</a:t>
            </a:r>
            <a:endParaRPr lang="en-US" sz="1340" dirty="0"/>
          </a:p>
        </p:txBody>
      </p:sp>
      <p:sp>
        <p:nvSpPr>
          <p:cNvPr id="9" name="Text 6"/>
          <p:cNvSpPr/>
          <p:nvPr/>
        </p:nvSpPr>
        <p:spPr>
          <a:xfrm>
            <a:off x="7726680" y="1572768"/>
            <a:ext cx="3291840" cy="502920"/>
          </a:xfrm>
          <a:prstGeom prst="rect">
            <a:avLst/>
          </a:prstGeom>
          <a:noFill/>
          <a:ln/>
        </p:spPr>
        <p:txBody>
          <a:bodyPr wrap="square" lIns="0" tIns="0" rIns="0" bIns="0" rtlCol="0" anchor="ctr">
            <a:normAutofit/>
          </a:bodyPr>
          <a:lstStyle/>
          <a:p>
            <a:pPr rtl="1" algn="r" indent="0" marL="0">
              <a:buNone/>
            </a:pPr>
            <a:r>
              <a:rPr lang="en-US" sz="3400" b="1" dirty="0">
                <a:solidFill>
                  <a:srgbClr val="6FA4A6"/>
                </a:solidFill>
                <a:latin typeface="Noto Kufi Arabic" pitchFamily="34" charset="0"/>
                <a:ea typeface="Noto Kufi Arabic" pitchFamily="34" charset="-122"/>
                <a:cs typeface="Noto Kufi Arabic" pitchFamily="34" charset="-120"/>
              </a:rPr>
              <a:t>r = ۰٫۱۵</a:t>
            </a:r>
            <a:endParaRPr lang="en-US" sz="3400" dirty="0"/>
          </a:p>
        </p:txBody>
      </p:sp>
      <p:sp>
        <p:nvSpPr>
          <p:cNvPr id="10" name="Text 7"/>
          <p:cNvSpPr/>
          <p:nvPr/>
        </p:nvSpPr>
        <p:spPr>
          <a:xfrm>
            <a:off x="7726680" y="2221992"/>
            <a:ext cx="3291840" cy="365760"/>
          </a:xfrm>
          <a:prstGeom prst="rect">
            <a:avLst/>
          </a:prstGeom>
          <a:noFill/>
          <a:ln/>
        </p:spPr>
        <p:txBody>
          <a:bodyPr wrap="square" lIns="0" tIns="0" rIns="0" bIns="0" rtlCol="0" anchor="ctr">
            <a:normAutofit/>
          </a:bodyPr>
          <a:lstStyle/>
          <a:p>
            <a:pPr rtl="1" algn="r" indent="0" marL="0">
              <a:buNone/>
            </a:pPr>
            <a:r>
              <a:rPr lang="en-US" sz="1700" b="1" dirty="0">
                <a:solidFill>
                  <a:srgbClr val="DCE2E4"/>
                </a:solidFill>
                <a:latin typeface="Noto Sans Arabic" pitchFamily="34" charset="0"/>
                <a:ea typeface="Noto Sans Arabic" pitchFamily="34" charset="-122"/>
                <a:cs typeface="Noto Sans Arabic" pitchFamily="34" charset="-120"/>
              </a:rPr>
              <a:t>CI 95%: ۰٫۱۲ تا ۰٫۱۹</a:t>
            </a:r>
            <a:endParaRPr lang="en-US" sz="1700" dirty="0"/>
          </a:p>
        </p:txBody>
      </p:sp>
      <p:sp>
        <p:nvSpPr>
          <p:cNvPr id="11" name="Text 8"/>
          <p:cNvSpPr/>
          <p:nvPr/>
        </p:nvSpPr>
        <p:spPr>
          <a:xfrm>
            <a:off x="7726680" y="2724912"/>
            <a:ext cx="3291840" cy="365760"/>
          </a:xfrm>
          <a:prstGeom prst="rect">
            <a:avLst/>
          </a:prstGeom>
          <a:noFill/>
          <a:ln/>
        </p:spPr>
        <p:txBody>
          <a:bodyPr wrap="square" lIns="0" tIns="0" rIns="0" bIns="0" rtlCol="0" anchor="ctr">
            <a:normAutofit/>
          </a:bodyPr>
          <a:lstStyle/>
          <a:p>
            <a:pPr rtl="1" algn="r" indent="0" marL="0">
              <a:buNone/>
            </a:pPr>
            <a:r>
              <a:rPr lang="en-US" sz="1700" b="1" dirty="0">
                <a:solidFill>
                  <a:srgbClr val="DCE2E4"/>
                </a:solidFill>
                <a:latin typeface="Noto Sans Arabic" pitchFamily="34" charset="0"/>
                <a:ea typeface="Noto Sans Arabic" pitchFamily="34" charset="-122"/>
                <a:cs typeface="Noto Sans Arabic" pitchFamily="34" charset="-120"/>
              </a:rPr>
              <a:t>I² = ۸۶٫۴۲٪</a:t>
            </a:r>
            <a:endParaRPr lang="en-US" sz="1700" dirty="0"/>
          </a:p>
        </p:txBody>
      </p:sp>
      <p:sp>
        <p:nvSpPr>
          <p:cNvPr id="12" name="Text 9"/>
          <p:cNvSpPr/>
          <p:nvPr/>
        </p:nvSpPr>
        <p:spPr>
          <a:xfrm>
            <a:off x="7726680" y="3474720"/>
            <a:ext cx="3291840" cy="365760"/>
          </a:xfrm>
          <a:prstGeom prst="rect">
            <a:avLst/>
          </a:prstGeom>
          <a:noFill/>
          <a:ln/>
        </p:spPr>
        <p:txBody>
          <a:bodyPr wrap="square" lIns="0" tIns="0" rIns="0" bIns="0" rtlCol="0" anchor="ctr">
            <a:normAutofit/>
          </a:bodyPr>
          <a:lstStyle/>
          <a:p>
            <a:pPr rtl="1" algn="r" indent="0" marL="0">
              <a:buNone/>
            </a:pPr>
            <a:r>
              <a:rPr lang="en-US" sz="1800" b="1" dirty="0">
                <a:solidFill>
                  <a:srgbClr val="D9C8A6"/>
                </a:solidFill>
                <a:latin typeface="Noto Kufi Arabic" pitchFamily="34" charset="0"/>
                <a:ea typeface="Noto Kufi Arabic" pitchFamily="34" charset="-122"/>
                <a:cs typeface="Noto Kufi Arabic" pitchFamily="34" charset="-120"/>
              </a:rPr>
              <a:t>تفسیر درست</a:t>
            </a:r>
            <a:endParaRPr lang="en-US" sz="1800" dirty="0"/>
          </a:p>
        </p:txBody>
      </p:sp>
      <p:sp>
        <p:nvSpPr>
          <p:cNvPr id="13" name="Shape 10"/>
          <p:cNvSpPr/>
          <p:nvPr/>
        </p:nvSpPr>
        <p:spPr>
          <a:xfrm>
            <a:off x="11064240" y="4050792"/>
            <a:ext cx="100584" cy="100584"/>
          </a:xfrm>
          <a:prstGeom prst="ellipse">
            <a:avLst/>
          </a:prstGeom>
          <a:solidFill>
            <a:srgbClr val="6FA4A6"/>
          </a:solidFill>
          <a:ln w="12700">
            <a:solidFill>
              <a:srgbClr val="6FA4A6">
                <a:alpha val="0"/>
              </a:srgbClr>
            </a:solidFill>
            <a:prstDash val="solid"/>
          </a:ln>
        </p:spPr>
      </p:sp>
      <p:sp>
        <p:nvSpPr>
          <p:cNvPr id="14" name="Text 11"/>
          <p:cNvSpPr/>
          <p:nvPr/>
        </p:nvSpPr>
        <p:spPr>
          <a:xfrm>
            <a:off x="7635240" y="3913632"/>
            <a:ext cx="3383280" cy="438912"/>
          </a:xfrm>
          <a:prstGeom prst="rect">
            <a:avLst/>
          </a:prstGeom>
          <a:noFill/>
          <a:ln/>
        </p:spPr>
        <p:txBody>
          <a:bodyPr wrap="square" lIns="0" tIns="0" rIns="0" bIns="0" rtlCol="0" anchor="ctr">
            <a:normAutofit/>
          </a:bodyPr>
          <a:lstStyle/>
          <a:p>
            <a:pPr rtl="1" algn="r" indent="0" marL="0">
              <a:buNone/>
            </a:pPr>
            <a:r>
              <a:rPr lang="en-US" sz="1750" dirty="0">
                <a:solidFill>
                  <a:srgbClr val="F2F4F4"/>
                </a:solidFill>
                <a:latin typeface="Noto Sans Arabic" pitchFamily="34" charset="0"/>
                <a:ea typeface="Noto Sans Arabic" pitchFamily="34" charset="-122"/>
                <a:cs typeface="Noto Sans Arabic" pitchFamily="34" charset="-120"/>
              </a:rPr>
              <a:t>همبستگی مثبت اما کوچک</a:t>
            </a:r>
            <a:endParaRPr lang="en-US" sz="1750" dirty="0"/>
          </a:p>
        </p:txBody>
      </p:sp>
      <p:sp>
        <p:nvSpPr>
          <p:cNvPr id="15" name="Shape 12"/>
          <p:cNvSpPr/>
          <p:nvPr/>
        </p:nvSpPr>
        <p:spPr>
          <a:xfrm>
            <a:off x="11064240" y="4599432"/>
            <a:ext cx="100584" cy="100584"/>
          </a:xfrm>
          <a:prstGeom prst="ellipse">
            <a:avLst/>
          </a:prstGeom>
          <a:solidFill>
            <a:srgbClr val="BFA9BB"/>
          </a:solidFill>
          <a:ln w="12700">
            <a:solidFill>
              <a:srgbClr val="BFA9BB">
                <a:alpha val="0"/>
              </a:srgbClr>
            </a:solidFill>
            <a:prstDash val="solid"/>
          </a:ln>
        </p:spPr>
      </p:sp>
      <p:sp>
        <p:nvSpPr>
          <p:cNvPr id="16" name="Text 13"/>
          <p:cNvSpPr/>
          <p:nvPr/>
        </p:nvSpPr>
        <p:spPr>
          <a:xfrm>
            <a:off x="7635240" y="4462272"/>
            <a:ext cx="3383280" cy="438912"/>
          </a:xfrm>
          <a:prstGeom prst="rect">
            <a:avLst/>
          </a:prstGeom>
          <a:noFill/>
          <a:ln/>
        </p:spPr>
        <p:txBody>
          <a:bodyPr wrap="square" lIns="0" tIns="0" rIns="0" bIns="0" rtlCol="0" anchor="ctr">
            <a:normAutofit/>
          </a:bodyPr>
          <a:lstStyle/>
          <a:p>
            <a:pPr rtl="1" algn="r" indent="0" marL="0">
              <a:buNone/>
            </a:pPr>
            <a:r>
              <a:rPr lang="en-US" sz="1750" dirty="0">
                <a:solidFill>
                  <a:srgbClr val="F2F4F4"/>
                </a:solidFill>
                <a:latin typeface="Noto Sans Arabic" pitchFamily="34" charset="0"/>
                <a:ea typeface="Noto Sans Arabic" pitchFamily="34" charset="-122"/>
                <a:cs typeface="Noto Sans Arabic" pitchFamily="34" charset="-120"/>
              </a:rPr>
              <a:t>ناهمگنی بالا؛ تعمیم محدود</a:t>
            </a:r>
            <a:endParaRPr lang="en-US" sz="1750" dirty="0"/>
          </a:p>
        </p:txBody>
      </p:sp>
      <p:sp>
        <p:nvSpPr>
          <p:cNvPr id="17" name="Shape 14"/>
          <p:cNvSpPr/>
          <p:nvPr/>
        </p:nvSpPr>
        <p:spPr>
          <a:xfrm>
            <a:off x="11064240" y="5148072"/>
            <a:ext cx="100584" cy="100584"/>
          </a:xfrm>
          <a:prstGeom prst="ellipse">
            <a:avLst/>
          </a:prstGeom>
          <a:solidFill>
            <a:srgbClr val="D9C8A6"/>
          </a:solidFill>
          <a:ln w="12700">
            <a:solidFill>
              <a:srgbClr val="D9C8A6">
                <a:alpha val="0"/>
              </a:srgbClr>
            </a:solidFill>
            <a:prstDash val="solid"/>
          </a:ln>
        </p:spPr>
      </p:sp>
      <p:sp>
        <p:nvSpPr>
          <p:cNvPr id="18" name="Text 15"/>
          <p:cNvSpPr/>
          <p:nvPr/>
        </p:nvSpPr>
        <p:spPr>
          <a:xfrm>
            <a:off x="7635240" y="5010912"/>
            <a:ext cx="3383280" cy="502920"/>
          </a:xfrm>
          <a:prstGeom prst="rect">
            <a:avLst/>
          </a:prstGeom>
          <a:noFill/>
          <a:ln/>
        </p:spPr>
        <p:txBody>
          <a:bodyPr wrap="square" lIns="0" tIns="0" rIns="0" bIns="0" rtlCol="0" anchor="ctr">
            <a:normAutofit/>
          </a:bodyPr>
          <a:lstStyle/>
          <a:p>
            <a:pPr rtl="1" algn="r" indent="0" marL="0">
              <a:buNone/>
            </a:pPr>
            <a:r>
              <a:rPr lang="en-US" sz="1750" dirty="0">
                <a:solidFill>
                  <a:srgbClr val="F2F4F4"/>
                </a:solidFill>
                <a:latin typeface="Noto Sans Arabic" pitchFamily="34" charset="0"/>
                <a:ea typeface="Noto Sans Arabic" pitchFamily="34" charset="-122"/>
                <a:cs typeface="Noto Sans Arabic" pitchFamily="34" charset="-120"/>
              </a:rPr>
              <a:t>نه شیوع، نه احتمال فردی، نه علیت</a:t>
            </a:r>
            <a:endParaRPr lang="en-US" sz="1750" dirty="0"/>
          </a:p>
        </p:txBody>
      </p:sp>
      <p:sp>
        <p:nvSpPr>
          <p:cNvPr id="19" name="Text 16"/>
          <p:cNvSpPr/>
          <p:nvPr/>
        </p:nvSpPr>
        <p:spPr>
          <a:xfrm>
            <a:off x="822960" y="5925312"/>
            <a:ext cx="10561320" cy="438912"/>
          </a:xfrm>
          <a:prstGeom prst="rect">
            <a:avLst/>
          </a:prstGeom>
          <a:noFill/>
          <a:ln/>
        </p:spPr>
        <p:txBody>
          <a:bodyPr wrap="square" lIns="0" tIns="0" rIns="0" bIns="0" rtlCol="0" anchor="ctr">
            <a:normAutofit/>
          </a:bodyPr>
          <a:lstStyle/>
          <a:p>
            <a:pPr rtl="1" algn="ctr" indent="0" marL="0">
              <a:buNone/>
            </a:pPr>
            <a:r>
              <a:rPr lang="en-US" sz="1800" b="1" dirty="0">
                <a:solidFill>
                  <a:srgbClr val="FFFFFF"/>
                </a:solidFill>
                <a:latin typeface="Noto Kufi Arabic" pitchFamily="34" charset="0"/>
                <a:ea typeface="Noto Kufi Arabic" pitchFamily="34" charset="-122"/>
                <a:cs typeface="Noto Kufi Arabic" pitchFamily="34" charset="-120"/>
              </a:rPr>
              <a:t>در موقعیت واقعی، ارزیابی ایمنی بر رفتار مستند، تهدید و کنترل قهرآمیز تکیه دارد.</a:t>
            </a:r>
            <a:endParaRPr lang="en-US" sz="1800" dirty="0"/>
          </a:p>
        </p:txBody>
      </p:sp>
      <p:sp>
        <p:nvSpPr>
          <p:cNvPr id="20" name="Text 17"/>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Oliver et al. (2024)؛ White et al. (2024) — ارتباط‌های کوچک و ناهمگن با انواع خشونت شریک</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61C"/>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خانواده، کار و فضای دیجیتال</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بافت، فرصتِ رفتار را تغییر می‌دهد</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16</a:t>
            </a:r>
            <a:endParaRPr lang="en-US" sz="1200" dirty="0"/>
          </a:p>
        </p:txBody>
      </p:sp>
      <p:pic>
        <p:nvPicPr>
          <p:cNvPr id="6" name="Image 0" descr="/mnt/data/_ppt_work/assets/workplace.png">    </p:cNvPr>
          <p:cNvPicPr>
            <a:picLocks noChangeAspect="1"/>
          </p:cNvPicPr>
          <p:nvPr/>
        </p:nvPicPr>
        <p:blipFill>
          <a:blip r:embed="rId1"/>
          <a:srcRect l="0" r="0" t="1877" b="1877"/>
          <a:stretch/>
        </p:blipFill>
        <p:spPr>
          <a:xfrm>
            <a:off x="411480" y="1325880"/>
            <a:ext cx="5486400" cy="2971800"/>
          </a:xfrm>
          <a:prstGeom prst="rect">
            <a:avLst/>
          </a:prstGeom>
        </p:spPr>
      </p:pic>
      <p:pic>
        <p:nvPicPr>
          <p:cNvPr id="7" name="Image 1" descr="/mnt/data/_ppt_work/assets/digital.png">    </p:cNvPr>
          <p:cNvPicPr>
            <a:picLocks noChangeAspect="1"/>
          </p:cNvPicPr>
          <p:nvPr/>
        </p:nvPicPr>
        <p:blipFill>
          <a:blip r:embed="rId2"/>
          <a:srcRect l="0" r="0" t="1877" b="1877"/>
          <a:stretch/>
        </p:blipFill>
        <p:spPr>
          <a:xfrm>
            <a:off x="6291072" y="1325880"/>
            <a:ext cx="5486400" cy="2971800"/>
          </a:xfrm>
          <a:prstGeom prst="rect">
            <a:avLst/>
          </a:prstGeom>
        </p:spPr>
      </p:pic>
      <p:sp>
        <p:nvSpPr>
          <p:cNvPr id="8" name="Text 4"/>
          <p:cNvSpPr/>
          <p:nvPr/>
        </p:nvSpPr>
        <p:spPr>
          <a:xfrm>
            <a:off x="548640" y="4526280"/>
            <a:ext cx="1554480" cy="347472"/>
          </a:xfrm>
          <a:prstGeom prst="rect">
            <a:avLst/>
          </a:prstGeom>
          <a:noFill/>
          <a:ln/>
        </p:spPr>
        <p:txBody>
          <a:bodyPr wrap="square" lIns="0" tIns="0" rIns="0" bIns="0" rtlCol="0" anchor="ctr">
            <a:normAutofit/>
          </a:bodyPr>
          <a:lstStyle/>
          <a:p>
            <a:pPr rtl="1" algn="r" indent="0" marL="0">
              <a:buNone/>
            </a:pPr>
            <a:r>
              <a:rPr lang="en-US" sz="2200" b="1" dirty="0">
                <a:solidFill>
                  <a:srgbClr val="6FA4A6"/>
                </a:solidFill>
                <a:latin typeface="Noto Kufi Arabic" pitchFamily="34" charset="0"/>
                <a:ea typeface="Noto Kufi Arabic" pitchFamily="34" charset="-122"/>
                <a:cs typeface="Noto Kufi Arabic" pitchFamily="34" charset="-120"/>
              </a:rPr>
              <a:t>محیط کار</a:t>
            </a:r>
            <a:endParaRPr lang="en-US" sz="2200" dirty="0"/>
          </a:p>
        </p:txBody>
      </p:sp>
      <p:sp>
        <p:nvSpPr>
          <p:cNvPr id="9" name="Text 5"/>
          <p:cNvSpPr/>
          <p:nvPr/>
        </p:nvSpPr>
        <p:spPr>
          <a:xfrm>
            <a:off x="2331720" y="4480560"/>
            <a:ext cx="3520440" cy="502920"/>
          </a:xfrm>
          <a:prstGeom prst="rect">
            <a:avLst/>
          </a:prstGeom>
          <a:noFill/>
          <a:ln/>
        </p:spPr>
        <p:txBody>
          <a:bodyPr wrap="square" lIns="0" tIns="0" rIns="0" bIns="0" rtlCol="0" anchor="ctr">
            <a:normAutofit/>
          </a:bodyPr>
          <a:lstStyle/>
          <a:p>
            <a:pPr rtl="1" algn="r" indent="0" marL="0">
              <a:buNone/>
            </a:pPr>
            <a:r>
              <a:rPr lang="en-US" sz="1550" dirty="0">
                <a:solidFill>
                  <a:srgbClr val="E1E6E8"/>
                </a:solidFill>
                <a:latin typeface="Noto Sans Arabic" pitchFamily="34" charset="0"/>
                <a:ea typeface="Noto Sans Arabic" pitchFamily="34" charset="-122"/>
                <a:cs typeface="Noto Sans Arabic" pitchFamily="34" charset="-120"/>
              </a:rPr>
              <a:t>قدرت، ارزیابی عملکرد، امکان شکایت و امنیت روانی</a:t>
            </a:r>
            <a:endParaRPr lang="en-US" sz="1550" dirty="0"/>
          </a:p>
        </p:txBody>
      </p:sp>
      <p:sp>
        <p:nvSpPr>
          <p:cNvPr id="10" name="Text 6"/>
          <p:cNvSpPr/>
          <p:nvPr/>
        </p:nvSpPr>
        <p:spPr>
          <a:xfrm>
            <a:off x="548640" y="5102352"/>
            <a:ext cx="5303520" cy="594360"/>
          </a:xfrm>
          <a:prstGeom prst="rect">
            <a:avLst/>
          </a:prstGeom>
          <a:noFill/>
          <a:ln/>
        </p:spPr>
        <p:txBody>
          <a:bodyPr wrap="square" lIns="0" tIns="0" rIns="0" bIns="0" rtlCol="0" anchor="ctr">
            <a:normAutofit/>
          </a:bodyPr>
          <a:lstStyle/>
          <a:p>
            <a:pPr rtl="1" algn="r" indent="0" marL="0">
              <a:buNone/>
            </a:pPr>
            <a:r>
              <a:rPr lang="en-US" sz="1550" b="1" dirty="0">
                <a:solidFill>
                  <a:srgbClr val="FFFFFF"/>
                </a:solidFill>
                <a:latin typeface="Noto Sans Arabic" pitchFamily="34" charset="0"/>
                <a:ea typeface="Noto Sans Arabic" pitchFamily="34" charset="-122"/>
                <a:cs typeface="Noto Sans Arabic" pitchFamily="34" charset="-120"/>
              </a:rPr>
              <a:t>نظارت و پاسخ‌گویی می‌توانند فرصت سوءاستفاده را محدود کنند.</a:t>
            </a:r>
            <a:endParaRPr lang="en-US" sz="1550" dirty="0"/>
          </a:p>
        </p:txBody>
      </p:sp>
      <p:sp>
        <p:nvSpPr>
          <p:cNvPr id="11" name="Text 7"/>
          <p:cNvSpPr/>
          <p:nvPr/>
        </p:nvSpPr>
        <p:spPr>
          <a:xfrm>
            <a:off x="6446520" y="4526280"/>
            <a:ext cx="1737360" cy="347472"/>
          </a:xfrm>
          <a:prstGeom prst="rect">
            <a:avLst/>
          </a:prstGeom>
          <a:noFill/>
          <a:ln/>
        </p:spPr>
        <p:txBody>
          <a:bodyPr wrap="square" lIns="0" tIns="0" rIns="0" bIns="0" rtlCol="0" anchor="ctr">
            <a:normAutofit/>
          </a:bodyPr>
          <a:lstStyle/>
          <a:p>
            <a:pPr rtl="1" algn="r" indent="0" marL="0">
              <a:buNone/>
            </a:pPr>
            <a:r>
              <a:rPr lang="en-US" sz="2200" b="1" dirty="0">
                <a:solidFill>
                  <a:srgbClr val="BFA9BB"/>
                </a:solidFill>
                <a:latin typeface="Noto Kufi Arabic" pitchFamily="34" charset="0"/>
                <a:ea typeface="Noto Kufi Arabic" pitchFamily="34" charset="-122"/>
                <a:cs typeface="Noto Kufi Arabic" pitchFamily="34" charset="-120"/>
              </a:rPr>
              <a:t>فضای دیجیتال</a:t>
            </a:r>
            <a:endParaRPr lang="en-US" sz="2200" dirty="0"/>
          </a:p>
        </p:txBody>
      </p:sp>
      <p:sp>
        <p:nvSpPr>
          <p:cNvPr id="12" name="Text 8"/>
          <p:cNvSpPr/>
          <p:nvPr/>
        </p:nvSpPr>
        <p:spPr>
          <a:xfrm>
            <a:off x="8321040" y="4480560"/>
            <a:ext cx="3291840" cy="594360"/>
          </a:xfrm>
          <a:prstGeom prst="rect">
            <a:avLst/>
          </a:prstGeom>
          <a:noFill/>
          <a:ln/>
        </p:spPr>
        <p:txBody>
          <a:bodyPr wrap="square" lIns="0" tIns="0" rIns="0" bIns="0" rtlCol="0" anchor="ctr">
            <a:normAutofit/>
          </a:bodyPr>
          <a:lstStyle/>
          <a:p>
            <a:pPr rtl="1" algn="r" indent="0" marL="0">
              <a:buNone/>
            </a:pPr>
            <a:r>
              <a:rPr lang="en-US" sz="1550" dirty="0">
                <a:solidFill>
                  <a:srgbClr val="E1E6E8"/>
                </a:solidFill>
                <a:latin typeface="Noto Sans Arabic" pitchFamily="34" charset="0"/>
                <a:ea typeface="Noto Sans Arabic" pitchFamily="34" charset="-122"/>
                <a:cs typeface="Noto Sans Arabic" pitchFamily="34" charset="-120"/>
              </a:rPr>
              <a:t>ناشناسی نسبی، بازخورد سریع، گسترهٔ مخاطب و تقویت الگوریتمی</a:t>
            </a:r>
            <a:endParaRPr lang="en-US" sz="1550" dirty="0"/>
          </a:p>
        </p:txBody>
      </p:sp>
      <p:sp>
        <p:nvSpPr>
          <p:cNvPr id="13" name="Text 9"/>
          <p:cNvSpPr/>
          <p:nvPr/>
        </p:nvSpPr>
        <p:spPr>
          <a:xfrm>
            <a:off x="6446520" y="5102352"/>
            <a:ext cx="5166360" cy="594360"/>
          </a:xfrm>
          <a:prstGeom prst="rect">
            <a:avLst/>
          </a:prstGeom>
          <a:noFill/>
          <a:ln/>
        </p:spPr>
        <p:txBody>
          <a:bodyPr wrap="square" lIns="0" tIns="0" rIns="0" bIns="0" rtlCol="0" anchor="ctr">
            <a:normAutofit/>
          </a:bodyPr>
          <a:lstStyle/>
          <a:p>
            <a:pPr rtl="1" algn="r" indent="0" marL="0">
              <a:buNone/>
            </a:pPr>
            <a:r>
              <a:rPr lang="en-US" sz="1550" b="1" dirty="0">
                <a:solidFill>
                  <a:srgbClr val="FFFFFF"/>
                </a:solidFill>
                <a:latin typeface="Noto Sans Arabic" pitchFamily="34" charset="0"/>
                <a:ea typeface="Noto Sans Arabic" pitchFamily="34" charset="-122"/>
                <a:cs typeface="Noto Sans Arabic" pitchFamily="34" charset="-120"/>
              </a:rPr>
              <a:t>ترولینگ آزارگرانه با نقد تند یا شوخی رضایت‌مندانه یکسان نیست.</a:t>
            </a:r>
            <a:endParaRPr lang="en-US" sz="1550" dirty="0"/>
          </a:p>
        </p:txBody>
      </p:sp>
      <p:sp>
        <p:nvSpPr>
          <p:cNvPr id="14" name="Text 10"/>
          <p:cNvSpPr/>
          <p:nvPr/>
        </p:nvSpPr>
        <p:spPr>
          <a:xfrm>
            <a:off x="1234440" y="5897880"/>
            <a:ext cx="9692640" cy="347472"/>
          </a:xfrm>
          <a:prstGeom prst="rect">
            <a:avLst/>
          </a:prstGeom>
          <a:noFill/>
          <a:ln/>
        </p:spPr>
        <p:txBody>
          <a:bodyPr wrap="square" lIns="0" tIns="0" rIns="0" bIns="0" rtlCol="0" anchor="ctr">
            <a:normAutofit/>
          </a:bodyPr>
          <a:lstStyle/>
          <a:p>
            <a:pPr rtl="1" algn="ctr" indent="0" marL="0">
              <a:buNone/>
            </a:pPr>
            <a:r>
              <a:rPr lang="en-US" sz="1750" b="1" dirty="0">
                <a:solidFill>
                  <a:srgbClr val="D9C8A6"/>
                </a:solidFill>
                <a:latin typeface="Noto Kufi Arabic" pitchFamily="34" charset="0"/>
                <a:ea typeface="Noto Kufi Arabic" pitchFamily="34" charset="-122"/>
                <a:cs typeface="Noto Kufi Arabic" pitchFamily="34" charset="-120"/>
              </a:rPr>
              <a:t>در خانواده و دوستی نیز امکان خروج، وابستگی و هزینهٔ مخالفت متفاوت است.</a:t>
            </a:r>
            <a:endParaRPr lang="en-US" sz="1750" dirty="0"/>
          </a:p>
        </p:txBody>
      </p:sp>
      <p:sp>
        <p:nvSpPr>
          <p:cNvPr id="15" name="Text 11"/>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فصل ۶: مقایسهٔ بافت‌های روابط بین‌فردی و مکانیزم‌های محیط آنلاین</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شواهد سازمانی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محیط کار: قدرت، قلدری و امنیت روانی</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17</a:t>
            </a:r>
            <a:endParaRPr lang="en-US" sz="1200" dirty="0"/>
          </a:p>
        </p:txBody>
      </p:sp>
      <p:sp>
        <p:nvSpPr>
          <p:cNvPr id="6" name="Shape 4"/>
          <p:cNvSpPr/>
          <p:nvPr/>
        </p:nvSpPr>
        <p:spPr>
          <a:xfrm>
            <a:off x="685800" y="1325880"/>
            <a:ext cx="6537960" cy="4434840"/>
          </a:xfrm>
          <a:prstGeom prst="roundRect">
            <a:avLst>
              <a:gd name="adj" fmla="val 1649"/>
            </a:avLst>
          </a:prstGeom>
          <a:solidFill>
            <a:srgbClr val="F8F8F6"/>
          </a:solidFill>
          <a:ln w="10160">
            <a:solidFill>
              <a:srgbClr val="D7DEDF"/>
            </a:solidFill>
            <a:prstDash val="solid"/>
          </a:ln>
          <a:effectLst>
            <a:outerShdw sx="100000" sy="100000" kx="0" ky="0" algn="bl" rotWithShape="0" blurRad="660767388140000000000" dist="330383694070000000000" dir="3.4992e+25">
              <a:srgbClr val="000000">
                <a:alpha val="1.8e+24"/>
              </a:srgbClr>
            </a:outerShdw>
          </a:effectLst>
        </p:spPr>
      </p:sp>
      <p:pic>
        <p:nvPicPr>
          <p:cNvPr id="7" name="Image 0" descr="/mnt/data/_ppt_work/assets/image12.png">    </p:cNvPr>
          <p:cNvPicPr>
            <a:picLocks noChangeAspect="1"/>
          </p:cNvPicPr>
          <p:nvPr/>
        </p:nvPicPr>
        <p:blipFill>
          <a:blip r:embed="rId1"/>
          <a:stretch>
            <a:fillRect/>
          </a:stretch>
        </p:blipFill>
        <p:spPr>
          <a:xfrm>
            <a:off x="896112" y="1596309"/>
            <a:ext cx="6126480" cy="3016157"/>
          </a:xfrm>
          <a:prstGeom prst="rect">
            <a:avLst/>
          </a:prstGeom>
        </p:spPr>
      </p:pic>
      <p:sp>
        <p:nvSpPr>
          <p:cNvPr id="8" name="Text 5"/>
          <p:cNvSpPr/>
          <p:nvPr/>
        </p:nvSpPr>
        <p:spPr>
          <a:xfrm>
            <a:off x="1143000" y="4736592"/>
            <a:ext cx="5486400" cy="292608"/>
          </a:xfrm>
          <a:prstGeom prst="rect">
            <a:avLst/>
          </a:prstGeom>
          <a:noFill/>
          <a:ln/>
        </p:spPr>
        <p:txBody>
          <a:bodyPr wrap="square" lIns="0" tIns="0" rIns="0" bIns="0" rtlCol="0" anchor="ctr">
            <a:normAutofit/>
          </a:bodyPr>
          <a:lstStyle/>
          <a:p>
            <a:pPr rtl="1" algn="ctr" indent="0" marL="0">
              <a:buNone/>
            </a:pPr>
            <a:r>
              <a:rPr lang="en-US" sz="1340" b="1" dirty="0">
                <a:solidFill>
                  <a:srgbClr val="6D7479"/>
                </a:solidFill>
                <a:latin typeface="Noto Sans Arabic" pitchFamily="34" charset="0"/>
                <a:ea typeface="Noto Sans Arabic" pitchFamily="34" charset="-122"/>
                <a:cs typeface="Noto Sans Arabic" pitchFamily="34" charset="-120"/>
              </a:rPr>
              <a:t>Sui et al. (2026)  |  مرور ۱۶ مطالعه</a:t>
            </a:r>
            <a:endParaRPr lang="en-US" sz="1340" dirty="0"/>
          </a:p>
        </p:txBody>
      </p:sp>
      <p:sp>
        <p:nvSpPr>
          <p:cNvPr id="9" name="Text 6"/>
          <p:cNvSpPr/>
          <p:nvPr/>
        </p:nvSpPr>
        <p:spPr>
          <a:xfrm>
            <a:off x="8549640" y="1463040"/>
            <a:ext cx="1051560" cy="292608"/>
          </a:xfrm>
          <a:prstGeom prst="rect">
            <a:avLst/>
          </a:prstGeom>
          <a:noFill/>
          <a:ln/>
        </p:spPr>
        <p:txBody>
          <a:bodyPr wrap="square" lIns="0" tIns="0" rIns="0" bIns="0" rtlCol="0" anchor="ctr">
            <a:normAutofit/>
          </a:bodyPr>
          <a:lstStyle/>
          <a:p>
            <a:pPr rtl="1" algn="ctr" indent="0" marL="0">
              <a:buNone/>
            </a:pPr>
            <a:r>
              <a:rPr lang="en-US" sz="1320" b="1" dirty="0">
                <a:solidFill>
                  <a:srgbClr val="6D7479"/>
                </a:solidFill>
                <a:latin typeface="Noto Sans Arabic" pitchFamily="34" charset="0"/>
                <a:ea typeface="Noto Sans Arabic" pitchFamily="34" charset="-122"/>
                <a:cs typeface="Noto Sans Arabic" pitchFamily="34" charset="-120"/>
              </a:rPr>
              <a:t>r تلفیقی</a:t>
            </a:r>
            <a:endParaRPr lang="en-US" sz="1320" dirty="0"/>
          </a:p>
        </p:txBody>
      </p:sp>
      <p:sp>
        <p:nvSpPr>
          <p:cNvPr id="10" name="Text 7"/>
          <p:cNvSpPr/>
          <p:nvPr/>
        </p:nvSpPr>
        <p:spPr>
          <a:xfrm>
            <a:off x="10241280" y="1463040"/>
            <a:ext cx="731520" cy="292608"/>
          </a:xfrm>
          <a:prstGeom prst="rect">
            <a:avLst/>
          </a:prstGeom>
          <a:noFill/>
          <a:ln/>
        </p:spPr>
        <p:txBody>
          <a:bodyPr wrap="square" lIns="0" tIns="0" rIns="0" bIns="0" rtlCol="0" anchor="ctr">
            <a:normAutofit/>
          </a:bodyPr>
          <a:lstStyle/>
          <a:p>
            <a:pPr rtl="1" algn="ctr" indent="0" marL="0">
              <a:buNone/>
            </a:pPr>
            <a:r>
              <a:rPr lang="en-US" sz="1320" b="1" dirty="0">
                <a:solidFill>
                  <a:srgbClr val="6D7479"/>
                </a:solidFill>
                <a:latin typeface="Noto Sans Arabic" pitchFamily="34" charset="0"/>
                <a:ea typeface="Noto Sans Arabic" pitchFamily="34" charset="-122"/>
                <a:cs typeface="Noto Sans Arabic" pitchFamily="34" charset="-120"/>
              </a:rPr>
              <a:t>I²</a:t>
            </a:r>
            <a:endParaRPr lang="en-US" sz="1320" dirty="0"/>
          </a:p>
        </p:txBody>
      </p:sp>
      <p:sp>
        <p:nvSpPr>
          <p:cNvPr id="11" name="Text 8"/>
          <p:cNvSpPr/>
          <p:nvPr/>
        </p:nvSpPr>
        <p:spPr>
          <a:xfrm>
            <a:off x="7360920" y="1938528"/>
            <a:ext cx="1417320" cy="365760"/>
          </a:xfrm>
          <a:prstGeom prst="rect">
            <a:avLst/>
          </a:prstGeom>
          <a:noFill/>
          <a:ln/>
        </p:spPr>
        <p:txBody>
          <a:bodyPr wrap="square" lIns="0" tIns="0" rIns="0" bIns="0" rtlCol="0" anchor="ctr">
            <a:normAutofit/>
          </a:bodyPr>
          <a:lstStyle/>
          <a:p>
            <a:pPr rtl="1" algn="r" indent="0" marL="0">
              <a:buNone/>
            </a:pPr>
            <a:r>
              <a:rPr lang="en-US" sz="1520" b="1" dirty="0">
                <a:solidFill>
                  <a:srgbClr val="172027"/>
                </a:solidFill>
                <a:latin typeface="Noto Kufi Arabic" pitchFamily="34" charset="0"/>
                <a:ea typeface="Noto Kufi Arabic" pitchFamily="34" charset="-122"/>
                <a:cs typeface="Noto Kufi Arabic" pitchFamily="34" charset="-120"/>
              </a:rPr>
              <a:t>روان‌آزاری</a:t>
            </a:r>
            <a:endParaRPr lang="en-US" sz="1520" dirty="0"/>
          </a:p>
        </p:txBody>
      </p:sp>
      <p:sp>
        <p:nvSpPr>
          <p:cNvPr id="12" name="Text 9"/>
          <p:cNvSpPr/>
          <p:nvPr/>
        </p:nvSpPr>
        <p:spPr>
          <a:xfrm>
            <a:off x="8796528" y="1938528"/>
            <a:ext cx="777240" cy="365760"/>
          </a:xfrm>
          <a:prstGeom prst="rect">
            <a:avLst/>
          </a:prstGeom>
          <a:noFill/>
          <a:ln/>
        </p:spPr>
        <p:txBody>
          <a:bodyPr wrap="square" lIns="0" tIns="0" rIns="0" bIns="0" rtlCol="0" anchor="ctr">
            <a:normAutofit/>
          </a:bodyPr>
          <a:lstStyle/>
          <a:p>
            <a:pPr rtl="1" algn="ctr" indent="0" marL="0">
              <a:buNone/>
            </a:pPr>
            <a:r>
              <a:rPr lang="en-US" sz="1720" b="1" dirty="0">
                <a:solidFill>
                  <a:srgbClr val="2B6F73"/>
                </a:solidFill>
                <a:latin typeface="Noto Kufi Arabic" pitchFamily="34" charset="0"/>
                <a:ea typeface="Noto Kufi Arabic" pitchFamily="34" charset="-122"/>
                <a:cs typeface="Noto Kufi Arabic" pitchFamily="34" charset="-120"/>
              </a:rPr>
              <a:t>۰٫۵۲۷</a:t>
            </a:r>
            <a:endParaRPr lang="en-US" sz="1720" dirty="0"/>
          </a:p>
        </p:txBody>
      </p:sp>
      <p:sp>
        <p:nvSpPr>
          <p:cNvPr id="13" name="Text 10"/>
          <p:cNvSpPr/>
          <p:nvPr/>
        </p:nvSpPr>
        <p:spPr>
          <a:xfrm>
            <a:off x="10195560" y="1938528"/>
            <a:ext cx="777240" cy="365760"/>
          </a:xfrm>
          <a:prstGeom prst="rect">
            <a:avLst/>
          </a:prstGeom>
          <a:noFill/>
          <a:ln/>
        </p:spPr>
        <p:txBody>
          <a:bodyPr wrap="square" lIns="0" tIns="0" rIns="0" bIns="0" rtlCol="0" anchor="ctr">
            <a:normAutofit/>
          </a:bodyPr>
          <a:lstStyle/>
          <a:p>
            <a:pPr rtl="1" algn="ctr" indent="0" marL="0">
              <a:buNone/>
            </a:pPr>
            <a:r>
              <a:rPr lang="en-US" sz="1720" b="1" dirty="0">
                <a:solidFill>
                  <a:srgbClr val="9D5D60"/>
                </a:solidFill>
                <a:latin typeface="Noto Kufi Arabic" pitchFamily="34" charset="0"/>
                <a:ea typeface="Noto Kufi Arabic" pitchFamily="34" charset="-122"/>
                <a:cs typeface="Noto Kufi Arabic" pitchFamily="34" charset="-120"/>
              </a:rPr>
              <a:t>۹۷٫۷٪</a:t>
            </a:r>
            <a:endParaRPr lang="en-US" sz="1720" dirty="0"/>
          </a:p>
        </p:txBody>
      </p:sp>
      <p:sp>
        <p:nvSpPr>
          <p:cNvPr id="14" name="Text 11"/>
          <p:cNvSpPr/>
          <p:nvPr/>
        </p:nvSpPr>
        <p:spPr>
          <a:xfrm>
            <a:off x="7360920" y="2788920"/>
            <a:ext cx="1417320" cy="365760"/>
          </a:xfrm>
          <a:prstGeom prst="rect">
            <a:avLst/>
          </a:prstGeom>
          <a:noFill/>
          <a:ln/>
        </p:spPr>
        <p:txBody>
          <a:bodyPr wrap="square" lIns="0" tIns="0" rIns="0" bIns="0" rtlCol="0" anchor="ctr">
            <a:normAutofit/>
          </a:bodyPr>
          <a:lstStyle/>
          <a:p>
            <a:pPr rtl="1" algn="r" indent="0" marL="0">
              <a:buNone/>
            </a:pPr>
            <a:r>
              <a:rPr lang="en-US" sz="1520" b="1" dirty="0">
                <a:solidFill>
                  <a:srgbClr val="172027"/>
                </a:solidFill>
                <a:latin typeface="Noto Kufi Arabic" pitchFamily="34" charset="0"/>
                <a:ea typeface="Noto Kufi Arabic" pitchFamily="34" charset="-122"/>
                <a:cs typeface="Noto Kufi Arabic" pitchFamily="34" charset="-120"/>
              </a:rPr>
              <a:t>خودشیفتگی</a:t>
            </a:r>
            <a:endParaRPr lang="en-US" sz="1520" dirty="0"/>
          </a:p>
        </p:txBody>
      </p:sp>
      <p:sp>
        <p:nvSpPr>
          <p:cNvPr id="15" name="Text 12"/>
          <p:cNvSpPr/>
          <p:nvPr/>
        </p:nvSpPr>
        <p:spPr>
          <a:xfrm>
            <a:off x="8796528" y="2788920"/>
            <a:ext cx="777240" cy="365760"/>
          </a:xfrm>
          <a:prstGeom prst="rect">
            <a:avLst/>
          </a:prstGeom>
          <a:noFill/>
          <a:ln/>
        </p:spPr>
        <p:txBody>
          <a:bodyPr wrap="square" lIns="0" tIns="0" rIns="0" bIns="0" rtlCol="0" anchor="ctr">
            <a:normAutofit/>
          </a:bodyPr>
          <a:lstStyle/>
          <a:p>
            <a:pPr rtl="1" algn="ctr" indent="0" marL="0">
              <a:buNone/>
            </a:pPr>
            <a:r>
              <a:rPr lang="en-US" sz="1720" b="1" dirty="0">
                <a:solidFill>
                  <a:srgbClr val="7BA3B2"/>
                </a:solidFill>
                <a:latin typeface="Noto Kufi Arabic" pitchFamily="34" charset="0"/>
                <a:ea typeface="Noto Kufi Arabic" pitchFamily="34" charset="-122"/>
                <a:cs typeface="Noto Kufi Arabic" pitchFamily="34" charset="-120"/>
              </a:rPr>
              <a:t>۰٫۳۹۷</a:t>
            </a:r>
            <a:endParaRPr lang="en-US" sz="1720" dirty="0"/>
          </a:p>
        </p:txBody>
      </p:sp>
      <p:sp>
        <p:nvSpPr>
          <p:cNvPr id="16" name="Text 13"/>
          <p:cNvSpPr/>
          <p:nvPr/>
        </p:nvSpPr>
        <p:spPr>
          <a:xfrm>
            <a:off x="10195560" y="2788920"/>
            <a:ext cx="777240" cy="365760"/>
          </a:xfrm>
          <a:prstGeom prst="rect">
            <a:avLst/>
          </a:prstGeom>
          <a:noFill/>
          <a:ln/>
        </p:spPr>
        <p:txBody>
          <a:bodyPr wrap="square" lIns="0" tIns="0" rIns="0" bIns="0" rtlCol="0" anchor="ctr">
            <a:normAutofit/>
          </a:bodyPr>
          <a:lstStyle/>
          <a:p>
            <a:pPr rtl="1" algn="ctr" indent="0" marL="0">
              <a:buNone/>
            </a:pPr>
            <a:r>
              <a:rPr lang="en-US" sz="1720" b="1" dirty="0">
                <a:solidFill>
                  <a:srgbClr val="9D5D60"/>
                </a:solidFill>
                <a:latin typeface="Noto Kufi Arabic" pitchFamily="34" charset="0"/>
                <a:ea typeface="Noto Kufi Arabic" pitchFamily="34" charset="-122"/>
                <a:cs typeface="Noto Kufi Arabic" pitchFamily="34" charset="-120"/>
              </a:rPr>
              <a:t>۹۳٫۴٪</a:t>
            </a:r>
            <a:endParaRPr lang="en-US" sz="1720" dirty="0"/>
          </a:p>
        </p:txBody>
      </p:sp>
      <p:sp>
        <p:nvSpPr>
          <p:cNvPr id="17" name="Text 14"/>
          <p:cNvSpPr/>
          <p:nvPr/>
        </p:nvSpPr>
        <p:spPr>
          <a:xfrm>
            <a:off x="7360920" y="3639312"/>
            <a:ext cx="1417320" cy="365760"/>
          </a:xfrm>
          <a:prstGeom prst="rect">
            <a:avLst/>
          </a:prstGeom>
          <a:noFill/>
          <a:ln/>
        </p:spPr>
        <p:txBody>
          <a:bodyPr wrap="square" lIns="0" tIns="0" rIns="0" bIns="0" rtlCol="0" anchor="ctr">
            <a:normAutofit/>
          </a:bodyPr>
          <a:lstStyle/>
          <a:p>
            <a:pPr rtl="1" algn="r" indent="0" marL="0">
              <a:buNone/>
            </a:pPr>
            <a:r>
              <a:rPr lang="en-US" sz="1520" b="1" dirty="0">
                <a:solidFill>
                  <a:srgbClr val="172027"/>
                </a:solidFill>
                <a:latin typeface="Noto Kufi Arabic" pitchFamily="34" charset="0"/>
                <a:ea typeface="Noto Kufi Arabic" pitchFamily="34" charset="-122"/>
                <a:cs typeface="Noto Kufi Arabic" pitchFamily="34" charset="-120"/>
              </a:rPr>
              <a:t>ماکیاولیسم</a:t>
            </a:r>
            <a:endParaRPr lang="en-US" sz="1520" dirty="0"/>
          </a:p>
        </p:txBody>
      </p:sp>
      <p:sp>
        <p:nvSpPr>
          <p:cNvPr id="18" name="Text 15"/>
          <p:cNvSpPr/>
          <p:nvPr/>
        </p:nvSpPr>
        <p:spPr>
          <a:xfrm>
            <a:off x="8796528" y="3639312"/>
            <a:ext cx="777240" cy="365760"/>
          </a:xfrm>
          <a:prstGeom prst="rect">
            <a:avLst/>
          </a:prstGeom>
          <a:noFill/>
          <a:ln/>
        </p:spPr>
        <p:txBody>
          <a:bodyPr wrap="square" lIns="0" tIns="0" rIns="0" bIns="0" rtlCol="0" anchor="ctr">
            <a:normAutofit/>
          </a:bodyPr>
          <a:lstStyle/>
          <a:p>
            <a:pPr rtl="1" algn="ctr" indent="0" marL="0">
              <a:buNone/>
            </a:pPr>
            <a:r>
              <a:rPr lang="en-US" sz="1720" b="1" dirty="0">
                <a:solidFill>
                  <a:srgbClr val="76566F"/>
                </a:solidFill>
                <a:latin typeface="Noto Kufi Arabic" pitchFamily="34" charset="0"/>
                <a:ea typeface="Noto Kufi Arabic" pitchFamily="34" charset="-122"/>
                <a:cs typeface="Noto Kufi Arabic" pitchFamily="34" charset="-120"/>
              </a:rPr>
              <a:t>۰٫۳۴۵</a:t>
            </a:r>
            <a:endParaRPr lang="en-US" sz="1720" dirty="0"/>
          </a:p>
        </p:txBody>
      </p:sp>
      <p:sp>
        <p:nvSpPr>
          <p:cNvPr id="19" name="Text 16"/>
          <p:cNvSpPr/>
          <p:nvPr/>
        </p:nvSpPr>
        <p:spPr>
          <a:xfrm>
            <a:off x="10195560" y="3639312"/>
            <a:ext cx="777240" cy="365760"/>
          </a:xfrm>
          <a:prstGeom prst="rect">
            <a:avLst/>
          </a:prstGeom>
          <a:noFill/>
          <a:ln/>
        </p:spPr>
        <p:txBody>
          <a:bodyPr wrap="square" lIns="0" tIns="0" rIns="0" bIns="0" rtlCol="0" anchor="ctr">
            <a:normAutofit/>
          </a:bodyPr>
          <a:lstStyle/>
          <a:p>
            <a:pPr rtl="1" algn="ctr" indent="0" marL="0">
              <a:buNone/>
            </a:pPr>
            <a:r>
              <a:rPr lang="en-US" sz="1720" b="1" dirty="0">
                <a:solidFill>
                  <a:srgbClr val="9D5D60"/>
                </a:solidFill>
                <a:latin typeface="Noto Kufi Arabic" pitchFamily="34" charset="0"/>
                <a:ea typeface="Noto Kufi Arabic" pitchFamily="34" charset="-122"/>
                <a:cs typeface="Noto Kufi Arabic" pitchFamily="34" charset="-120"/>
              </a:rPr>
              <a:t>۹۵٫۴٪</a:t>
            </a:r>
            <a:endParaRPr lang="en-US" sz="1720" dirty="0"/>
          </a:p>
        </p:txBody>
      </p:sp>
      <p:sp>
        <p:nvSpPr>
          <p:cNvPr id="20" name="Shape 17"/>
          <p:cNvSpPr/>
          <p:nvPr/>
        </p:nvSpPr>
        <p:spPr>
          <a:xfrm>
            <a:off x="7360920" y="4663440"/>
            <a:ext cx="3840480" cy="1078992"/>
          </a:xfrm>
          <a:prstGeom prst="roundRect">
            <a:avLst>
              <a:gd name="adj" fmla="val 6780"/>
            </a:avLst>
          </a:prstGeom>
          <a:solidFill>
            <a:srgbClr val="EDF1EF"/>
          </a:solidFill>
          <a:ln w="10160">
            <a:solidFill>
              <a:srgbClr val="D2DDDA"/>
            </a:solidFill>
            <a:prstDash val="solid"/>
          </a:ln>
        </p:spPr>
      </p:sp>
      <p:sp>
        <p:nvSpPr>
          <p:cNvPr id="21" name="Text 18"/>
          <p:cNvSpPr/>
          <p:nvPr/>
        </p:nvSpPr>
        <p:spPr>
          <a:xfrm>
            <a:off x="7543800" y="4828032"/>
            <a:ext cx="3474720" cy="713232"/>
          </a:xfrm>
          <a:prstGeom prst="rect">
            <a:avLst/>
          </a:prstGeom>
          <a:noFill/>
          <a:ln/>
        </p:spPr>
        <p:txBody>
          <a:bodyPr wrap="square" lIns="0" tIns="0" rIns="0" bIns="0" rtlCol="0" anchor="ctr">
            <a:normAutofit/>
          </a:bodyPr>
          <a:lstStyle/>
          <a:p>
            <a:pPr rtl="1" algn="ctr" indent="0" marL="0">
              <a:buNone/>
            </a:pPr>
            <a:r>
              <a:rPr lang="en-US" sz="1550" b="1" dirty="0">
                <a:solidFill>
                  <a:srgbClr val="172027"/>
                </a:solidFill>
                <a:latin typeface="Noto Sans Arabic" pitchFamily="34" charset="0"/>
                <a:ea typeface="Noto Sans Arabic" pitchFamily="34" charset="-122"/>
                <a:cs typeface="Noto Sans Arabic" pitchFamily="34" charset="-120"/>
              </a:rPr>
              <a:t>ناهمگنی بسیار بالا و پیامد ترکیبی گسترده است؛ ضرایب، احتمال قلدریِ یک مدیر یا کارمند را تعیین نمی‌کنند.</a:t>
            </a:r>
            <a:endParaRPr lang="en-US" sz="1550" dirty="0"/>
          </a:p>
        </p:txBody>
      </p:sp>
      <p:sp>
        <p:nvSpPr>
          <p:cNvPr id="22" name="Text 19"/>
          <p:cNvSpPr/>
          <p:nvPr/>
        </p:nvSpPr>
        <p:spPr>
          <a:xfrm>
            <a:off x="822960" y="5989320"/>
            <a:ext cx="10469880" cy="365760"/>
          </a:xfrm>
          <a:prstGeom prst="rect">
            <a:avLst/>
          </a:prstGeom>
          <a:noFill/>
          <a:ln/>
        </p:spPr>
        <p:txBody>
          <a:bodyPr wrap="square" lIns="0" tIns="0" rIns="0" bIns="0" rtlCol="0" anchor="ctr">
            <a:normAutofit/>
          </a:bodyPr>
          <a:lstStyle/>
          <a:p>
            <a:pPr rtl="1" algn="ctr" indent="0" marL="0">
              <a:buNone/>
            </a:pPr>
            <a:r>
              <a:rPr lang="en-US" sz="1800" b="1" dirty="0">
                <a:solidFill>
                  <a:srgbClr val="2B6F73"/>
                </a:solidFill>
                <a:latin typeface="Noto Kufi Arabic" pitchFamily="34" charset="0"/>
                <a:ea typeface="Noto Kufi Arabic" pitchFamily="34" charset="-122"/>
                <a:cs typeface="Noto Kufi Arabic" pitchFamily="34" charset="-120"/>
              </a:rPr>
              <a:t>پیشگیری مؤثر: شفافیت تصمیم، مسیر مستقل شکایت و حفاظت از گزارش‌دهنده</a:t>
            </a:r>
            <a:endParaRPr lang="en-US" sz="1800" dirty="0"/>
          </a:p>
        </p:txBody>
      </p:sp>
      <p:sp>
        <p:nvSpPr>
          <p:cNvPr id="23" name="Text 20"/>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Sui et al. (2026) — قلدری، سرپرستی آزارگرانه و رفتارهای انحرافی بین‌فردی</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2B6F73"/>
                </a:solidFill>
                <a:latin typeface="Noto Kufi Arabic" pitchFamily="34" charset="0"/>
                <a:ea typeface="Noto Kufi Arabic" pitchFamily="34" charset="-122"/>
                <a:cs typeface="Noto Kufi Arabic" pitchFamily="34" charset="-120"/>
              </a:rPr>
              <a:t>سنجش و روایی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172027"/>
                </a:solidFill>
                <a:latin typeface="Noto Kufi Arabic" pitchFamily="34" charset="0"/>
                <a:ea typeface="Noto Kufi Arabic" pitchFamily="34" charset="-122"/>
                <a:cs typeface="Noto Kufi Arabic" pitchFamily="34" charset="-120"/>
              </a:rPr>
              <a:t>سنجش معتبر: ابزار کوتاه، تشخیص نیست</a:t>
            </a:r>
            <a:endParaRPr lang="en-US" sz="2750" dirty="0"/>
          </a:p>
        </p:txBody>
      </p:sp>
      <p:sp>
        <p:nvSpPr>
          <p:cNvPr id="4" name="Shape 2"/>
          <p:cNvSpPr/>
          <p:nvPr/>
        </p:nvSpPr>
        <p:spPr>
          <a:xfrm>
            <a:off x="640080" y="1078992"/>
            <a:ext cx="10927080" cy="0"/>
          </a:xfrm>
          <a:prstGeom prst="line">
            <a:avLst/>
          </a:prstGeom>
          <a:noFill/>
          <a:ln w="13970">
            <a:solidFill>
              <a:srgbClr val="CDD5D6"/>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2B6F73"/>
                </a:solidFill>
                <a:latin typeface="Noto Kufi Arabic" pitchFamily="34" charset="0"/>
                <a:ea typeface="Noto Kufi Arabic" pitchFamily="34" charset="-122"/>
                <a:cs typeface="Noto Kufi Arabic" pitchFamily="34" charset="-120"/>
              </a:rPr>
              <a:t>18</a:t>
            </a:r>
            <a:endParaRPr lang="en-US" sz="1200" dirty="0"/>
          </a:p>
        </p:txBody>
      </p:sp>
      <p:pic>
        <p:nvPicPr>
          <p:cNvPr id="6" name="Image 0" descr="/mnt/data/_ppt_work/assets/image14.png">    </p:cNvPr>
          <p:cNvPicPr>
            <a:picLocks noChangeAspect="1"/>
          </p:cNvPicPr>
          <p:nvPr/>
        </p:nvPicPr>
        <p:blipFill>
          <a:blip r:embed="rId1"/>
          <a:stretch>
            <a:fillRect/>
          </a:stretch>
        </p:blipFill>
        <p:spPr>
          <a:xfrm>
            <a:off x="1620203" y="1353312"/>
            <a:ext cx="4029075" cy="2148840"/>
          </a:xfrm>
          <a:prstGeom prst="rect">
            <a:avLst/>
          </a:prstGeom>
        </p:spPr>
      </p:pic>
      <p:sp>
        <p:nvSpPr>
          <p:cNvPr id="7" name="Text 4"/>
          <p:cNvSpPr/>
          <p:nvPr/>
        </p:nvSpPr>
        <p:spPr>
          <a:xfrm>
            <a:off x="1188720" y="3767328"/>
            <a:ext cx="4892040" cy="384048"/>
          </a:xfrm>
          <a:prstGeom prst="rect">
            <a:avLst/>
          </a:prstGeom>
          <a:noFill/>
          <a:ln/>
        </p:spPr>
        <p:txBody>
          <a:bodyPr wrap="square" lIns="0" tIns="0" rIns="0" bIns="0" rtlCol="0" anchor="ctr">
            <a:normAutofit/>
          </a:bodyPr>
          <a:lstStyle/>
          <a:p>
            <a:pPr rtl="1" algn="ctr" indent="0" marL="0">
              <a:buNone/>
            </a:pPr>
            <a:r>
              <a:rPr lang="en-US" sz="2000" b="1" dirty="0">
                <a:solidFill>
                  <a:srgbClr val="2B6F73"/>
                </a:solidFill>
                <a:latin typeface="Noto Kufi Arabic" pitchFamily="34" charset="0"/>
                <a:ea typeface="Noto Kufi Arabic" pitchFamily="34" charset="-122"/>
                <a:cs typeface="Noto Kufi Arabic" pitchFamily="34" charset="-120"/>
              </a:rPr>
              <a:t>مثلث‌سازی منابع داده</a:t>
            </a:r>
            <a:endParaRPr lang="en-US" sz="2000" dirty="0"/>
          </a:p>
        </p:txBody>
      </p:sp>
      <p:sp>
        <p:nvSpPr>
          <p:cNvPr id="8" name="Text 5"/>
          <p:cNvSpPr/>
          <p:nvPr/>
        </p:nvSpPr>
        <p:spPr>
          <a:xfrm>
            <a:off x="868680" y="4187952"/>
            <a:ext cx="5486400" cy="438912"/>
          </a:xfrm>
          <a:prstGeom prst="rect">
            <a:avLst/>
          </a:prstGeom>
          <a:noFill/>
          <a:ln/>
        </p:spPr>
        <p:txBody>
          <a:bodyPr wrap="square" lIns="0" tIns="0" rIns="0" bIns="0" rtlCol="0" anchor="ctr">
            <a:normAutofit/>
          </a:bodyPr>
          <a:lstStyle/>
          <a:p>
            <a:pPr rtl="1" algn="ctr" indent="0" marL="0">
              <a:buNone/>
            </a:pPr>
            <a:r>
              <a:rPr lang="en-US" sz="1650" b="1" dirty="0">
                <a:solidFill>
                  <a:srgbClr val="172027"/>
                </a:solidFill>
                <a:latin typeface="Noto Sans Arabic" pitchFamily="34" charset="0"/>
                <a:ea typeface="Noto Sans Arabic" pitchFamily="34" charset="-122"/>
                <a:cs typeface="Noto Sans Arabic" pitchFamily="34" charset="-120"/>
              </a:rPr>
              <a:t>خودگزارش  +  گزارش شریک  +  مشاهدهٔ رفتار  +  دادهٔ طولی</a:t>
            </a:r>
            <a:endParaRPr lang="en-US" sz="1650" dirty="0"/>
          </a:p>
        </p:txBody>
      </p:sp>
      <p:sp>
        <p:nvSpPr>
          <p:cNvPr id="9" name="Text 6"/>
          <p:cNvSpPr/>
          <p:nvPr/>
        </p:nvSpPr>
        <p:spPr>
          <a:xfrm>
            <a:off x="6903720" y="1417320"/>
            <a:ext cx="4297680" cy="384048"/>
          </a:xfrm>
          <a:prstGeom prst="rect">
            <a:avLst/>
          </a:prstGeom>
          <a:noFill/>
          <a:ln/>
        </p:spPr>
        <p:txBody>
          <a:bodyPr wrap="square" lIns="0" tIns="0" rIns="0" bIns="0" rtlCol="0" anchor="ctr">
            <a:normAutofit/>
          </a:bodyPr>
          <a:lstStyle/>
          <a:p>
            <a:pPr rtl="1" algn="r" indent="0" marL="0">
              <a:buNone/>
            </a:pPr>
            <a:r>
              <a:rPr lang="en-US" sz="2200" b="1" dirty="0">
                <a:solidFill>
                  <a:srgbClr val="76566F"/>
                </a:solidFill>
                <a:latin typeface="Noto Kufi Arabic" pitchFamily="34" charset="0"/>
                <a:ea typeface="Noto Kufi Arabic" pitchFamily="34" charset="-122"/>
                <a:cs typeface="Noto Kufi Arabic" pitchFamily="34" charset="-120"/>
              </a:rPr>
              <a:t>ابزارهای رایج</a:t>
            </a:r>
            <a:endParaRPr lang="en-US" sz="2200" dirty="0"/>
          </a:p>
        </p:txBody>
      </p:sp>
      <p:sp>
        <p:nvSpPr>
          <p:cNvPr id="10" name="Text 7"/>
          <p:cNvSpPr/>
          <p:nvPr/>
        </p:nvSpPr>
        <p:spPr>
          <a:xfrm>
            <a:off x="6903720" y="1965960"/>
            <a:ext cx="1554480" cy="310896"/>
          </a:xfrm>
          <a:prstGeom prst="rect">
            <a:avLst/>
          </a:prstGeom>
          <a:noFill/>
          <a:ln/>
        </p:spPr>
        <p:txBody>
          <a:bodyPr wrap="square" lIns="0" tIns="0" rIns="0" bIns="0" rtlCol="0" anchor="ctr">
            <a:normAutofit/>
          </a:bodyPr>
          <a:lstStyle/>
          <a:p>
            <a:pPr rtl="1" algn="l" indent="0" marL="0">
              <a:buNone/>
            </a:pPr>
            <a:r>
              <a:rPr lang="en-US" sz="1550" b="1" dirty="0">
                <a:solidFill>
                  <a:srgbClr val="2B6F73"/>
                </a:solidFill>
                <a:latin typeface="Noto Kufi Arabic" pitchFamily="34" charset="0"/>
                <a:ea typeface="Noto Kufi Arabic" pitchFamily="34" charset="-122"/>
                <a:cs typeface="Noto Kufi Arabic" pitchFamily="34" charset="-120"/>
              </a:rPr>
              <a:t>Dirty Dozen</a:t>
            </a:r>
            <a:endParaRPr lang="en-US" sz="1550" dirty="0"/>
          </a:p>
        </p:txBody>
      </p:sp>
      <p:sp>
        <p:nvSpPr>
          <p:cNvPr id="11" name="Text 8"/>
          <p:cNvSpPr/>
          <p:nvPr/>
        </p:nvSpPr>
        <p:spPr>
          <a:xfrm>
            <a:off x="8549640" y="1965960"/>
            <a:ext cx="2651760" cy="310896"/>
          </a:xfrm>
          <a:prstGeom prst="rect">
            <a:avLst/>
          </a:prstGeom>
          <a:noFill/>
          <a:ln/>
        </p:spPr>
        <p:txBody>
          <a:bodyPr wrap="square" lIns="0" tIns="0" rIns="0" bIns="0" rtlCol="0" anchor="ctr">
            <a:normAutofit/>
          </a:bodyPr>
          <a:lstStyle/>
          <a:p>
            <a:pPr rtl="1" algn="r" indent="0" marL="0">
              <a:buNone/>
            </a:pPr>
            <a:r>
              <a:rPr lang="en-US" sz="1450" dirty="0">
                <a:solidFill>
                  <a:srgbClr val="172027"/>
                </a:solidFill>
                <a:latin typeface="Noto Sans Arabic" pitchFamily="34" charset="0"/>
                <a:ea typeface="Noto Sans Arabic" pitchFamily="34" charset="-122"/>
                <a:cs typeface="Noto Sans Arabic" pitchFamily="34" charset="-120"/>
              </a:rPr>
              <a:t>۱۲ گویه؛ پوشش محدودتر</a:t>
            </a:r>
            <a:endParaRPr lang="en-US" sz="1450" dirty="0"/>
          </a:p>
        </p:txBody>
      </p:sp>
      <p:sp>
        <p:nvSpPr>
          <p:cNvPr id="12" name="Text 9"/>
          <p:cNvSpPr/>
          <p:nvPr/>
        </p:nvSpPr>
        <p:spPr>
          <a:xfrm>
            <a:off x="6903720" y="2624328"/>
            <a:ext cx="1554480" cy="310896"/>
          </a:xfrm>
          <a:prstGeom prst="rect">
            <a:avLst/>
          </a:prstGeom>
          <a:noFill/>
          <a:ln/>
        </p:spPr>
        <p:txBody>
          <a:bodyPr wrap="square" lIns="0" tIns="0" rIns="0" bIns="0" rtlCol="0" anchor="ctr">
            <a:normAutofit/>
          </a:bodyPr>
          <a:lstStyle/>
          <a:p>
            <a:pPr rtl="1" algn="l" indent="0" marL="0">
              <a:buNone/>
            </a:pPr>
            <a:r>
              <a:rPr lang="en-US" sz="1550" b="1" dirty="0">
                <a:solidFill>
                  <a:srgbClr val="76566F"/>
                </a:solidFill>
                <a:latin typeface="Noto Kufi Arabic" pitchFamily="34" charset="0"/>
                <a:ea typeface="Noto Kufi Arabic" pitchFamily="34" charset="-122"/>
                <a:cs typeface="Noto Kufi Arabic" pitchFamily="34" charset="-120"/>
              </a:rPr>
              <a:t>SD3</a:t>
            </a:r>
            <a:endParaRPr lang="en-US" sz="1550" dirty="0"/>
          </a:p>
        </p:txBody>
      </p:sp>
      <p:sp>
        <p:nvSpPr>
          <p:cNvPr id="13" name="Text 10"/>
          <p:cNvSpPr/>
          <p:nvPr/>
        </p:nvSpPr>
        <p:spPr>
          <a:xfrm>
            <a:off x="8549640" y="2624328"/>
            <a:ext cx="2651760" cy="310896"/>
          </a:xfrm>
          <a:prstGeom prst="rect">
            <a:avLst/>
          </a:prstGeom>
          <a:noFill/>
          <a:ln/>
        </p:spPr>
        <p:txBody>
          <a:bodyPr wrap="square" lIns="0" tIns="0" rIns="0" bIns="0" rtlCol="0" anchor="ctr">
            <a:normAutofit/>
          </a:bodyPr>
          <a:lstStyle/>
          <a:p>
            <a:pPr rtl="1" algn="r" indent="0" marL="0">
              <a:buNone/>
            </a:pPr>
            <a:r>
              <a:rPr lang="en-US" sz="1450" dirty="0">
                <a:solidFill>
                  <a:srgbClr val="172027"/>
                </a:solidFill>
                <a:latin typeface="Noto Sans Arabic" pitchFamily="34" charset="0"/>
                <a:ea typeface="Noto Sans Arabic" pitchFamily="34" charset="-122"/>
                <a:cs typeface="Noto Sans Arabic" pitchFamily="34" charset="-120"/>
              </a:rPr>
              <a:t>۲۷ گویه؛ سه زیرمقیاس</a:t>
            </a:r>
            <a:endParaRPr lang="en-US" sz="1450" dirty="0"/>
          </a:p>
        </p:txBody>
      </p:sp>
      <p:sp>
        <p:nvSpPr>
          <p:cNvPr id="14" name="Text 11"/>
          <p:cNvSpPr/>
          <p:nvPr/>
        </p:nvSpPr>
        <p:spPr>
          <a:xfrm>
            <a:off x="6903720" y="3282696"/>
            <a:ext cx="1554480" cy="310896"/>
          </a:xfrm>
          <a:prstGeom prst="rect">
            <a:avLst/>
          </a:prstGeom>
          <a:noFill/>
          <a:ln/>
        </p:spPr>
        <p:txBody>
          <a:bodyPr wrap="square" lIns="0" tIns="0" rIns="0" bIns="0" rtlCol="0" anchor="ctr">
            <a:normAutofit/>
          </a:bodyPr>
          <a:lstStyle/>
          <a:p>
            <a:pPr rtl="1" algn="l" indent="0" marL="0">
              <a:buNone/>
            </a:pPr>
            <a:r>
              <a:rPr lang="en-US" sz="1550" b="1" dirty="0">
                <a:solidFill>
                  <a:srgbClr val="B59A62"/>
                </a:solidFill>
                <a:latin typeface="Noto Kufi Arabic" pitchFamily="34" charset="0"/>
                <a:ea typeface="Noto Kufi Arabic" pitchFamily="34" charset="-122"/>
                <a:cs typeface="Noto Kufi Arabic" pitchFamily="34" charset="-120"/>
              </a:rPr>
              <a:t>NPI</a:t>
            </a:r>
            <a:endParaRPr lang="en-US" sz="1550" dirty="0"/>
          </a:p>
        </p:txBody>
      </p:sp>
      <p:sp>
        <p:nvSpPr>
          <p:cNvPr id="15" name="Text 12"/>
          <p:cNvSpPr/>
          <p:nvPr/>
        </p:nvSpPr>
        <p:spPr>
          <a:xfrm>
            <a:off x="8549640" y="3282696"/>
            <a:ext cx="2651760" cy="310896"/>
          </a:xfrm>
          <a:prstGeom prst="rect">
            <a:avLst/>
          </a:prstGeom>
          <a:noFill/>
          <a:ln/>
        </p:spPr>
        <p:txBody>
          <a:bodyPr wrap="square" lIns="0" tIns="0" rIns="0" bIns="0" rtlCol="0" anchor="ctr">
            <a:normAutofit/>
          </a:bodyPr>
          <a:lstStyle/>
          <a:p>
            <a:pPr rtl="1" algn="r" indent="0" marL="0">
              <a:buNone/>
            </a:pPr>
            <a:r>
              <a:rPr lang="en-US" sz="1450" dirty="0">
                <a:solidFill>
                  <a:srgbClr val="172027"/>
                </a:solidFill>
                <a:latin typeface="Noto Sans Arabic" pitchFamily="34" charset="0"/>
                <a:ea typeface="Noto Sans Arabic" pitchFamily="34" charset="-122"/>
                <a:cs typeface="Noto Sans Arabic" pitchFamily="34" charset="-120"/>
              </a:rPr>
              <a:t>وجوه خودشیفتگی</a:t>
            </a:r>
            <a:endParaRPr lang="en-US" sz="1450" dirty="0"/>
          </a:p>
        </p:txBody>
      </p:sp>
      <p:sp>
        <p:nvSpPr>
          <p:cNvPr id="16" name="Text 13"/>
          <p:cNvSpPr/>
          <p:nvPr/>
        </p:nvSpPr>
        <p:spPr>
          <a:xfrm>
            <a:off x="6903720" y="3941064"/>
            <a:ext cx="1554480" cy="310896"/>
          </a:xfrm>
          <a:prstGeom prst="rect">
            <a:avLst/>
          </a:prstGeom>
          <a:noFill/>
          <a:ln/>
        </p:spPr>
        <p:txBody>
          <a:bodyPr wrap="square" lIns="0" tIns="0" rIns="0" bIns="0" rtlCol="0" anchor="ctr">
            <a:normAutofit/>
          </a:bodyPr>
          <a:lstStyle/>
          <a:p>
            <a:pPr rtl="1" algn="l" indent="0" marL="0">
              <a:buNone/>
            </a:pPr>
            <a:r>
              <a:rPr lang="en-US" sz="1550" b="1" dirty="0">
                <a:solidFill>
                  <a:srgbClr val="9D5D60"/>
                </a:solidFill>
                <a:latin typeface="Noto Kufi Arabic" pitchFamily="34" charset="0"/>
                <a:ea typeface="Noto Kufi Arabic" pitchFamily="34" charset="-122"/>
                <a:cs typeface="Noto Kufi Arabic" pitchFamily="34" charset="-120"/>
              </a:rPr>
              <a:t>SSIS / ASP</a:t>
            </a:r>
            <a:endParaRPr lang="en-US" sz="1550" dirty="0"/>
          </a:p>
        </p:txBody>
      </p:sp>
      <p:sp>
        <p:nvSpPr>
          <p:cNvPr id="17" name="Text 14"/>
          <p:cNvSpPr/>
          <p:nvPr/>
        </p:nvSpPr>
        <p:spPr>
          <a:xfrm>
            <a:off x="8549640" y="3941064"/>
            <a:ext cx="2651760" cy="310896"/>
          </a:xfrm>
          <a:prstGeom prst="rect">
            <a:avLst/>
          </a:prstGeom>
          <a:noFill/>
          <a:ln/>
        </p:spPr>
        <p:txBody>
          <a:bodyPr wrap="square" lIns="0" tIns="0" rIns="0" bIns="0" rtlCol="0" anchor="ctr">
            <a:normAutofit/>
          </a:bodyPr>
          <a:lstStyle/>
          <a:p>
            <a:pPr rtl="1" algn="r" indent="0" marL="0">
              <a:buNone/>
            </a:pPr>
            <a:r>
              <a:rPr lang="en-US" sz="1450" dirty="0">
                <a:solidFill>
                  <a:srgbClr val="172027"/>
                </a:solidFill>
                <a:latin typeface="Noto Sans Arabic" pitchFamily="34" charset="0"/>
                <a:ea typeface="Noto Sans Arabic" pitchFamily="34" charset="-122"/>
                <a:cs typeface="Noto Sans Arabic" pitchFamily="34" charset="-120"/>
              </a:rPr>
              <a:t>سادیسم روزمره</a:t>
            </a:r>
            <a:endParaRPr lang="en-US" sz="1450" dirty="0"/>
          </a:p>
        </p:txBody>
      </p:sp>
      <p:sp>
        <p:nvSpPr>
          <p:cNvPr id="18" name="Text 15"/>
          <p:cNvSpPr/>
          <p:nvPr/>
        </p:nvSpPr>
        <p:spPr>
          <a:xfrm>
            <a:off x="6903720" y="4599432"/>
            <a:ext cx="1554480" cy="310896"/>
          </a:xfrm>
          <a:prstGeom prst="rect">
            <a:avLst/>
          </a:prstGeom>
          <a:noFill/>
          <a:ln/>
        </p:spPr>
        <p:txBody>
          <a:bodyPr wrap="square" lIns="0" tIns="0" rIns="0" bIns="0" rtlCol="0" anchor="ctr">
            <a:normAutofit/>
          </a:bodyPr>
          <a:lstStyle/>
          <a:p>
            <a:pPr rtl="1" algn="l" indent="0" marL="0">
              <a:buNone/>
            </a:pPr>
            <a:r>
              <a:rPr lang="en-US" sz="1550" b="1" dirty="0">
                <a:solidFill>
                  <a:srgbClr val="5E8C76"/>
                </a:solidFill>
                <a:latin typeface="Noto Kufi Arabic" pitchFamily="34" charset="0"/>
                <a:ea typeface="Noto Kufi Arabic" pitchFamily="34" charset="-122"/>
                <a:cs typeface="Noto Kufi Arabic" pitchFamily="34" charset="-120"/>
              </a:rPr>
              <a:t>D-Factor</a:t>
            </a:r>
            <a:endParaRPr lang="en-US" sz="1550" dirty="0"/>
          </a:p>
        </p:txBody>
      </p:sp>
      <p:sp>
        <p:nvSpPr>
          <p:cNvPr id="19" name="Text 16"/>
          <p:cNvSpPr/>
          <p:nvPr/>
        </p:nvSpPr>
        <p:spPr>
          <a:xfrm>
            <a:off x="8549640" y="4599432"/>
            <a:ext cx="2651760" cy="310896"/>
          </a:xfrm>
          <a:prstGeom prst="rect">
            <a:avLst/>
          </a:prstGeom>
          <a:noFill/>
          <a:ln/>
        </p:spPr>
        <p:txBody>
          <a:bodyPr wrap="square" lIns="0" tIns="0" rIns="0" bIns="0" rtlCol="0" anchor="ctr">
            <a:normAutofit/>
          </a:bodyPr>
          <a:lstStyle/>
          <a:p>
            <a:pPr rtl="1" algn="r" indent="0" marL="0">
              <a:buNone/>
            </a:pPr>
            <a:r>
              <a:rPr lang="en-US" sz="1450" dirty="0">
                <a:solidFill>
                  <a:srgbClr val="172027"/>
                </a:solidFill>
                <a:latin typeface="Noto Sans Arabic" pitchFamily="34" charset="0"/>
                <a:ea typeface="Noto Sans Arabic" pitchFamily="34" charset="-122"/>
                <a:cs typeface="Noto Sans Arabic" pitchFamily="34" charset="-120"/>
              </a:rPr>
              <a:t>هستهٔ مشترک تاریک</a:t>
            </a:r>
            <a:endParaRPr lang="en-US" sz="1450" dirty="0"/>
          </a:p>
        </p:txBody>
      </p:sp>
      <p:sp>
        <p:nvSpPr>
          <p:cNvPr id="20" name="Shape 17"/>
          <p:cNvSpPr/>
          <p:nvPr/>
        </p:nvSpPr>
        <p:spPr>
          <a:xfrm>
            <a:off x="822960" y="4919472"/>
            <a:ext cx="10424160" cy="960120"/>
          </a:xfrm>
          <a:prstGeom prst="roundRect">
            <a:avLst>
              <a:gd name="adj" fmla="val 7619"/>
            </a:avLst>
          </a:prstGeom>
          <a:solidFill>
            <a:srgbClr val="F0E7E7"/>
          </a:solidFill>
          <a:ln w="10160">
            <a:solidFill>
              <a:srgbClr val="E2C9CA"/>
            </a:solidFill>
            <a:prstDash val="solid"/>
          </a:ln>
        </p:spPr>
      </p:sp>
      <p:sp>
        <p:nvSpPr>
          <p:cNvPr id="21" name="Text 18"/>
          <p:cNvSpPr/>
          <p:nvPr/>
        </p:nvSpPr>
        <p:spPr>
          <a:xfrm>
            <a:off x="1051560" y="5102352"/>
            <a:ext cx="9966960" cy="594360"/>
          </a:xfrm>
          <a:prstGeom prst="rect">
            <a:avLst/>
          </a:prstGeom>
          <a:noFill/>
          <a:ln/>
        </p:spPr>
        <p:txBody>
          <a:bodyPr wrap="square" lIns="0" tIns="0" rIns="0" bIns="0" rtlCol="0" anchor="ctr">
            <a:normAutofit/>
          </a:bodyPr>
          <a:lstStyle/>
          <a:p>
            <a:pPr rtl="1" algn="ctr" indent="0" marL="0">
              <a:buNone/>
            </a:pPr>
            <a:r>
              <a:rPr lang="en-US" sz="1650" b="1" dirty="0">
                <a:solidFill>
                  <a:srgbClr val="9D5D60"/>
                </a:solidFill>
                <a:latin typeface="Noto Sans Arabic" pitchFamily="34" charset="0"/>
                <a:ea typeface="Noto Sans Arabic" pitchFamily="34" charset="-122"/>
                <a:cs typeface="Noto Sans Arabic" pitchFamily="34" charset="-120"/>
              </a:rPr>
              <a:t>ترجمهٔ فارسی یا آلفای بالا به‌تنهایی کافی نیست: ساختار عاملی، روایی افتراقی، ناوردایی فرهنگی و ارتباط با رفتار واقعی باید آزموده شوند.</a:t>
            </a:r>
            <a:endParaRPr lang="en-US" sz="1650" dirty="0"/>
          </a:p>
        </p:txBody>
      </p:sp>
      <p:sp>
        <p:nvSpPr>
          <p:cNvPr id="22" name="Text 19"/>
          <p:cNvSpPr/>
          <p:nvPr/>
        </p:nvSpPr>
        <p:spPr>
          <a:xfrm>
            <a:off x="1051560" y="5989320"/>
            <a:ext cx="9966960" cy="347472"/>
          </a:xfrm>
          <a:prstGeom prst="rect">
            <a:avLst/>
          </a:prstGeom>
          <a:noFill/>
          <a:ln/>
        </p:spPr>
        <p:txBody>
          <a:bodyPr wrap="square" lIns="0" tIns="0" rIns="0" bIns="0" rtlCol="0" anchor="ctr">
            <a:normAutofit/>
          </a:bodyPr>
          <a:lstStyle/>
          <a:p>
            <a:pPr rtl="1" algn="ctr" indent="0" marL="0">
              <a:buNone/>
            </a:pPr>
            <a:r>
              <a:rPr lang="en-US" sz="1650" dirty="0">
                <a:solidFill>
                  <a:srgbClr val="172027"/>
                </a:solidFill>
                <a:latin typeface="Noto Sans Arabic" pitchFamily="34" charset="0"/>
                <a:ea typeface="Noto Sans Arabic" pitchFamily="34" charset="-122"/>
                <a:cs typeface="Noto Sans Arabic" pitchFamily="34" charset="-120"/>
              </a:rPr>
              <a:t>کاربرد درمانی، استخدامی یا خانوادگی نیازمند صلاحیت حرفه‌ای، محرمانگی و پرهیز از برچسب‌زنی است.</a:t>
            </a:r>
            <a:endParaRPr lang="en-US" sz="1650" dirty="0"/>
          </a:p>
        </p:txBody>
      </p:sp>
      <p:sp>
        <p:nvSpPr>
          <p:cNvPr id="23" name="Text 20"/>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6F787B"/>
                </a:solidFill>
                <a:latin typeface="Noto Sans Arabic" pitchFamily="34" charset="0"/>
                <a:ea typeface="Noto Sans Arabic" pitchFamily="34" charset="-122"/>
                <a:cs typeface="Noto Sans Arabic" pitchFamily="34" charset="-120"/>
              </a:rPr>
              <a:t>Jones &amp; Paulhus (2014)؛ Jonason &amp; Webster (2010) — ابزارهای پژوهشی، نه تشخیص بالینی</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61C"/>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اخلاق کاربرد</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پیشگیری و مداخله: رفتار، ایمنی، شواهد</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19</a:t>
            </a:r>
            <a:endParaRPr lang="en-US" sz="1200" dirty="0"/>
          </a:p>
        </p:txBody>
      </p:sp>
      <p:pic>
        <p:nvPicPr>
          <p:cNvPr id="6" name="Image 0" descr="/mnt/data/_ppt_work/assets/image15.png">    </p:cNvPr>
          <p:cNvPicPr>
            <a:picLocks noChangeAspect="1"/>
          </p:cNvPicPr>
          <p:nvPr/>
        </p:nvPicPr>
        <p:blipFill>
          <a:blip r:embed="rId1"/>
          <a:stretch>
            <a:fillRect/>
          </a:stretch>
        </p:blipFill>
        <p:spPr>
          <a:xfrm>
            <a:off x="4603433" y="1325880"/>
            <a:ext cx="3000375" cy="1600200"/>
          </a:xfrm>
          <a:prstGeom prst="rect">
            <a:avLst/>
          </a:prstGeom>
        </p:spPr>
      </p:pic>
      <p:sp>
        <p:nvSpPr>
          <p:cNvPr id="7" name="Text 4"/>
          <p:cNvSpPr/>
          <p:nvPr/>
        </p:nvSpPr>
        <p:spPr>
          <a:xfrm>
            <a:off x="8823960" y="3246120"/>
            <a:ext cx="2377440" cy="347472"/>
          </a:xfrm>
          <a:prstGeom prst="rect">
            <a:avLst/>
          </a:prstGeom>
          <a:noFill/>
          <a:ln/>
        </p:spPr>
        <p:txBody>
          <a:bodyPr wrap="square" lIns="0" tIns="0" rIns="0" bIns="0" rtlCol="0" anchor="ctr">
            <a:normAutofit/>
          </a:bodyPr>
          <a:lstStyle/>
          <a:p>
            <a:pPr rtl="1" algn="r" indent="0" marL="0">
              <a:buNone/>
            </a:pPr>
            <a:r>
              <a:rPr lang="en-US" sz="1900" b="1" dirty="0">
                <a:solidFill>
                  <a:srgbClr val="D9C8A6"/>
                </a:solidFill>
                <a:latin typeface="Noto Kufi Arabic" pitchFamily="34" charset="0"/>
                <a:ea typeface="Noto Kufi Arabic" pitchFamily="34" charset="-122"/>
                <a:cs typeface="Noto Kufi Arabic" pitchFamily="34" charset="-120"/>
              </a:rPr>
              <a:t>سه سطح اقدام</a:t>
            </a:r>
            <a:endParaRPr lang="en-US" sz="1900" dirty="0"/>
          </a:p>
        </p:txBody>
      </p:sp>
      <p:sp>
        <p:nvSpPr>
          <p:cNvPr id="8" name="Text 5"/>
          <p:cNvSpPr/>
          <p:nvPr/>
        </p:nvSpPr>
        <p:spPr>
          <a:xfrm>
            <a:off x="8046720" y="3703320"/>
            <a:ext cx="1828800" cy="310896"/>
          </a:xfrm>
          <a:prstGeom prst="rect">
            <a:avLst/>
          </a:prstGeom>
          <a:noFill/>
          <a:ln/>
        </p:spPr>
        <p:txBody>
          <a:bodyPr wrap="square" lIns="0" tIns="0" rIns="0" bIns="0" rtlCol="0" anchor="ctr">
            <a:normAutofit/>
          </a:bodyPr>
          <a:lstStyle/>
          <a:p>
            <a:pPr rtl="1" algn="r" indent="0" marL="0">
              <a:buNone/>
            </a:pPr>
            <a:r>
              <a:rPr lang="en-US" sz="1650" b="1" dirty="0">
                <a:solidFill>
                  <a:srgbClr val="6FA4A6"/>
                </a:solidFill>
                <a:latin typeface="Noto Kufi Arabic" pitchFamily="34" charset="0"/>
                <a:ea typeface="Noto Kufi Arabic" pitchFamily="34" charset="-122"/>
                <a:cs typeface="Noto Kufi Arabic" pitchFamily="34" charset="-120"/>
              </a:rPr>
              <a:t>مهارت فردی</a:t>
            </a:r>
            <a:endParaRPr lang="en-US" sz="1650" dirty="0"/>
          </a:p>
        </p:txBody>
      </p:sp>
      <p:sp>
        <p:nvSpPr>
          <p:cNvPr id="9" name="Text 6"/>
          <p:cNvSpPr/>
          <p:nvPr/>
        </p:nvSpPr>
        <p:spPr>
          <a:xfrm>
            <a:off x="1097280" y="3703320"/>
            <a:ext cx="6629400" cy="365760"/>
          </a:xfrm>
          <a:prstGeom prst="rect">
            <a:avLst/>
          </a:prstGeom>
          <a:noFill/>
          <a:ln/>
        </p:spPr>
        <p:txBody>
          <a:bodyPr wrap="square" lIns="0" tIns="0" rIns="0" bIns="0" rtlCol="0" anchor="ctr">
            <a:normAutofit/>
          </a:bodyPr>
          <a:lstStyle/>
          <a:p>
            <a:pPr rtl="1" algn="r" indent="0" marL="0">
              <a:buNone/>
            </a:pPr>
            <a:r>
              <a:rPr lang="en-US" sz="1650" dirty="0">
                <a:solidFill>
                  <a:srgbClr val="E3E7E8"/>
                </a:solidFill>
                <a:latin typeface="Noto Sans Arabic" pitchFamily="34" charset="0"/>
                <a:ea typeface="Noto Sans Arabic" pitchFamily="34" charset="-122"/>
                <a:cs typeface="Noto Sans Arabic" pitchFamily="34" charset="-120"/>
              </a:rPr>
              <a:t>گوش‌دادن، تنظیم هیجان، حل تعارض</a:t>
            </a:r>
            <a:endParaRPr lang="en-US" sz="1650" dirty="0"/>
          </a:p>
        </p:txBody>
      </p:sp>
      <p:sp>
        <p:nvSpPr>
          <p:cNvPr id="10" name="Text 7"/>
          <p:cNvSpPr/>
          <p:nvPr/>
        </p:nvSpPr>
        <p:spPr>
          <a:xfrm>
            <a:off x="8046720" y="4315968"/>
            <a:ext cx="1828800" cy="310896"/>
          </a:xfrm>
          <a:prstGeom prst="rect">
            <a:avLst/>
          </a:prstGeom>
          <a:noFill/>
          <a:ln/>
        </p:spPr>
        <p:txBody>
          <a:bodyPr wrap="square" lIns="0" tIns="0" rIns="0" bIns="0" rtlCol="0" anchor="ctr">
            <a:normAutofit/>
          </a:bodyPr>
          <a:lstStyle/>
          <a:p>
            <a:pPr rtl="1" algn="r" indent="0" marL="0">
              <a:buNone/>
            </a:pPr>
            <a:r>
              <a:rPr lang="en-US" sz="1650" b="1" dirty="0">
                <a:solidFill>
                  <a:srgbClr val="BFA9BB"/>
                </a:solidFill>
                <a:latin typeface="Noto Kufi Arabic" pitchFamily="34" charset="0"/>
                <a:ea typeface="Noto Kufi Arabic" pitchFamily="34" charset="-122"/>
                <a:cs typeface="Noto Kufi Arabic" pitchFamily="34" charset="-120"/>
              </a:rPr>
              <a:t>حمایت و مرزبندی</a:t>
            </a:r>
            <a:endParaRPr lang="en-US" sz="1650" dirty="0"/>
          </a:p>
        </p:txBody>
      </p:sp>
      <p:sp>
        <p:nvSpPr>
          <p:cNvPr id="11" name="Text 8"/>
          <p:cNvSpPr/>
          <p:nvPr/>
        </p:nvSpPr>
        <p:spPr>
          <a:xfrm>
            <a:off x="1097280" y="4315968"/>
            <a:ext cx="6629400" cy="365760"/>
          </a:xfrm>
          <a:prstGeom prst="rect">
            <a:avLst/>
          </a:prstGeom>
          <a:noFill/>
          <a:ln/>
        </p:spPr>
        <p:txBody>
          <a:bodyPr wrap="square" lIns="0" tIns="0" rIns="0" bIns="0" rtlCol="0" anchor="ctr">
            <a:normAutofit/>
          </a:bodyPr>
          <a:lstStyle/>
          <a:p>
            <a:pPr rtl="1" algn="r" indent="0" marL="0">
              <a:buNone/>
            </a:pPr>
            <a:r>
              <a:rPr lang="en-US" sz="1650" dirty="0">
                <a:solidFill>
                  <a:srgbClr val="E3E7E8"/>
                </a:solidFill>
                <a:latin typeface="Noto Sans Arabic" pitchFamily="34" charset="0"/>
                <a:ea typeface="Noto Sans Arabic" pitchFamily="34" charset="-122"/>
                <a:cs typeface="Noto Sans Arabic" pitchFamily="34" charset="-120"/>
              </a:rPr>
              <a:t>حفظ اختیار، شبکهٔ حمایتی، ارزیابی خطر</a:t>
            </a:r>
            <a:endParaRPr lang="en-US" sz="1650" dirty="0"/>
          </a:p>
        </p:txBody>
      </p:sp>
      <p:sp>
        <p:nvSpPr>
          <p:cNvPr id="12" name="Text 9"/>
          <p:cNvSpPr/>
          <p:nvPr/>
        </p:nvSpPr>
        <p:spPr>
          <a:xfrm>
            <a:off x="8046720" y="4928616"/>
            <a:ext cx="1828800" cy="310896"/>
          </a:xfrm>
          <a:prstGeom prst="rect">
            <a:avLst/>
          </a:prstGeom>
          <a:noFill/>
          <a:ln/>
        </p:spPr>
        <p:txBody>
          <a:bodyPr wrap="square" lIns="0" tIns="0" rIns="0" bIns="0" rtlCol="0" anchor="ctr">
            <a:normAutofit/>
          </a:bodyPr>
          <a:lstStyle/>
          <a:p>
            <a:pPr rtl="1" algn="r" indent="0" marL="0">
              <a:buNone/>
            </a:pPr>
            <a:r>
              <a:rPr lang="en-US" sz="1650" b="1" dirty="0">
                <a:solidFill>
                  <a:srgbClr val="D9C8A6"/>
                </a:solidFill>
                <a:latin typeface="Noto Kufi Arabic" pitchFamily="34" charset="0"/>
                <a:ea typeface="Noto Kufi Arabic" pitchFamily="34" charset="-122"/>
                <a:cs typeface="Noto Kufi Arabic" pitchFamily="34" charset="-120"/>
              </a:rPr>
              <a:t>سیاست محیطی</a:t>
            </a:r>
            <a:endParaRPr lang="en-US" sz="1650" dirty="0"/>
          </a:p>
        </p:txBody>
      </p:sp>
      <p:sp>
        <p:nvSpPr>
          <p:cNvPr id="13" name="Text 10"/>
          <p:cNvSpPr/>
          <p:nvPr/>
        </p:nvSpPr>
        <p:spPr>
          <a:xfrm>
            <a:off x="1097280" y="4928616"/>
            <a:ext cx="6629400" cy="365760"/>
          </a:xfrm>
          <a:prstGeom prst="rect">
            <a:avLst/>
          </a:prstGeom>
          <a:noFill/>
          <a:ln/>
        </p:spPr>
        <p:txBody>
          <a:bodyPr wrap="square" lIns="0" tIns="0" rIns="0" bIns="0" rtlCol="0" anchor="ctr">
            <a:normAutofit/>
          </a:bodyPr>
          <a:lstStyle/>
          <a:p>
            <a:pPr rtl="1" algn="r" indent="0" marL="0">
              <a:buNone/>
            </a:pPr>
            <a:r>
              <a:rPr lang="en-US" sz="1650" dirty="0">
                <a:solidFill>
                  <a:srgbClr val="E3E7E8"/>
                </a:solidFill>
                <a:latin typeface="Noto Sans Arabic" pitchFamily="34" charset="0"/>
                <a:ea typeface="Noto Sans Arabic" pitchFamily="34" charset="-122"/>
                <a:cs typeface="Noto Sans Arabic" pitchFamily="34" charset="-120"/>
              </a:rPr>
              <a:t>پاسخ‌گویی، ضدقلدری، گزارش مستقل</a:t>
            </a:r>
            <a:endParaRPr lang="en-US" sz="1650" dirty="0"/>
          </a:p>
        </p:txBody>
      </p:sp>
      <p:sp>
        <p:nvSpPr>
          <p:cNvPr id="14" name="Shape 11"/>
          <p:cNvSpPr/>
          <p:nvPr/>
        </p:nvSpPr>
        <p:spPr>
          <a:xfrm>
            <a:off x="868680" y="5623560"/>
            <a:ext cx="10378440" cy="658368"/>
          </a:xfrm>
          <a:prstGeom prst="roundRect">
            <a:avLst>
              <a:gd name="adj" fmla="val 11111"/>
            </a:avLst>
          </a:prstGeom>
          <a:solidFill>
            <a:srgbClr val="3A2427"/>
          </a:solidFill>
          <a:ln w="10160">
            <a:solidFill>
              <a:srgbClr val="7E4A50"/>
            </a:solidFill>
            <a:prstDash val="solid"/>
          </a:ln>
        </p:spPr>
      </p:sp>
      <p:sp>
        <p:nvSpPr>
          <p:cNvPr id="15" name="Text 12"/>
          <p:cNvSpPr/>
          <p:nvPr/>
        </p:nvSpPr>
        <p:spPr>
          <a:xfrm>
            <a:off x="1051560" y="5742432"/>
            <a:ext cx="10012680" cy="411480"/>
          </a:xfrm>
          <a:prstGeom prst="rect">
            <a:avLst/>
          </a:prstGeom>
          <a:noFill/>
          <a:ln/>
        </p:spPr>
        <p:txBody>
          <a:bodyPr wrap="square" lIns="0" tIns="0" rIns="0" bIns="0" rtlCol="0" anchor="ctr">
            <a:normAutofit/>
          </a:bodyPr>
          <a:lstStyle/>
          <a:p>
            <a:pPr rtl="1" algn="ctr" indent="0" marL="0">
              <a:buNone/>
            </a:pPr>
            <a:r>
              <a:rPr lang="en-US" sz="1650" b="1" dirty="0">
                <a:solidFill>
                  <a:srgbClr val="FFFFFF"/>
                </a:solidFill>
                <a:latin typeface="Noto Kufi Arabic" pitchFamily="34" charset="0"/>
                <a:ea typeface="Noto Kufi Arabic" pitchFamily="34" charset="-122"/>
                <a:cs typeface="Noto Kufi Arabic" pitchFamily="34" charset="-120"/>
              </a:rPr>
              <a:t>در حضور تهدید، کنترل قهرآمیز یا خطر تلافی، ایمنی و ارزیابی تخصصی بر توصیهٔ عمومی به «گفت‌وگوی بیشتر» مقدم است.</a:t>
            </a:r>
            <a:endParaRPr lang="en-US" sz="1650" dirty="0"/>
          </a:p>
        </p:txBody>
      </p:sp>
      <p:sp>
        <p:nvSpPr>
          <p:cNvPr id="16" name="Text 13"/>
          <p:cNvSpPr/>
          <p:nvPr/>
        </p:nvSpPr>
        <p:spPr>
          <a:xfrm>
            <a:off x="640080" y="6473952"/>
            <a:ext cx="10927080" cy="201168"/>
          </a:xfrm>
          <a:prstGeom prst="rect">
            <a:avLst/>
          </a:prstGeom>
          <a:noFill/>
          <a:ln/>
        </p:spPr>
        <p:txBody>
          <a:bodyPr wrap="square" lIns="0" tIns="0" rIns="0" bIns="0" rtlCol="0" anchor="ctr">
            <a:normAutofit/>
          </a:bodyPr>
          <a:lstStyle/>
          <a:p>
            <a:pPr rtl="1" algn="r" indent="0" marL="0">
              <a:buNone/>
            </a:pPr>
            <a:r>
              <a:rPr lang="en-US" sz="950" dirty="0">
                <a:solidFill>
                  <a:srgbClr val="AEB9BD"/>
                </a:solidFill>
                <a:latin typeface="Noto Sans Arabic" pitchFamily="34" charset="0"/>
                <a:ea typeface="Noto Sans Arabic" pitchFamily="34" charset="-122"/>
                <a:cs typeface="Noto Sans Arabic" pitchFamily="34" charset="-120"/>
              </a:rPr>
              <a:t>اصل اخلاقی: مداخله بر رفتار و پیامد قابل‌سنجش متمرکز باشد؛ نه برچسب‌زدن به افراد</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32A"/>
        </a:solidFill>
      </p:bgPr>
    </p:bg>
    <p:spTree>
      <p:nvGrpSpPr>
        <p:cNvPr id="1" name=""/>
        <p:cNvGrpSpPr/>
        <p:nvPr/>
      </p:nvGrpSpPr>
      <p:grpSpPr>
        <a:xfrm>
          <a:off x="0" y="0"/>
          <a:ext cx="0" cy="0"/>
          <a:chOff x="0" y="0"/>
          <a:chExt cx="0" cy="0"/>
        </a:xfrm>
      </p:grpSpPr>
      <p:sp>
        <p:nvSpPr>
          <p:cNvPr id="2" name="Text 0"/>
          <p:cNvSpPr/>
          <p:nvPr/>
        </p:nvSpPr>
        <p:spPr>
          <a:xfrm>
            <a:off x="8823960" y="146304"/>
            <a:ext cx="2606040" cy="219456"/>
          </a:xfrm>
          <a:prstGeom prst="rect">
            <a:avLst/>
          </a:prstGeom>
          <a:noFill/>
          <a:ln/>
        </p:spPr>
        <p:txBody>
          <a:bodyPr wrap="square" lIns="0" tIns="0" rIns="0" bIns="0" rtlCol="0" anchor="ctr">
            <a:normAutofit/>
          </a:bodyPr>
          <a:lstStyle/>
          <a:p>
            <a:pPr rtl="1" algn="r" indent="0" marL="0">
              <a:buNone/>
            </a:pPr>
            <a:r>
              <a:rPr lang="en-US" sz="1050" b="1" dirty="0">
                <a:solidFill>
                  <a:srgbClr val="B8C2C6"/>
                </a:solidFill>
                <a:latin typeface="Noto Kufi Arabic" pitchFamily="34" charset="0"/>
                <a:ea typeface="Noto Kufi Arabic" pitchFamily="34" charset="-122"/>
                <a:cs typeface="Noto Kufi Arabic" pitchFamily="34" charset="-120"/>
              </a:rPr>
              <a:t>مدل تلفیقی</a:t>
            </a:r>
            <a:endParaRPr lang="en-US" sz="1050" dirty="0"/>
          </a:p>
        </p:txBody>
      </p:sp>
      <p:sp>
        <p:nvSpPr>
          <p:cNvPr id="3" name="Text 1"/>
          <p:cNvSpPr/>
          <p:nvPr/>
        </p:nvSpPr>
        <p:spPr>
          <a:xfrm>
            <a:off x="3063240" y="475488"/>
            <a:ext cx="8366760" cy="457200"/>
          </a:xfrm>
          <a:prstGeom prst="rect">
            <a:avLst/>
          </a:prstGeom>
          <a:noFill/>
          <a:ln/>
        </p:spPr>
        <p:txBody>
          <a:bodyPr wrap="square" lIns="0" tIns="0" rIns="0" bIns="0" rtlCol="0" anchor="ctr">
            <a:normAutofit/>
          </a:bodyPr>
          <a:lstStyle/>
          <a:p>
            <a:pPr rtl="1" algn="r" indent="0" marL="0">
              <a:buNone/>
            </a:pPr>
            <a:r>
              <a:rPr lang="en-US" sz="2750" b="1" dirty="0">
                <a:solidFill>
                  <a:srgbClr val="FFFFFF"/>
                </a:solidFill>
                <a:latin typeface="Noto Kufi Arabic" pitchFamily="34" charset="0"/>
                <a:ea typeface="Noto Kufi Arabic" pitchFamily="34" charset="-122"/>
                <a:cs typeface="Noto Kufi Arabic" pitchFamily="34" charset="-120"/>
              </a:rPr>
              <a:t>جمع‌بندی: صفت، فرایند، رفتار، پیامد</a:t>
            </a:r>
            <a:endParaRPr lang="en-US" sz="2750" dirty="0"/>
          </a:p>
        </p:txBody>
      </p:sp>
      <p:sp>
        <p:nvSpPr>
          <p:cNvPr id="4" name="Shape 2"/>
          <p:cNvSpPr/>
          <p:nvPr/>
        </p:nvSpPr>
        <p:spPr>
          <a:xfrm>
            <a:off x="640080" y="1078992"/>
            <a:ext cx="10927080" cy="0"/>
          </a:xfrm>
          <a:prstGeom prst="line">
            <a:avLst/>
          </a:prstGeom>
          <a:noFill/>
          <a:ln w="13970">
            <a:solidFill>
              <a:srgbClr val="40515A"/>
            </a:solidFill>
            <a:prstDash val="solid"/>
          </a:ln>
        </p:spPr>
      </p:sp>
      <p:sp>
        <p:nvSpPr>
          <p:cNvPr id="5" name="Text 3"/>
          <p:cNvSpPr/>
          <p:nvPr/>
        </p:nvSpPr>
        <p:spPr>
          <a:xfrm>
            <a:off x="502920" y="384048"/>
            <a:ext cx="502920" cy="320040"/>
          </a:xfrm>
          <a:prstGeom prst="rect">
            <a:avLst/>
          </a:prstGeom>
          <a:noFill/>
          <a:ln/>
        </p:spPr>
        <p:txBody>
          <a:bodyPr wrap="square" lIns="0" tIns="0" rIns="0" bIns="0" rtlCol="0" anchor="ctr">
            <a:normAutofit/>
          </a:bodyPr>
          <a:lstStyle/>
          <a:p>
            <a:pPr rtl="1" algn="l" indent="0" marL="0">
              <a:buNone/>
            </a:pPr>
            <a:r>
              <a:rPr lang="en-US" sz="1200" b="1" dirty="0">
                <a:solidFill>
                  <a:srgbClr val="B8C2C6"/>
                </a:solidFill>
                <a:latin typeface="Noto Kufi Arabic" pitchFamily="34" charset="0"/>
                <a:ea typeface="Noto Kufi Arabic" pitchFamily="34" charset="-122"/>
                <a:cs typeface="Noto Kufi Arabic" pitchFamily="34" charset="-120"/>
              </a:rPr>
              <a:t>20</a:t>
            </a:r>
            <a:endParaRPr lang="en-US" sz="1200" dirty="0"/>
          </a:p>
        </p:txBody>
      </p:sp>
      <p:pic>
        <p:nvPicPr>
          <p:cNvPr id="6" name="Image 0" descr="/mnt/data/_ppt_work/assets/image16.png">    </p:cNvPr>
          <p:cNvPicPr>
            <a:picLocks noChangeAspect="1"/>
          </p:cNvPicPr>
          <p:nvPr/>
        </p:nvPicPr>
        <p:blipFill>
          <a:blip r:embed="rId1"/>
          <a:stretch>
            <a:fillRect/>
          </a:stretch>
        </p:blipFill>
        <p:spPr>
          <a:xfrm>
            <a:off x="1300163" y="1325880"/>
            <a:ext cx="5400675" cy="2880360"/>
          </a:xfrm>
          <a:prstGeom prst="rect">
            <a:avLst/>
          </a:prstGeom>
        </p:spPr>
      </p:pic>
      <p:sp>
        <p:nvSpPr>
          <p:cNvPr id="7" name="Text 4"/>
          <p:cNvSpPr/>
          <p:nvPr/>
        </p:nvSpPr>
        <p:spPr>
          <a:xfrm>
            <a:off x="7726680" y="1463040"/>
            <a:ext cx="3429000" cy="365760"/>
          </a:xfrm>
          <a:prstGeom prst="rect">
            <a:avLst/>
          </a:prstGeom>
          <a:noFill/>
          <a:ln/>
        </p:spPr>
        <p:txBody>
          <a:bodyPr wrap="square" lIns="0" tIns="0" rIns="0" bIns="0" rtlCol="0" anchor="ctr">
            <a:normAutofit/>
          </a:bodyPr>
          <a:lstStyle/>
          <a:p>
            <a:pPr rtl="1" algn="r" indent="0" marL="0">
              <a:buNone/>
            </a:pPr>
            <a:r>
              <a:rPr lang="en-US" sz="2100" b="1" dirty="0">
                <a:solidFill>
                  <a:srgbClr val="D9C8A6"/>
                </a:solidFill>
                <a:latin typeface="Noto Kufi Arabic" pitchFamily="34" charset="0"/>
                <a:ea typeface="Noto Kufi Arabic" pitchFamily="34" charset="-122"/>
                <a:cs typeface="Noto Kufi Arabic" pitchFamily="34" charset="-120"/>
              </a:rPr>
              <a:t>سه اصل پایانی</a:t>
            </a:r>
            <a:endParaRPr lang="en-US" sz="2100" dirty="0"/>
          </a:p>
        </p:txBody>
      </p:sp>
      <p:sp>
        <p:nvSpPr>
          <p:cNvPr id="8" name="Shape 5"/>
          <p:cNvSpPr/>
          <p:nvPr/>
        </p:nvSpPr>
        <p:spPr>
          <a:xfrm>
            <a:off x="11109960" y="2075688"/>
            <a:ext cx="100584" cy="100584"/>
          </a:xfrm>
          <a:prstGeom prst="ellipse">
            <a:avLst/>
          </a:prstGeom>
          <a:solidFill>
            <a:srgbClr val="6FA4A6"/>
          </a:solidFill>
          <a:ln w="12700">
            <a:solidFill>
              <a:srgbClr val="6FA4A6">
                <a:alpha val="0"/>
              </a:srgbClr>
            </a:solidFill>
            <a:prstDash val="solid"/>
          </a:ln>
        </p:spPr>
      </p:sp>
      <p:sp>
        <p:nvSpPr>
          <p:cNvPr id="9" name="Text 6"/>
          <p:cNvSpPr/>
          <p:nvPr/>
        </p:nvSpPr>
        <p:spPr>
          <a:xfrm>
            <a:off x="7635240" y="1938528"/>
            <a:ext cx="3429000" cy="502920"/>
          </a:xfrm>
          <a:prstGeom prst="rect">
            <a:avLst/>
          </a:prstGeom>
          <a:noFill/>
          <a:ln/>
        </p:spPr>
        <p:txBody>
          <a:bodyPr wrap="square" lIns="0" tIns="0" rIns="0" bIns="0" rtlCol="0" anchor="ctr">
            <a:normAutofit/>
          </a:bodyPr>
          <a:lstStyle/>
          <a:p>
            <a:pPr rtl="1" algn="r" indent="0" marL="0">
              <a:buNone/>
            </a:pPr>
            <a:r>
              <a:rPr lang="en-US" sz="1750" dirty="0">
                <a:solidFill>
                  <a:srgbClr val="F2F4F4"/>
                </a:solidFill>
                <a:latin typeface="Noto Sans Arabic" pitchFamily="34" charset="0"/>
                <a:ea typeface="Noto Sans Arabic" pitchFamily="34" charset="-122"/>
                <a:cs typeface="Noto Sans Arabic" pitchFamily="34" charset="-120"/>
              </a:rPr>
              <a:t>صفات تاریک مرتبط‌اند، اما غیرهمسان.</a:t>
            </a:r>
            <a:endParaRPr lang="en-US" sz="1750" dirty="0"/>
          </a:p>
        </p:txBody>
      </p:sp>
      <p:sp>
        <p:nvSpPr>
          <p:cNvPr id="10" name="Shape 7"/>
          <p:cNvSpPr/>
          <p:nvPr/>
        </p:nvSpPr>
        <p:spPr>
          <a:xfrm>
            <a:off x="11109960" y="2752344"/>
            <a:ext cx="100584" cy="100584"/>
          </a:xfrm>
          <a:prstGeom prst="ellipse">
            <a:avLst/>
          </a:prstGeom>
          <a:solidFill>
            <a:srgbClr val="BFA9BB"/>
          </a:solidFill>
          <a:ln w="12700">
            <a:solidFill>
              <a:srgbClr val="BFA9BB">
                <a:alpha val="0"/>
              </a:srgbClr>
            </a:solidFill>
            <a:prstDash val="solid"/>
          </a:ln>
        </p:spPr>
      </p:sp>
      <p:sp>
        <p:nvSpPr>
          <p:cNvPr id="11" name="Text 8"/>
          <p:cNvSpPr/>
          <p:nvPr/>
        </p:nvSpPr>
        <p:spPr>
          <a:xfrm>
            <a:off x="7635240" y="2615184"/>
            <a:ext cx="3429000" cy="502920"/>
          </a:xfrm>
          <a:prstGeom prst="rect">
            <a:avLst/>
          </a:prstGeom>
          <a:noFill/>
          <a:ln/>
        </p:spPr>
        <p:txBody>
          <a:bodyPr wrap="square" lIns="0" tIns="0" rIns="0" bIns="0" rtlCol="0" anchor="ctr">
            <a:normAutofit/>
          </a:bodyPr>
          <a:lstStyle/>
          <a:p>
            <a:pPr rtl="1" algn="r" indent="0" marL="0">
              <a:buNone/>
            </a:pPr>
            <a:r>
              <a:rPr lang="en-US" sz="1750" dirty="0">
                <a:solidFill>
                  <a:srgbClr val="F2F4F4"/>
                </a:solidFill>
                <a:latin typeface="Noto Sans Arabic" pitchFamily="34" charset="0"/>
                <a:ea typeface="Noto Sans Arabic" pitchFamily="34" charset="-122"/>
                <a:cs typeface="Noto Sans Arabic" pitchFamily="34" charset="-120"/>
              </a:rPr>
              <a:t>همبستگی، تشخیص یا علیت نیست.</a:t>
            </a:r>
            <a:endParaRPr lang="en-US" sz="1750" dirty="0"/>
          </a:p>
        </p:txBody>
      </p:sp>
      <p:sp>
        <p:nvSpPr>
          <p:cNvPr id="12" name="Shape 9"/>
          <p:cNvSpPr/>
          <p:nvPr/>
        </p:nvSpPr>
        <p:spPr>
          <a:xfrm>
            <a:off x="11109960" y="3429000"/>
            <a:ext cx="100584" cy="100584"/>
          </a:xfrm>
          <a:prstGeom prst="ellipse">
            <a:avLst/>
          </a:prstGeom>
          <a:solidFill>
            <a:srgbClr val="D9C8A6"/>
          </a:solidFill>
          <a:ln w="12700">
            <a:solidFill>
              <a:srgbClr val="D9C8A6">
                <a:alpha val="0"/>
              </a:srgbClr>
            </a:solidFill>
            <a:prstDash val="solid"/>
          </a:ln>
        </p:spPr>
      </p:sp>
      <p:sp>
        <p:nvSpPr>
          <p:cNvPr id="13" name="Text 10"/>
          <p:cNvSpPr/>
          <p:nvPr/>
        </p:nvSpPr>
        <p:spPr>
          <a:xfrm>
            <a:off x="7635240" y="3291840"/>
            <a:ext cx="3429000" cy="713232"/>
          </a:xfrm>
          <a:prstGeom prst="rect">
            <a:avLst/>
          </a:prstGeom>
          <a:noFill/>
          <a:ln/>
        </p:spPr>
        <p:txBody>
          <a:bodyPr wrap="square" lIns="0" tIns="0" rIns="0" bIns="0" rtlCol="0" anchor="ctr">
            <a:normAutofit/>
          </a:bodyPr>
          <a:lstStyle/>
          <a:p>
            <a:pPr rtl="1" algn="r" indent="0" marL="0">
              <a:buNone/>
            </a:pPr>
            <a:r>
              <a:rPr lang="en-US" sz="1750" dirty="0">
                <a:solidFill>
                  <a:srgbClr val="F2F4F4"/>
                </a:solidFill>
                <a:latin typeface="Noto Sans Arabic" pitchFamily="34" charset="0"/>
                <a:ea typeface="Noto Sans Arabic" pitchFamily="34" charset="-122"/>
                <a:cs typeface="Noto Sans Arabic" pitchFamily="34" charset="-120"/>
              </a:rPr>
              <a:t>رفتار، زمینه، زمان و ایمنی باید کنار هم دیده شوند.</a:t>
            </a:r>
            <a:endParaRPr lang="en-US" sz="1750" dirty="0"/>
          </a:p>
        </p:txBody>
      </p:sp>
      <p:sp>
        <p:nvSpPr>
          <p:cNvPr id="14" name="Text 11"/>
          <p:cNvSpPr/>
          <p:nvPr/>
        </p:nvSpPr>
        <p:spPr>
          <a:xfrm>
            <a:off x="868680" y="4343400"/>
            <a:ext cx="2926080" cy="347472"/>
          </a:xfrm>
          <a:prstGeom prst="rect">
            <a:avLst/>
          </a:prstGeom>
          <a:noFill/>
          <a:ln/>
        </p:spPr>
        <p:txBody>
          <a:bodyPr wrap="square" lIns="0" tIns="0" rIns="0" bIns="0" rtlCol="0" anchor="ctr">
            <a:normAutofit/>
          </a:bodyPr>
          <a:lstStyle/>
          <a:p>
            <a:pPr rtl="1" algn="r" indent="0" marL="0">
              <a:buNone/>
            </a:pPr>
            <a:r>
              <a:rPr lang="en-US" sz="1800" b="1" dirty="0">
                <a:solidFill>
                  <a:srgbClr val="6FA4A6"/>
                </a:solidFill>
                <a:latin typeface="Noto Kufi Arabic" pitchFamily="34" charset="0"/>
                <a:ea typeface="Noto Kufi Arabic" pitchFamily="34" charset="-122"/>
                <a:cs typeface="Noto Kufi Arabic" pitchFamily="34" charset="-120"/>
              </a:rPr>
              <a:t>اولویت‌های پژوهش آینده</a:t>
            </a:r>
            <a:endParaRPr lang="en-US" sz="1800" dirty="0"/>
          </a:p>
        </p:txBody>
      </p:sp>
      <p:sp>
        <p:nvSpPr>
          <p:cNvPr id="15" name="Text 12"/>
          <p:cNvSpPr/>
          <p:nvPr/>
        </p:nvSpPr>
        <p:spPr>
          <a:xfrm>
            <a:off x="3794760" y="4315968"/>
            <a:ext cx="7315200" cy="411480"/>
          </a:xfrm>
          <a:prstGeom prst="rect">
            <a:avLst/>
          </a:prstGeom>
          <a:noFill/>
          <a:ln/>
        </p:spPr>
        <p:txBody>
          <a:bodyPr wrap="square" lIns="0" tIns="0" rIns="0" bIns="0" rtlCol="0" anchor="ctr">
            <a:normAutofit/>
          </a:bodyPr>
          <a:lstStyle/>
          <a:p>
            <a:pPr rtl="1" algn="r" indent="0" marL="0">
              <a:buNone/>
            </a:pPr>
            <a:r>
              <a:rPr lang="en-US" sz="1650" dirty="0">
                <a:solidFill>
                  <a:srgbClr val="E0E5E7"/>
                </a:solidFill>
                <a:latin typeface="Noto Sans Arabic" pitchFamily="34" charset="0"/>
                <a:ea typeface="Noto Sans Arabic" pitchFamily="34" charset="-122"/>
                <a:cs typeface="Noto Sans Arabic" pitchFamily="34" charset="-120"/>
              </a:rPr>
              <a:t>مطالعات زوجیِ چندموجی  |  سنجش چندمنبعی  |  اعتبارسنجی فرهنگی  |  پیش‌ثبت فرضیه‌ها</a:t>
            </a:r>
            <a:endParaRPr lang="en-US" sz="1650" dirty="0"/>
          </a:p>
        </p:txBody>
      </p:sp>
      <p:sp>
        <p:nvSpPr>
          <p:cNvPr id="16" name="Text 13"/>
          <p:cNvSpPr/>
          <p:nvPr/>
        </p:nvSpPr>
        <p:spPr>
          <a:xfrm>
            <a:off x="1051560" y="5047488"/>
            <a:ext cx="10058400" cy="530352"/>
          </a:xfrm>
          <a:prstGeom prst="rect">
            <a:avLst/>
          </a:prstGeom>
          <a:noFill/>
          <a:ln/>
        </p:spPr>
        <p:txBody>
          <a:bodyPr wrap="square" lIns="0" tIns="0" rIns="0" bIns="0" rtlCol="0" anchor="ctr">
            <a:normAutofit/>
          </a:bodyPr>
          <a:lstStyle/>
          <a:p>
            <a:pPr rtl="1" algn="ctr" indent="0" marL="0">
              <a:buNone/>
            </a:pPr>
            <a:r>
              <a:rPr lang="en-US" sz="2500" b="1" dirty="0">
                <a:solidFill>
                  <a:srgbClr val="FFFFFF"/>
                </a:solidFill>
                <a:latin typeface="Noto Kufi Arabic" pitchFamily="34" charset="0"/>
                <a:ea typeface="Noto Kufi Arabic" pitchFamily="34" charset="-122"/>
                <a:cs typeface="Noto Kufi Arabic" pitchFamily="34" charset="-120"/>
              </a:rPr>
              <a:t>برای فهم رابطه، نام یک صفت کافی نیست.</a:t>
            </a:r>
            <a:endParaRPr lang="en-US" sz="2500" dirty="0"/>
          </a:p>
        </p:txBody>
      </p:sp>
      <p:sp>
        <p:nvSpPr>
          <p:cNvPr id="17" name="Text 14"/>
          <p:cNvSpPr/>
          <p:nvPr/>
        </p:nvSpPr>
        <p:spPr>
          <a:xfrm>
            <a:off x="3840480" y="5715000"/>
            <a:ext cx="4526280" cy="475488"/>
          </a:xfrm>
          <a:prstGeom prst="rect">
            <a:avLst/>
          </a:prstGeom>
          <a:noFill/>
          <a:ln/>
        </p:spPr>
        <p:txBody>
          <a:bodyPr wrap="square" lIns="0" tIns="0" rIns="0" bIns="0" rtlCol="0" anchor="ctr">
            <a:normAutofit/>
          </a:bodyPr>
          <a:lstStyle/>
          <a:p>
            <a:pPr rtl="1" algn="ctr" indent="0" marL="0">
              <a:buNone/>
            </a:pPr>
            <a:r>
              <a:rPr lang="en-US" sz="2400" b="1" dirty="0">
                <a:solidFill>
                  <a:srgbClr val="D9C8A6"/>
                </a:solidFill>
                <a:latin typeface="Noto Kufi Arabic" pitchFamily="34" charset="0"/>
                <a:ea typeface="Noto Kufi Arabic" pitchFamily="34" charset="-122"/>
                <a:cs typeface="Noto Kufi Arabic" pitchFamily="34" charset="-120"/>
              </a:rPr>
              <a:t>سپاسگزارم  |  پرسش‌ها</a:t>
            </a:r>
            <a:endParaRPr lang="en-US" sz="2400" dirty="0"/>
          </a:p>
        </p:txBody>
      </p:sp>
      <p:sp>
        <p:nvSpPr>
          <p:cNvPr id="18" name="Text 15"/>
          <p:cNvSpPr/>
          <p:nvPr/>
        </p:nvSpPr>
        <p:spPr>
          <a:xfrm>
            <a:off x="731520" y="6309360"/>
            <a:ext cx="10744200" cy="201168"/>
          </a:xfrm>
          <a:prstGeom prst="rect">
            <a:avLst/>
          </a:prstGeom>
          <a:noFill/>
          <a:ln/>
        </p:spPr>
        <p:txBody>
          <a:bodyPr wrap="square" lIns="0" tIns="0" rIns="0" bIns="0" rtlCol="0" anchor="ctr">
            <a:normAutofit/>
          </a:bodyPr>
          <a:lstStyle/>
          <a:p>
            <a:pPr rtl="1" algn="ctr" indent="0" marL="0">
              <a:buNone/>
            </a:pPr>
            <a:r>
              <a:rPr lang="en-US" sz="880" dirty="0">
                <a:solidFill>
                  <a:srgbClr val="AAB6BA"/>
                </a:solidFill>
                <a:latin typeface="Noto Sans Arabic" pitchFamily="34" charset="0"/>
                <a:ea typeface="Noto Sans Arabic" pitchFamily="34" charset="-122"/>
                <a:cs typeface="Noto Sans Arabic" pitchFamily="34" charset="-120"/>
              </a:rPr>
              <a:t>منابع منتخب: Paulhus &amp; Williams (2002)؛ Back et al. (2013)؛ Kardum et al. (2024)؛ Oliver et al. (2024)؛ Shukla &amp; Upadhyay (2025)؛ Sui et al. (2026)</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Kufi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تاریک‌گرایی شخصیت و روابط بین‌فردی</dc:title>
  <dc:subject>سمینار کارشناسی ارشد: تاریک‌گرایی شخصیت و روابط بین‌فردی</dc:subject>
  <dc:creator>OpenAI</dc:creator>
  <cp:lastModifiedBy>OpenAI</cp:lastModifiedBy>
  <cp:revision>1</cp:revision>
  <dcterms:created xsi:type="dcterms:W3CDTF">2026-10-15T18:30:01Z</dcterms:created>
  <dcterms:modified xsi:type="dcterms:W3CDTF">2026-10-15T18:30:01Z</dcterms:modified>
</cp:coreProperties>
</file>